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embeddedFontLst>
    <p:embeddedFont>
      <p:font typeface="Fraunces"/>
      <p:regular r:id="rId201314"/>
    </p:embeddedFont>
    <p:embeddedFont>
      <p:font typeface="Fraunces Bold"/>
      <p:regular r:id="rId201315"/>
    </p:embeddedFont>
    <p:embeddedFont>
      <p:font typeface="Fraunces ExtraBold"/>
      <p:regular r:id="rId201316"/>
    </p:embeddedFont>
    <p:embeddedFont>
      <p:font typeface="Fraunces Black"/>
      <p:regular r:id="rId201317"/>
    </p:embeddedFont>
    <p:embeddedFont>
      <p:font typeface="Nobile"/>
      <p:regular r:id="rId201318"/>
    </p:embeddedFont>
    <p:embeddedFont>
      <p:font typeface="Nobile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image" Target="../media/image-4-1.png"/><Relationship Id="rId8" Type="http://schemas.openxmlformats.org/officeDocument/2006/relationships/image" Target="../media/image-4-2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image" Target="../media/image-9-3.png"/><Relationship Id="rId8" Type="http://schemas.openxmlformats.org/officeDocument/2006/relationships/image" Target="../media/image-9-4.svg"/><Relationship Id="rId9" Type="http://schemas.openxmlformats.org/officeDocument/2006/relationships/image" Target="../media/image-9-1.png"/><Relationship Id="rId10" Type="http://schemas.openxmlformats.org/officeDocument/2006/relationships/image" Target="../media/image-9-2.svg"/><Relationship Id="rId11" Type="http://schemas.openxmlformats.org/officeDocument/2006/relationships/image" Target="../media/image-9-3.png"/><Relationship Id="rId12" Type="http://schemas.openxmlformats.org/officeDocument/2006/relationships/image" Target="../media/image-9-4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1494"/>
            <a:ext cx="6635874" cy="690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AI-Driven Smart Hospital Patient Risk Assessment and Healthcare Analytics Platform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96119" y="1310432"/>
            <a:ext cx="7093074" cy="133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Machine Learning Project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496119" y="1582341"/>
            <a:ext cx="6635874" cy="14288"/>
          </a:xfrm>
          <a:prstGeom prst="roundRect">
            <a:avLst>
              <a:gd name="adj" fmla="val 49998"/>
            </a:avLst>
          </a:prstGeom>
          <a:solidFill>
            <a:srgbClr val="405449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1734889"/>
            <a:ext cx="7093074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KL University — Department of Artificial Intelligence &amp; Data Science 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96119" y="2040285"/>
            <a:ext cx="6635874" cy="14288"/>
          </a:xfrm>
          <a:prstGeom prst="roundRect">
            <a:avLst>
              <a:gd name="adj" fmla="val 49998"/>
            </a:avLst>
          </a:prstGeom>
          <a:solidFill>
            <a:srgbClr val="405449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96119" y="2192834"/>
            <a:ext cx="6635874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Group Number: [GROUP NUMBER]</a:t>
            </a:r>
            <a:endParaRPr lang="en-US" sz="8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Team Number: [TEAM NUMBER] 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77683" y="511671"/>
            <a:ext cx="1703487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8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Logo/Content here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96119" y="2726308"/>
            <a:ext cx="8608963" cy="2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Team Members: 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6119" y="3045842"/>
            <a:ext cx="8151763" cy="7716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26000"/>
              </a:lnSpc>
              <a:buSzPct val="100000"/>
              <a:buFont typeface="+mj-lt"/>
              <a:buAutoNum type="arabicPeriod" startAt="1"/>
            </a:pPr>
            <a:r>
              <a:rPr lang="en-US" sz="850" b="1" dirty="0">
                <a:solidFill>
                  <a:srgbClr val="1F2937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Vadla Vishal</a:t>
            </a:r>
            <a:pPr algn="l" marL="172720" indent="-172720">
              <a:lnSpc>
                <a:spcPct val="126000"/>
              </a:lnSpc>
              <a:buSzPct val="100000"/>
              <a:buFont typeface="+mj-lt"/>
              <a:buAutoNum type="arabicPeriod" startAt="1"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</a:t>
            </a:r>
            <a:pPr algn="l" marL="172720" indent="-172720">
              <a:lnSpc>
                <a:spcPct val="126000"/>
              </a:lnSpc>
              <a:buSzPct val="100000"/>
              <a:buFont typeface="+mj-lt"/>
              <a:buAutoNum type="arabicPeriod" startAt="1"/>
            </a:pPr>
            <a:r>
              <a:rPr lang="en-US" sz="850" b="1" dirty="0">
                <a:solidFill>
                  <a:srgbClr val="1F2937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2510080031</a:t>
            </a:r>
            <a:endParaRPr lang="en-US" sz="850" dirty="0"/>
          </a:p>
          <a:p>
            <a:pPr algn="l" marL="172720" indent="-172720">
              <a:lnSpc>
                <a:spcPct val="126000"/>
              </a:lnSpc>
              <a:buSzPct val="100000"/>
              <a:buFont typeface="+mj-lt"/>
              <a:buAutoNum type="arabicPeriod" startAt="2"/>
            </a:pPr>
            <a:r>
              <a:rPr lang="en-US" sz="850" b="1" dirty="0">
                <a:solidFill>
                  <a:srgbClr val="1F2937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Singam Tejaswini</a:t>
            </a:r>
            <a:pPr algn="l" marL="172720" indent="-172720">
              <a:lnSpc>
                <a:spcPct val="126000"/>
              </a:lnSpc>
              <a:buSzPct val="100000"/>
              <a:buFont typeface="+mj-lt"/>
              <a:buAutoNum type="arabicPeriod" startAt="2"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</a:t>
            </a:r>
            <a:pPr algn="l" marL="172720" indent="-172720">
              <a:lnSpc>
                <a:spcPct val="126000"/>
              </a:lnSpc>
              <a:buSzPct val="100000"/>
              <a:buFont typeface="+mj-lt"/>
              <a:buAutoNum type="arabicPeriod" startAt="2"/>
            </a:pPr>
            <a:r>
              <a:rPr lang="en-US" sz="850" b="1" dirty="0">
                <a:solidFill>
                  <a:srgbClr val="1F2937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2510080049</a:t>
            </a:r>
            <a:endParaRPr lang="en-US" sz="850" dirty="0"/>
          </a:p>
          <a:p>
            <a:pPr algn="l" marL="172720" indent="-172720">
              <a:lnSpc>
                <a:spcPct val="126000"/>
              </a:lnSpc>
              <a:buSzPct val="100000"/>
              <a:buFont typeface="+mj-lt"/>
              <a:buAutoNum type="arabicPeriod" startAt="3"/>
            </a:pPr>
            <a:r>
              <a:rPr lang="en-US" sz="850" b="1" dirty="0">
                <a:solidFill>
                  <a:srgbClr val="1F2937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Shirisha</a:t>
            </a:r>
            <a:pPr algn="l" marL="172720" indent="-172720">
              <a:lnSpc>
                <a:spcPct val="126000"/>
              </a:lnSpc>
              <a:buSzPct val="100000"/>
              <a:buFont typeface="+mj-lt"/>
              <a:buAutoNum type="arabicPeriod" startAt="3"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</a:t>
            </a:r>
            <a:pPr algn="l" marL="172720" indent="-172720">
              <a:lnSpc>
                <a:spcPct val="126000"/>
              </a:lnSpc>
              <a:buSzPct val="100000"/>
              <a:buFont typeface="+mj-lt"/>
              <a:buAutoNum type="arabicPeriod" startAt="3"/>
            </a:pPr>
            <a:r>
              <a:rPr lang="en-US" sz="850" b="1" dirty="0">
                <a:solidFill>
                  <a:srgbClr val="1F2937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2510080017</a:t>
            </a:r>
            <a:endParaRPr lang="en-US" sz="850" dirty="0"/>
          </a:p>
          <a:p>
            <a:pPr algn="l" marL="172720" indent="-172720">
              <a:lnSpc>
                <a:spcPct val="126000"/>
              </a:lnSpc>
              <a:buSzPct val="100000"/>
              <a:buFont typeface="+mj-lt"/>
              <a:buAutoNum type="arabicPeriod" startAt="4"/>
            </a:pPr>
            <a:r>
              <a:rPr lang="en-US" sz="850" b="1" dirty="0">
                <a:solidFill>
                  <a:srgbClr val="1F2937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Krishna Vamshi</a:t>
            </a:r>
            <a:pPr algn="l" marL="172720" indent="-172720">
              <a:lnSpc>
                <a:spcPct val="126000"/>
              </a:lnSpc>
              <a:buSzPct val="100000"/>
              <a:buFont typeface="+mj-lt"/>
              <a:buAutoNum type="arabicPeriod" startAt="4"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</a:t>
            </a:r>
            <a:pPr algn="l" marL="172720" indent="-172720">
              <a:lnSpc>
                <a:spcPct val="126000"/>
              </a:lnSpc>
              <a:buSzPct val="100000"/>
              <a:buFont typeface="+mj-lt"/>
              <a:buAutoNum type="arabicPeriod" startAt="4"/>
            </a:pPr>
            <a:r>
              <a:rPr lang="en-US" sz="850" b="1" dirty="0">
                <a:solidFill>
                  <a:srgbClr val="1F2937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2510080034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96119" y="3928170"/>
            <a:ext cx="8151763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Supervisor: </a:t>
            </a:r>
            <a:pPr algn="l" indent="0" marL="0">
              <a:lnSpc>
                <a:spcPct val="126000"/>
              </a:lnSpc>
              <a:buNone/>
            </a:pPr>
            <a:r>
              <a:rPr lang="en-US" sz="850" b="1" dirty="0">
                <a:solidFill>
                  <a:srgbClr val="1F2937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Dr.Gangamohan Paidi</a:t>
            </a:r>
            <a:endParaRPr lang="en-US" sz="8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Subject: Machine Learning 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96119" y="4400699"/>
            <a:ext cx="8151763" cy="14288"/>
          </a:xfrm>
          <a:prstGeom prst="roundRect">
            <a:avLst>
              <a:gd name="adj" fmla="val 49998"/>
            </a:avLst>
          </a:prstGeom>
          <a:solidFill>
            <a:srgbClr val="405449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67519" y="4553248"/>
            <a:ext cx="8608963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8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ARTIFICIAL INTELLIGENCE AND DATA SCIENCE DEPARTMENT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64431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Problem Identification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861989"/>
            <a:ext cx="24872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4540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WHAT IS THE PROBLEM?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2179811"/>
            <a:ext cx="2487290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Hospitals handle large volumes of patient data, making it difficult to quickly identify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disease risks, emergency severity, unusual cases, and patient patterns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through manual analysis.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290739" y="1861989"/>
            <a:ext cx="257189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4540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WHY IS IT IMPORTANT?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90739" y="2179811"/>
            <a:ext cx="2571899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Timely identification of patient risks can support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faster decision-making, better patient prioritisation, early risk detection, and data-driven healthcare insights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169968" y="1861989"/>
            <a:ext cx="24872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4540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WHO IS AFFECTED?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69968" y="2179811"/>
            <a:ext cx="2487290" cy="13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Hospitals, doctors, emergency staff, nurses, and healthcare administrators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face this challenge when analysing patient information and identifying high-risk cases.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Patients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are the ultimate beneficiaries of faster and better-informed healthcare decisions.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67519" y="3820195"/>
            <a:ext cx="8608963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7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“Need: An intelligent ML-based system for faster, data-driven patient risk assessment and healthcare analytics.”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02742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Need for the Project — Societal Need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738313"/>
            <a:ext cx="2634555" cy="2302371"/>
          </a:xfrm>
          <a:prstGeom prst="roundRect">
            <a:avLst>
              <a:gd name="adj" fmla="val 4849"/>
            </a:avLst>
          </a:prstGeom>
          <a:solidFill>
            <a:srgbClr val="E8F3E8"/>
          </a:solidFill>
          <a:ln/>
        </p:spPr>
      </p:sp>
      <p:sp>
        <p:nvSpPr>
          <p:cNvPr id="4" name="Text 2"/>
          <p:cNvSpPr/>
          <p:nvPr/>
        </p:nvSpPr>
        <p:spPr>
          <a:xfrm>
            <a:off x="620092" y="1862286"/>
            <a:ext cx="238660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WHY IS THIS PROJECT NEEDED?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0092" y="2324398"/>
            <a:ext cx="2386608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Healthcare systems generate large amounts of patient data, but analyzing it manually can be time-consuming and may delay identification of high-risk cases. An intelligent ML-based system is needed to provide faster patient risk assessment and data-driven healthcare insights.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54648" y="1738313"/>
            <a:ext cx="2634630" cy="2302371"/>
          </a:xfrm>
          <a:prstGeom prst="roundRect">
            <a:avLst>
              <a:gd name="adj" fmla="val 4849"/>
            </a:avLst>
          </a:prstGeom>
          <a:solidFill>
            <a:srgbClr val="E8F3E8"/>
          </a:solidFill>
          <a:ln/>
        </p:spPr>
      </p:sp>
      <p:sp>
        <p:nvSpPr>
          <p:cNvPr id="7" name="Text 5"/>
          <p:cNvSpPr/>
          <p:nvPr/>
        </p:nvSpPr>
        <p:spPr>
          <a:xfrm>
            <a:off x="3378622" y="1862286"/>
            <a:ext cx="23866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WHO WILL BENEFIT?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78622" y="2130549"/>
            <a:ext cx="2386682" cy="1786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Doctors &amp; Nurses benefit from faster patient risk assessment and prioritisation. Emergency Staff get quicker identification of high-risk cases. Hospitals &amp; Administrators achieve better data-driven decisions and patient insights. Patients benefit from faster and more informed healthcare decisions.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013252" y="1738313"/>
            <a:ext cx="2634555" cy="2302371"/>
          </a:xfrm>
          <a:prstGeom prst="roundRect">
            <a:avLst>
              <a:gd name="adj" fmla="val 4849"/>
            </a:avLst>
          </a:prstGeom>
          <a:solidFill>
            <a:srgbClr val="E8F3E8"/>
          </a:solidFill>
          <a:ln/>
        </p:spPr>
      </p:sp>
      <p:sp>
        <p:nvSpPr>
          <p:cNvPr id="10" name="Text 8"/>
          <p:cNvSpPr/>
          <p:nvPr/>
        </p:nvSpPr>
        <p:spPr>
          <a:xfrm>
            <a:off x="6137225" y="1862286"/>
            <a:ext cx="238660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WHAT IMPACT WILL IT HAVE?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37225" y="2324398"/>
            <a:ext cx="2386608" cy="13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system can support early risk identification, faster decision-making, patient prioritisation, and efficient analysis of healthcare data. At an industry level, it demonstrates how machine learning can support scalable, data-driven healthcare services.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7949"/>
            <a:ext cx="8151763" cy="333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Project Objectives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894234"/>
            <a:ext cx="8151763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To develop an intelligent machine learning platform that transforms patient health data into accurate and actionable healthcare insights.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393701"/>
            <a:ext cx="1969219" cy="16640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6732" y="1473622"/>
            <a:ext cx="127918" cy="159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16967" y="1820019"/>
            <a:ext cx="1727522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16967" y="2073176"/>
            <a:ext cx="1727522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Multi-Disease Prediction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16967" y="2294632"/>
            <a:ext cx="1727522" cy="6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Predict multiple disease categories from patient health information using machine learning.</a:t>
            </a:r>
            <a:endParaRPr lang="en-US" sz="8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56942" y="1393701"/>
            <a:ext cx="1969219" cy="16640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77555" y="1473622"/>
            <a:ext cx="127918" cy="159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2677790" y="1820019"/>
            <a:ext cx="1727522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2677790" y="2073176"/>
            <a:ext cx="1727522" cy="333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Emergency Risk Assessment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677790" y="2461171"/>
            <a:ext cx="1727522" cy="475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Classify patients into Low, Medium, High, and Critical severity levels.</a:t>
            </a:r>
            <a:endParaRPr lang="en-US" sz="8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17765" y="1393701"/>
            <a:ext cx="1969219" cy="166404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538378" y="1473622"/>
            <a:ext cx="127918" cy="159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4738613" y="1820019"/>
            <a:ext cx="1727522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4738613" y="2073176"/>
            <a:ext cx="1727522" cy="333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Patient Pattern Discovery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4738613" y="2461171"/>
            <a:ext cx="1727522" cy="475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 K-Means clustering and PCA to identify and visualize meaningful patient groups.</a:t>
            </a:r>
            <a:endParaRPr lang="en-US" sz="8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78588" y="1393701"/>
            <a:ext cx="1969294" cy="166404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599276" y="1473622"/>
            <a:ext cx="127918" cy="159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6799436" y="1820019"/>
            <a:ext cx="1727597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6799436" y="2073176"/>
            <a:ext cx="1727597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Anomaly Detection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6799436" y="2294632"/>
            <a:ext cx="1727597" cy="475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Identify unusual patient records and abnormal health patterns using Isolation Forest.</a:t>
            </a:r>
            <a:endParaRPr lang="en-US" sz="8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149352"/>
            <a:ext cx="8151763" cy="11803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508041" y="3229273"/>
            <a:ext cx="127918" cy="159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616967" y="3575670"/>
            <a:ext cx="7910066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616967" y="3828827"/>
            <a:ext cx="7910066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Real-Time Healthcare Analytics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616967" y="4050283"/>
            <a:ext cx="7910066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Deploy ML models through FastAPI and provide real-time predictions and monitoring.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198760" y="4535686"/>
            <a:ext cx="844912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4000"/>
              </a:lnSpc>
              <a:buNone/>
            </a:pPr>
            <a:r>
              <a:rPr lang="en-US" sz="650" dirty="0">
                <a:solidFill>
                  <a:srgbClr val="888888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From Patient Data → Intelligent Insights → Better Decision Support</a:t>
            </a:r>
            <a:endParaRPr lang="en-US" sz="650" dirty="0"/>
          </a:p>
        </p:txBody>
      </p:sp>
      <p:sp>
        <p:nvSpPr>
          <p:cNvPr id="30" name="Shape 23"/>
          <p:cNvSpPr/>
          <p:nvPr/>
        </p:nvSpPr>
        <p:spPr>
          <a:xfrm>
            <a:off x="496119" y="4432697"/>
            <a:ext cx="14288" cy="332780"/>
          </a:xfrm>
          <a:prstGeom prst="roundRect">
            <a:avLst>
              <a:gd name="adj" fmla="val 49998"/>
            </a:avLst>
          </a:prstGeom>
          <a:solidFill>
            <a:srgbClr val="438951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7960"/>
            <a:ext cx="8151763" cy="272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Proposed Solution &amp; Methodology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96119" y="743099"/>
            <a:ext cx="8608963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 end-to-end ML platform that transforms patient health data into predictive and actionable healthcare insights.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33388" y="960611"/>
            <a:ext cx="2756669" cy="2129656"/>
          </a:xfrm>
          <a:prstGeom prst="roundRect">
            <a:avLst>
              <a:gd name="adj" fmla="val 5898"/>
            </a:avLst>
          </a:prstGeom>
          <a:solidFill>
            <a:srgbClr val="F5F1EA"/>
          </a:solidFill>
          <a:ln/>
        </p:spPr>
      </p:sp>
      <p:sp>
        <p:nvSpPr>
          <p:cNvPr id="5" name="Shape 3"/>
          <p:cNvSpPr/>
          <p:nvPr/>
        </p:nvSpPr>
        <p:spPr>
          <a:xfrm>
            <a:off x="520601" y="1029593"/>
            <a:ext cx="2582242" cy="628948"/>
          </a:xfrm>
          <a:prstGeom prst="roundRect">
            <a:avLst>
              <a:gd name="adj" fmla="val 12481"/>
            </a:avLst>
          </a:prstGeom>
          <a:solidFill>
            <a:srgbClr val="DDEEE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814" y="1117327"/>
            <a:ext cx="109017" cy="8721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044" y="1106537"/>
            <a:ext cx="2211586" cy="475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        The system compares multiple ML models and deploys the             best-performing model based on validation performance rather than             assuming a single algorithm is always optimal.           </a:t>
            </a:r>
            <a:endParaRPr lang="en-US" sz="6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4763" y="1029593"/>
            <a:ext cx="5307806" cy="19916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633388" y="2460675"/>
            <a:ext cx="800559" cy="308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Real-Time Service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6624463" y="2460675"/>
            <a:ext cx="800559" cy="308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Patient Analytics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5621021" y="2460675"/>
            <a:ext cx="800560" cy="308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ML Prediction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617580" y="2460675"/>
            <a:ext cx="800560" cy="308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Data Processing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3592206" y="2537783"/>
            <a:ext cx="800560" cy="154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Patient Data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267519" y="3159249"/>
            <a:ext cx="8608963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6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Methodology Summary: </a:t>
            </a:r>
            <a:pPr algn="ctr" indent="0" marL="0">
              <a:lnSpc>
                <a:spcPct val="114000"/>
              </a:lnSpc>
              <a:buNone/>
            </a:pPr>
            <a:r>
              <a:rPr lang="en-US" sz="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 Collection → Preprocessing → Feature Engineering → Model Training → Model Comparison → Evaluation → Deployment → Monitoring → Retraining</a:t>
            </a:r>
            <a:endParaRPr lang="en-US" sz="650" dirty="0"/>
          </a:p>
        </p:txBody>
      </p:sp>
      <p:sp>
        <p:nvSpPr>
          <p:cNvPr id="15" name="Shape 11"/>
          <p:cNvSpPr/>
          <p:nvPr/>
        </p:nvSpPr>
        <p:spPr>
          <a:xfrm>
            <a:off x="496119" y="3368799"/>
            <a:ext cx="8151763" cy="9525"/>
          </a:xfrm>
          <a:prstGeom prst="roundRect">
            <a:avLst>
              <a:gd name="adj" fmla="val 50000"/>
            </a:avLst>
          </a:prstGeom>
          <a:solidFill>
            <a:srgbClr val="405449">
              <a:alpha val="5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469109"/>
            <a:ext cx="8151763" cy="132643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57" y="3565847"/>
            <a:ext cx="7920186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Core Modules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630957" y="3738860"/>
            <a:ext cx="7920186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32080" indent="-132080">
              <a:lnSpc>
                <a:spcPct val="114000"/>
              </a:lnSpc>
              <a:buSzPct val="100000"/>
              <a:buChar char="•"/>
            </a:pPr>
            <a:r>
              <a:rPr lang="en-US" sz="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Patient Data Management</a:t>
            </a:r>
            <a:endParaRPr lang="en-US" sz="650" dirty="0"/>
          </a:p>
          <a:p>
            <a:pPr algn="l" marL="132080" indent="-132080">
              <a:lnSpc>
                <a:spcPct val="114000"/>
              </a:lnSpc>
              <a:buSzPct val="100000"/>
              <a:buChar char="•"/>
            </a:pPr>
            <a:r>
              <a:rPr lang="en-US" sz="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Multi-Disease Prediction</a:t>
            </a:r>
            <a:endParaRPr lang="en-US" sz="650" dirty="0"/>
          </a:p>
          <a:p>
            <a:pPr algn="l" marL="132080" indent="-132080">
              <a:lnSpc>
                <a:spcPct val="114000"/>
              </a:lnSpc>
              <a:buSzPct val="100000"/>
              <a:buChar char="•"/>
            </a:pPr>
            <a:r>
              <a:rPr lang="en-US" sz="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Emergency Risk Assessment</a:t>
            </a:r>
            <a:endParaRPr lang="en-US" sz="650" dirty="0"/>
          </a:p>
          <a:p>
            <a:pPr algn="l" marL="132080" indent="-132080">
              <a:lnSpc>
                <a:spcPct val="114000"/>
              </a:lnSpc>
              <a:buSzPct val="100000"/>
              <a:buChar char="•"/>
            </a:pPr>
            <a:r>
              <a:rPr lang="en-US" sz="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Patient Clustering &amp; PCA Analytics</a:t>
            </a:r>
            <a:endParaRPr lang="en-US" sz="650" dirty="0"/>
          </a:p>
          <a:p>
            <a:pPr algn="l" marL="132080" indent="-132080">
              <a:lnSpc>
                <a:spcPct val="114000"/>
              </a:lnSpc>
              <a:buSzPct val="100000"/>
              <a:buChar char="•"/>
            </a:pPr>
            <a:r>
              <a:rPr lang="en-US" sz="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Anomaly Detection</a:t>
            </a:r>
            <a:endParaRPr lang="en-US" sz="650" dirty="0"/>
          </a:p>
          <a:p>
            <a:pPr algn="l" marL="132080" indent="-132080">
              <a:lnSpc>
                <a:spcPct val="114000"/>
              </a:lnSpc>
              <a:buSzPct val="100000"/>
              <a:buChar char="•"/>
            </a:pPr>
            <a:r>
              <a:rPr lang="en-US" sz="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FastAPI Prediction Service</a:t>
            </a:r>
            <a:endParaRPr lang="en-US" sz="650" dirty="0"/>
          </a:p>
          <a:p>
            <a:pPr algn="l" marL="132080" indent="-132080">
              <a:lnSpc>
                <a:spcPct val="114000"/>
              </a:lnSpc>
              <a:buSzPct val="100000"/>
              <a:buChar char="•"/>
            </a:pPr>
            <a:r>
              <a:rPr lang="en-US" sz="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Healthcare Analytics &amp; Model Monitoring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4395"/>
            <a:ext cx="8151763" cy="236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Proposed Solution &amp; Methodology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267519" y="722784"/>
            <a:ext cx="8608963" cy="121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7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End-to-end machine learning pipeline for patient risk assessment, prediction, and healthcare analytics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496119" y="915070"/>
            <a:ext cx="8151763" cy="9525"/>
          </a:xfrm>
          <a:prstGeom prst="roundRect">
            <a:avLst>
              <a:gd name="adj" fmla="val 50000"/>
            </a:avLst>
          </a:prstGeom>
          <a:solidFill>
            <a:srgbClr val="405449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1041276"/>
            <a:ext cx="2316435" cy="11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LAYER 1 — INPUT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96119" y="1211163"/>
            <a:ext cx="2316435" cy="866180"/>
          </a:xfrm>
          <a:prstGeom prst="roundRect">
            <a:avLst>
              <a:gd name="adj" fmla="val 7854"/>
            </a:avLst>
          </a:prstGeom>
          <a:solidFill>
            <a:srgbClr val="E8F3E8"/>
          </a:solidFill>
          <a:ln/>
        </p:spPr>
      </p:sp>
      <p:sp>
        <p:nvSpPr>
          <p:cNvPr id="7" name="Text 5"/>
          <p:cNvSpPr/>
          <p:nvPr/>
        </p:nvSpPr>
        <p:spPr>
          <a:xfrm>
            <a:off x="571649" y="1286694"/>
            <a:ext cx="2165375" cy="11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PATIENT HEALTH DATA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71649" y="1450851"/>
            <a:ext cx="2165375" cy="550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7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Demographics</a:t>
            </a:r>
            <a:endParaRPr lang="en-US" sz="550" dirty="0"/>
          </a:p>
          <a:p>
            <a:pPr algn="l" marL="111760" indent="-111760">
              <a:lnSpc>
                <a:spcPct val="107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Symptoms</a:t>
            </a:r>
            <a:endParaRPr lang="en-US" sz="550" dirty="0"/>
          </a:p>
          <a:p>
            <a:pPr algn="l" marL="111760" indent="-111760">
              <a:lnSpc>
                <a:spcPct val="107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Vital Signs</a:t>
            </a:r>
            <a:endParaRPr lang="en-US" sz="550" dirty="0"/>
          </a:p>
          <a:p>
            <a:pPr algn="l" marL="111760" indent="-111760">
              <a:lnSpc>
                <a:spcPct val="107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Medical History</a:t>
            </a:r>
            <a:endParaRPr lang="en-US" sz="550" dirty="0"/>
          </a:p>
          <a:p>
            <a:pPr algn="l" marL="111760" indent="-111760">
              <a:lnSpc>
                <a:spcPct val="107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Laboratory Results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267519" y="2129135"/>
            <a:ext cx="2773635" cy="121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7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↓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96119" y="2296864"/>
            <a:ext cx="2316435" cy="11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LAYER 2 — DATA &amp; FEATURE PIPELINE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96119" y="2466752"/>
            <a:ext cx="2316435" cy="658416"/>
          </a:xfrm>
          <a:prstGeom prst="roundRect">
            <a:avLst>
              <a:gd name="adj" fmla="val 10333"/>
            </a:avLst>
          </a:prstGeom>
          <a:solidFill>
            <a:srgbClr val="FAFFFA"/>
          </a:solidFill>
          <a:ln w="9525">
            <a:solidFill>
              <a:srgbClr val="CED9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1174" y="2551807"/>
            <a:ext cx="2146325" cy="11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DATA VALIDATION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81174" y="2715964"/>
            <a:ext cx="2146325" cy="324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7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Remove duplicates</a:t>
            </a:r>
            <a:endParaRPr lang="en-US" sz="550" dirty="0"/>
          </a:p>
          <a:p>
            <a:pPr algn="l" marL="111760" indent="-111760">
              <a:lnSpc>
                <a:spcPct val="107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Handle missing values</a:t>
            </a:r>
            <a:endParaRPr lang="en-US" sz="550" dirty="0"/>
          </a:p>
          <a:p>
            <a:pPr algn="l" marL="111760" indent="-111760">
              <a:lnSpc>
                <a:spcPct val="107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Validate patient records</a:t>
            </a:r>
            <a:endParaRPr lang="en-US" sz="550" dirty="0"/>
          </a:p>
        </p:txBody>
      </p:sp>
      <p:sp>
        <p:nvSpPr>
          <p:cNvPr id="14" name="Shape 12"/>
          <p:cNvSpPr/>
          <p:nvPr/>
        </p:nvSpPr>
        <p:spPr>
          <a:xfrm>
            <a:off x="496119" y="3171230"/>
            <a:ext cx="2316435" cy="658416"/>
          </a:xfrm>
          <a:prstGeom prst="roundRect">
            <a:avLst>
              <a:gd name="adj" fmla="val 10333"/>
            </a:avLst>
          </a:prstGeom>
          <a:solidFill>
            <a:srgbClr val="FAFFFA"/>
          </a:solidFill>
          <a:ln w="9525">
            <a:solidFill>
              <a:srgbClr val="CED9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1174" y="3256285"/>
            <a:ext cx="2146325" cy="11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PREPROCESSING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81174" y="3420442"/>
            <a:ext cx="2146325" cy="324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7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Encoding</a:t>
            </a:r>
            <a:endParaRPr lang="en-US" sz="550" dirty="0"/>
          </a:p>
          <a:p>
            <a:pPr algn="l" marL="111760" indent="-111760">
              <a:lnSpc>
                <a:spcPct val="107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Standardization</a:t>
            </a:r>
            <a:endParaRPr lang="en-US" sz="550" dirty="0"/>
          </a:p>
          <a:p>
            <a:pPr algn="l" marL="111760" indent="-111760">
              <a:lnSpc>
                <a:spcPct val="107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Feature scaling</a:t>
            </a:r>
            <a:endParaRPr lang="en-US" sz="550" dirty="0"/>
          </a:p>
        </p:txBody>
      </p:sp>
      <p:sp>
        <p:nvSpPr>
          <p:cNvPr id="17" name="Shape 15"/>
          <p:cNvSpPr/>
          <p:nvPr/>
        </p:nvSpPr>
        <p:spPr>
          <a:xfrm>
            <a:off x="496119" y="3875708"/>
            <a:ext cx="2316435" cy="658416"/>
          </a:xfrm>
          <a:prstGeom prst="roundRect">
            <a:avLst>
              <a:gd name="adj" fmla="val 10333"/>
            </a:avLst>
          </a:prstGeom>
          <a:solidFill>
            <a:srgbClr val="FAFFFA"/>
          </a:solidFill>
          <a:ln w="9525">
            <a:solidFill>
              <a:srgbClr val="CED9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1174" y="3960763"/>
            <a:ext cx="2146325" cy="11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FEATURE ENGINEERING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81174" y="4124920"/>
            <a:ext cx="2146325" cy="324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7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Feature selection</a:t>
            </a:r>
            <a:endParaRPr lang="en-US" sz="550" dirty="0"/>
          </a:p>
          <a:p>
            <a:pPr algn="l" marL="111760" indent="-111760">
              <a:lnSpc>
                <a:spcPct val="107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Derived health indicators</a:t>
            </a:r>
            <a:endParaRPr lang="en-US" sz="550" dirty="0"/>
          </a:p>
          <a:p>
            <a:pPr algn="l" marL="111760" indent="-111760">
              <a:lnSpc>
                <a:spcPct val="107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Model-ready feature vector</a:t>
            </a:r>
            <a:endParaRPr lang="en-US" sz="550" dirty="0"/>
          </a:p>
        </p:txBody>
      </p:sp>
      <p:sp>
        <p:nvSpPr>
          <p:cNvPr id="20" name="Text 18"/>
          <p:cNvSpPr/>
          <p:nvPr/>
        </p:nvSpPr>
        <p:spPr>
          <a:xfrm>
            <a:off x="267519" y="4585915"/>
            <a:ext cx="2773635" cy="121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7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↓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947243" y="995214"/>
            <a:ext cx="3258964" cy="3753817"/>
          </a:xfrm>
          <a:prstGeom prst="roundRect">
            <a:avLst>
              <a:gd name="adj" fmla="val 3340"/>
            </a:avLst>
          </a:prstGeom>
          <a:solidFill>
            <a:srgbClr val="EAF1F5"/>
          </a:solidFill>
          <a:ln/>
        </p:spPr>
      </p:sp>
      <p:sp>
        <p:nvSpPr>
          <p:cNvPr id="22" name="Text 20"/>
          <p:cNvSpPr/>
          <p:nvPr/>
        </p:nvSpPr>
        <p:spPr>
          <a:xfrm>
            <a:off x="3022774" y="1041276"/>
            <a:ext cx="3107903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Methodology Summary: Collect → Clean → Engineer → Train → Evaluate → Select → Deploy → Monitor → Retrain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136106" y="1370707"/>
            <a:ext cx="2994571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7000"/>
              </a:lnSpc>
              <a:buNone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system converts raw patient data into real-time predictive insights and analytics through an integrated machine learning pipeline.</a:t>
            </a:r>
            <a:endParaRPr lang="en-US" sz="550" dirty="0"/>
          </a:p>
        </p:txBody>
      </p:sp>
      <p:sp>
        <p:nvSpPr>
          <p:cNvPr id="24" name="Shape 22"/>
          <p:cNvSpPr/>
          <p:nvPr/>
        </p:nvSpPr>
        <p:spPr>
          <a:xfrm>
            <a:off x="3022774" y="1329258"/>
            <a:ext cx="9525" cy="277564"/>
          </a:xfrm>
          <a:prstGeom prst="roundRect">
            <a:avLst>
              <a:gd name="adj" fmla="val 50000"/>
            </a:avLst>
          </a:prstGeom>
          <a:solidFill>
            <a:srgbClr val="438951"/>
          </a:solidFill>
          <a:ln/>
        </p:spPr>
      </p:sp>
      <p:sp>
        <p:nvSpPr>
          <p:cNvPr id="25" name="Shape 23"/>
          <p:cNvSpPr/>
          <p:nvPr/>
        </p:nvSpPr>
        <p:spPr>
          <a:xfrm>
            <a:off x="3022774" y="1658615"/>
            <a:ext cx="3107903" cy="2107629"/>
          </a:xfrm>
          <a:prstGeom prst="roundRect">
            <a:avLst>
              <a:gd name="adj" fmla="val 3228"/>
            </a:avLst>
          </a:prstGeom>
          <a:solidFill>
            <a:srgbClr val="E8F3E8"/>
          </a:solidFill>
          <a:ln/>
        </p:spPr>
      </p:sp>
      <p:sp>
        <p:nvSpPr>
          <p:cNvPr id="26" name="Shape 24"/>
          <p:cNvSpPr/>
          <p:nvPr/>
        </p:nvSpPr>
        <p:spPr>
          <a:xfrm>
            <a:off x="3022774" y="1658615"/>
            <a:ext cx="3107903" cy="916930"/>
          </a:xfrm>
          <a:custGeom>
            <a:avLst/>
            <a:gdLst/>
            <a:ahLst/>
            <a:cxnLst/>
            <a:rect l="l" t="t" r="r" b="b"/>
            <a:pathLst>
              <a:path w="3107903" h="916930">
                <a:moveTo>
                  <a:pt x="56693" y="0"/>
                </a:moveTo>
                <a:lnTo>
                  <a:pt x="3051210" y="0"/>
                </a:lnTo>
                <a:arcTo hR="56693" wR="56693" stAng="16200000" swAng="5400000"/>
                <a:lnTo>
                  <a:pt x="3107903" y="916930"/>
                </a:lnTo>
                <a:lnTo>
                  <a:pt x="0" y="916930"/>
                </a:lnTo>
                <a:lnTo>
                  <a:pt x="0" y="56693"/>
                </a:lnTo>
                <a:arcTo hR="56693" wR="56693" stAng="10800000" swAng="5400000"/>
                <a:close/>
              </a:path>
            </a:pathLst>
          </a:custGeom>
          <a:solidFill>
            <a:srgbClr val="E8F3E8"/>
          </a:solidFill>
          <a:ln/>
        </p:spPr>
      </p:sp>
      <p:sp>
        <p:nvSpPr>
          <p:cNvPr id="27" name="Text 25"/>
          <p:cNvSpPr/>
          <p:nvPr/>
        </p:nvSpPr>
        <p:spPr>
          <a:xfrm>
            <a:off x="3098304" y="1734145"/>
            <a:ext cx="2956843" cy="11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SUPERVISED LEARNING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098304" y="1898303"/>
            <a:ext cx="2956843" cy="97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Multi-Disease Prediction</a:t>
            </a:r>
            <a:endParaRPr lang="en-US" sz="550" dirty="0"/>
          </a:p>
        </p:txBody>
      </p:sp>
      <p:sp>
        <p:nvSpPr>
          <p:cNvPr id="29" name="Text 27"/>
          <p:cNvSpPr/>
          <p:nvPr/>
        </p:nvSpPr>
        <p:spPr>
          <a:xfrm>
            <a:off x="3098304" y="2037085"/>
            <a:ext cx="2956843" cy="324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7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Multinomial Logistic Regression</a:t>
            </a:r>
            <a:endParaRPr lang="en-US" sz="550" dirty="0"/>
          </a:p>
          <a:p>
            <a:pPr algn="l" marL="111760" indent="-111760">
              <a:lnSpc>
                <a:spcPct val="107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Random Forest</a:t>
            </a:r>
            <a:endParaRPr lang="en-US" sz="550" dirty="0"/>
          </a:p>
          <a:p>
            <a:pPr algn="l" marL="111760" indent="-111760">
              <a:lnSpc>
                <a:spcPct val="107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XGBoost</a:t>
            </a:r>
            <a:endParaRPr lang="en-US" sz="550" dirty="0"/>
          </a:p>
        </p:txBody>
      </p:sp>
      <p:sp>
        <p:nvSpPr>
          <p:cNvPr id="30" name="Text 28"/>
          <p:cNvSpPr/>
          <p:nvPr/>
        </p:nvSpPr>
        <p:spPr>
          <a:xfrm>
            <a:off x="3098304" y="2402681"/>
            <a:ext cx="2956843" cy="97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Output: </a:t>
            </a:r>
            <a:pPr algn="l" indent="0" marL="0">
              <a:lnSpc>
                <a:spcPct val="107000"/>
              </a:lnSpc>
              <a:buNone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Predicted Disease + Probability</a:t>
            </a:r>
            <a:endParaRPr lang="en-US" sz="550" dirty="0"/>
          </a:p>
        </p:txBody>
      </p:sp>
      <p:sp>
        <p:nvSpPr>
          <p:cNvPr id="31" name="Shape 29"/>
          <p:cNvSpPr/>
          <p:nvPr/>
        </p:nvSpPr>
        <p:spPr>
          <a:xfrm>
            <a:off x="3022774" y="2575545"/>
            <a:ext cx="3107903" cy="551334"/>
          </a:xfrm>
          <a:prstGeom prst="rect">
            <a:avLst/>
          </a:prstGeom>
          <a:solidFill>
            <a:srgbClr val="E8F3E8"/>
          </a:solidFill>
          <a:ln/>
        </p:spPr>
      </p:sp>
      <p:sp>
        <p:nvSpPr>
          <p:cNvPr id="32" name="Shape 30"/>
          <p:cNvSpPr/>
          <p:nvPr/>
        </p:nvSpPr>
        <p:spPr>
          <a:xfrm>
            <a:off x="3022774" y="2575545"/>
            <a:ext cx="3107903" cy="9525"/>
          </a:xfrm>
          <a:prstGeom prst="roundRect">
            <a:avLst>
              <a:gd name="adj" fmla="val 50000"/>
            </a:avLst>
          </a:prstGeom>
          <a:solidFill>
            <a:srgbClr val="CED9CE"/>
          </a:solidFill>
          <a:ln/>
        </p:spPr>
      </p:sp>
      <p:sp>
        <p:nvSpPr>
          <p:cNvPr id="33" name="Text 31"/>
          <p:cNvSpPr/>
          <p:nvPr/>
        </p:nvSpPr>
        <p:spPr>
          <a:xfrm>
            <a:off x="3098304" y="2651075"/>
            <a:ext cx="2956843" cy="11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EMERGENCY RISK MODEL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098304" y="2815233"/>
            <a:ext cx="2956843" cy="236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spcAft>
                <a:spcPts val="300"/>
              </a:spcAft>
              <a:buNone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Severity Classification</a:t>
            </a:r>
            <a:endParaRPr lang="en-US" sz="5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Output: </a:t>
            </a:r>
            <a:pPr algn="l" indent="0" marL="0">
              <a:lnSpc>
                <a:spcPct val="107000"/>
              </a:lnSpc>
              <a:buNone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LOW → MEDIUM → HIGH → CRITICAL</a:t>
            </a:r>
            <a:endParaRPr lang="en-US" sz="550" dirty="0"/>
          </a:p>
        </p:txBody>
      </p:sp>
      <p:sp>
        <p:nvSpPr>
          <p:cNvPr id="35" name="Shape 33"/>
          <p:cNvSpPr/>
          <p:nvPr/>
        </p:nvSpPr>
        <p:spPr>
          <a:xfrm>
            <a:off x="3022774" y="3126879"/>
            <a:ext cx="3107903" cy="639366"/>
          </a:xfrm>
          <a:custGeom>
            <a:avLst/>
            <a:gdLst/>
            <a:ahLst/>
            <a:cxnLst/>
            <a:rect l="l" t="t" r="r" b="b"/>
            <a:pathLst>
              <a:path w="3107903" h="639366">
                <a:moveTo>
                  <a:pt x="0" y="0"/>
                </a:moveTo>
                <a:lnTo>
                  <a:pt x="3107903" y="0"/>
                </a:lnTo>
                <a:lnTo>
                  <a:pt x="3107903" y="582672"/>
                </a:lnTo>
                <a:arcTo hR="56693" wR="56693" stAng="0" swAng="5400000"/>
                <a:lnTo>
                  <a:pt x="56693" y="639366"/>
                </a:lnTo>
                <a:arcTo hR="56693" wR="56693" stAng="5400000" swAng="5400000"/>
                <a:lnTo>
                  <a:pt x="0" y="0"/>
                </a:lnTo>
                <a:close/>
              </a:path>
            </a:pathLst>
          </a:custGeom>
          <a:solidFill>
            <a:srgbClr val="E8F3E8"/>
          </a:solidFill>
          <a:ln/>
        </p:spPr>
      </p:sp>
      <p:sp>
        <p:nvSpPr>
          <p:cNvPr id="36" name="Shape 34"/>
          <p:cNvSpPr/>
          <p:nvPr/>
        </p:nvSpPr>
        <p:spPr>
          <a:xfrm>
            <a:off x="3022774" y="3126879"/>
            <a:ext cx="3107903" cy="9525"/>
          </a:xfrm>
          <a:prstGeom prst="roundRect">
            <a:avLst>
              <a:gd name="adj" fmla="val 50000"/>
            </a:avLst>
          </a:prstGeom>
          <a:solidFill>
            <a:srgbClr val="CED9CE"/>
          </a:solidFill>
          <a:ln/>
        </p:spPr>
      </p:sp>
      <p:sp>
        <p:nvSpPr>
          <p:cNvPr id="37" name="Text 35"/>
          <p:cNvSpPr/>
          <p:nvPr/>
        </p:nvSpPr>
        <p:spPr>
          <a:xfrm>
            <a:off x="3098304" y="3202409"/>
            <a:ext cx="2956843" cy="11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UNSUPERVISED &amp; ANOMALY ANALYTICS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098304" y="3366567"/>
            <a:ext cx="2956843" cy="324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7000"/>
              </a:lnSpc>
              <a:buSzPct val="100000"/>
              <a:buChar char="•"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K-Means</a:t>
            </a:r>
            <a:pPr algn="l" marL="111760" indent="-111760">
              <a:lnSpc>
                <a:spcPct val="107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→ Patient Segmentation</a:t>
            </a:r>
            <a:endParaRPr lang="en-US" sz="550" dirty="0"/>
          </a:p>
          <a:p>
            <a:pPr algn="l" marL="111760" indent="-111760">
              <a:lnSpc>
                <a:spcPct val="107000"/>
              </a:lnSpc>
              <a:buSzPct val="100000"/>
              <a:buChar char="•"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PCA</a:t>
            </a:r>
            <a:pPr algn="l" marL="111760" indent="-111760">
              <a:lnSpc>
                <a:spcPct val="107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→ Pattern Visualization</a:t>
            </a:r>
            <a:endParaRPr lang="en-US" sz="550" dirty="0"/>
          </a:p>
          <a:p>
            <a:pPr algn="l" marL="111760" indent="-111760">
              <a:lnSpc>
                <a:spcPct val="107000"/>
              </a:lnSpc>
              <a:buSzPct val="100000"/>
              <a:buChar char="•"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Isolation Forest</a:t>
            </a:r>
            <a:pPr algn="l" marL="111760" indent="-111760">
              <a:lnSpc>
                <a:spcPct val="107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→ Anomaly Detection</a:t>
            </a:r>
            <a:endParaRPr lang="en-US" sz="550" dirty="0"/>
          </a:p>
        </p:txBody>
      </p:sp>
      <p:sp>
        <p:nvSpPr>
          <p:cNvPr id="39" name="Text 37"/>
          <p:cNvSpPr/>
          <p:nvPr/>
        </p:nvSpPr>
        <p:spPr>
          <a:xfrm>
            <a:off x="6340897" y="1041276"/>
            <a:ext cx="2316435" cy="11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LAYER 3 — MACHINE LEARNING ENGINE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112297" y="1205433"/>
            <a:ext cx="2773635" cy="121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7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↓</a:t>
            </a:r>
            <a:endParaRPr lang="en-US" sz="700" dirty="0"/>
          </a:p>
        </p:txBody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40897" y="1378893"/>
            <a:ext cx="2316435" cy="648816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7453722" y="1435596"/>
            <a:ext cx="90636" cy="1133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1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6425952" y="1681163"/>
            <a:ext cx="2146325" cy="11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FASTAPI REST SERVICE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6425952" y="1845320"/>
            <a:ext cx="2146325" cy="97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Receives patient data and returns real-time ML predictions.</a:t>
            </a:r>
            <a:endParaRPr lang="en-US" sz="550" dirty="0"/>
          </a:p>
        </p:txBody>
      </p:sp>
      <p:pic>
        <p:nvPicPr>
          <p:cNvPr id="4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0897" y="2073771"/>
            <a:ext cx="2316435" cy="1102444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7453722" y="2130475"/>
            <a:ext cx="90636" cy="1133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2</a:t>
            </a:r>
            <a:endParaRPr lang="en-US" sz="700" dirty="0"/>
          </a:p>
        </p:txBody>
      </p:sp>
      <p:sp>
        <p:nvSpPr>
          <p:cNvPr id="47" name="Text 43"/>
          <p:cNvSpPr/>
          <p:nvPr/>
        </p:nvSpPr>
        <p:spPr>
          <a:xfrm>
            <a:off x="6425952" y="2376041"/>
            <a:ext cx="2146325" cy="11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HEALTHCARE ANALYTICS DASHBOARD</a:t>
            </a:r>
            <a:endParaRPr lang="en-US" sz="700" dirty="0"/>
          </a:p>
        </p:txBody>
      </p:sp>
      <p:sp>
        <p:nvSpPr>
          <p:cNvPr id="48" name="Text 44"/>
          <p:cNvSpPr/>
          <p:nvPr/>
        </p:nvSpPr>
        <p:spPr>
          <a:xfrm>
            <a:off x="6425952" y="2540198"/>
            <a:ext cx="2146325" cy="550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7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Disease predictions</a:t>
            </a:r>
            <a:endParaRPr lang="en-US" sz="550" dirty="0"/>
          </a:p>
          <a:p>
            <a:pPr algn="l" marL="111760" indent="-111760">
              <a:lnSpc>
                <a:spcPct val="107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Risk levels</a:t>
            </a:r>
            <a:endParaRPr lang="en-US" sz="550" dirty="0"/>
          </a:p>
          <a:p>
            <a:pPr algn="l" marL="111760" indent="-111760">
              <a:lnSpc>
                <a:spcPct val="107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Patient clusters</a:t>
            </a:r>
            <a:endParaRPr lang="en-US" sz="550" dirty="0"/>
          </a:p>
          <a:p>
            <a:pPr algn="l" marL="111760" indent="-111760">
              <a:lnSpc>
                <a:spcPct val="107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Anomaly alerts</a:t>
            </a:r>
            <a:endParaRPr lang="en-US" sz="550" dirty="0"/>
          </a:p>
          <a:p>
            <a:pPr algn="l" marL="111760" indent="-111760">
              <a:lnSpc>
                <a:spcPct val="107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Model statistics</a:t>
            </a:r>
            <a:endParaRPr lang="en-US" sz="550" dirty="0"/>
          </a:p>
        </p:txBody>
      </p:sp>
      <p:pic>
        <p:nvPicPr>
          <p:cNvPr id="4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40897" y="3222278"/>
            <a:ext cx="2316435" cy="989037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7453722" y="3278981"/>
            <a:ext cx="90636" cy="1133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3</a:t>
            </a:r>
            <a:endParaRPr lang="en-US" sz="700" dirty="0"/>
          </a:p>
        </p:txBody>
      </p:sp>
      <p:sp>
        <p:nvSpPr>
          <p:cNvPr id="51" name="Text 46"/>
          <p:cNvSpPr/>
          <p:nvPr/>
        </p:nvSpPr>
        <p:spPr>
          <a:xfrm>
            <a:off x="6425952" y="3524548"/>
            <a:ext cx="2146325" cy="11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MONITORING &amp; RETRAINING</a:t>
            </a:r>
            <a:endParaRPr lang="en-US" sz="700" dirty="0"/>
          </a:p>
        </p:txBody>
      </p:sp>
      <p:sp>
        <p:nvSpPr>
          <p:cNvPr id="52" name="Text 47"/>
          <p:cNvSpPr/>
          <p:nvPr/>
        </p:nvSpPr>
        <p:spPr>
          <a:xfrm>
            <a:off x="6425952" y="3688705"/>
            <a:ext cx="2146325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7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Prediction performance</a:t>
            </a:r>
            <a:endParaRPr lang="en-US" sz="550" dirty="0"/>
          </a:p>
          <a:p>
            <a:pPr algn="l" marL="111760" indent="-111760">
              <a:lnSpc>
                <a:spcPct val="107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API latency</a:t>
            </a:r>
            <a:endParaRPr lang="en-US" sz="550" dirty="0"/>
          </a:p>
          <a:p>
            <a:pPr algn="l" marL="111760" indent="-111760">
              <a:lnSpc>
                <a:spcPct val="107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 drift</a:t>
            </a:r>
            <a:endParaRPr lang="en-US" sz="550" dirty="0"/>
          </a:p>
          <a:p>
            <a:pPr algn="l" marL="111760" indent="-111760">
              <a:lnSpc>
                <a:spcPct val="107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Model behaviour</a:t>
            </a:r>
            <a:endParaRPr lang="en-US" sz="550" dirty="0"/>
          </a:p>
        </p:txBody>
      </p:sp>
      <p:sp>
        <p:nvSpPr>
          <p:cNvPr id="53" name="Text 48"/>
          <p:cNvSpPr/>
          <p:nvPr/>
        </p:nvSpPr>
        <p:spPr>
          <a:xfrm>
            <a:off x="6112297" y="4263107"/>
            <a:ext cx="2773635" cy="121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7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↓</a:t>
            </a:r>
            <a:endParaRPr lang="en-US" sz="700" dirty="0"/>
          </a:p>
        </p:txBody>
      </p:sp>
      <p:sp>
        <p:nvSpPr>
          <p:cNvPr id="54" name="Text 49"/>
          <p:cNvSpPr/>
          <p:nvPr/>
        </p:nvSpPr>
        <p:spPr>
          <a:xfrm>
            <a:off x="6340897" y="4430837"/>
            <a:ext cx="2316435" cy="11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LAYER 4 — APPLICATION &amp; OUTPUT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6621"/>
            <a:ext cx="8151763" cy="333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Feasibility Analysis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267519" y="862905"/>
            <a:ext cx="8608963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Software-based ML solution using standard computing resources and open-source tools.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96119" y="1402259"/>
            <a:ext cx="2263527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01 — HARDWARE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96119" y="1605409"/>
            <a:ext cx="2263527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Standard Laptop / Desktop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1831" y="1267123"/>
            <a:ext cx="2292102" cy="28575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7" name="Text 5"/>
          <p:cNvSpPr/>
          <p:nvPr/>
        </p:nvSpPr>
        <p:spPr>
          <a:xfrm>
            <a:off x="496119" y="1874937"/>
            <a:ext cx="2263527" cy="7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Intel i5 / Ryzen 5 or equivalent</a:t>
            </a:r>
            <a:endParaRPr lang="en-US" sz="800" dirty="0"/>
          </a:p>
          <a:p>
            <a:pPr algn="l" marL="162560" indent="-162560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8 GB RAM minimum</a:t>
            </a:r>
            <a:endParaRPr lang="en-US" sz="800" dirty="0"/>
          </a:p>
          <a:p>
            <a:pPr algn="l" marL="162560" indent="-162560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10 GB+ available storage</a:t>
            </a:r>
            <a:endParaRPr lang="en-US" sz="800" dirty="0"/>
          </a:p>
          <a:p>
            <a:pPr algn="l" marL="162560" indent="-162560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Internet connection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96119" y="2687613"/>
            <a:ext cx="2720727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No specialized hardware required.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024411" y="1267123"/>
            <a:ext cx="3104704" cy="3426693"/>
          </a:xfrm>
          <a:prstGeom prst="roundRect">
            <a:avLst>
              <a:gd name="adj" fmla="val 3090"/>
            </a:avLst>
          </a:prstGeom>
          <a:solidFill>
            <a:srgbClr val="E8F3E8"/>
          </a:solidFill>
          <a:ln/>
        </p:spPr>
      </p:sp>
      <p:sp>
        <p:nvSpPr>
          <p:cNvPr id="10" name="Shape 8"/>
          <p:cNvSpPr/>
          <p:nvPr/>
        </p:nvSpPr>
        <p:spPr>
          <a:xfrm>
            <a:off x="3024411" y="1267123"/>
            <a:ext cx="3104704" cy="1214140"/>
          </a:xfrm>
          <a:custGeom>
            <a:avLst/>
            <a:gdLst/>
            <a:ahLst/>
            <a:cxnLst/>
            <a:rect l="l" t="t" r="r" b="b"/>
            <a:pathLst>
              <a:path w="3104704" h="1214140">
                <a:moveTo>
                  <a:pt x="79952" y="0"/>
                </a:moveTo>
                <a:lnTo>
                  <a:pt x="3024752" y="0"/>
                </a:lnTo>
                <a:arcTo hR="79952" wR="79952" stAng="16200000" swAng="5400000"/>
                <a:lnTo>
                  <a:pt x="3104704" y="1214140"/>
                </a:lnTo>
                <a:lnTo>
                  <a:pt x="0" y="1214140"/>
                </a:lnTo>
                <a:lnTo>
                  <a:pt x="0" y="79952"/>
                </a:lnTo>
                <a:arcTo hR="79952" wR="79952" stAng="10800000" swAng="5400000"/>
                <a:close/>
              </a:path>
            </a:pathLst>
          </a:custGeom>
          <a:solidFill>
            <a:srgbClr val="E8F3E8"/>
          </a:solidFill>
          <a:ln/>
        </p:spPr>
      </p:sp>
      <p:sp>
        <p:nvSpPr>
          <p:cNvPr id="11" name="Text 9"/>
          <p:cNvSpPr/>
          <p:nvPr/>
        </p:nvSpPr>
        <p:spPr>
          <a:xfrm>
            <a:off x="3130972" y="1373684"/>
            <a:ext cx="2891582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02 — SOFTWARE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30972" y="1576834"/>
            <a:ext cx="2891582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Development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30972" y="1834976"/>
            <a:ext cx="2891582" cy="539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Python</a:t>
            </a:r>
            <a:endParaRPr lang="en-US" sz="800" dirty="0"/>
          </a:p>
          <a:p>
            <a:pPr algn="l" marL="162560" indent="-162560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Anaconda Navigator</a:t>
            </a:r>
            <a:endParaRPr lang="en-US" sz="800" dirty="0"/>
          </a:p>
          <a:p>
            <a:pPr algn="l" marL="162560" indent="-162560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Jupyter Notebook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024411" y="2481263"/>
            <a:ext cx="3104704" cy="1010989"/>
          </a:xfrm>
          <a:prstGeom prst="rect">
            <a:avLst/>
          </a:prstGeom>
          <a:solidFill>
            <a:srgbClr val="E8F3E8"/>
          </a:solidFill>
          <a:ln/>
        </p:spPr>
      </p:sp>
      <p:sp>
        <p:nvSpPr>
          <p:cNvPr id="15" name="Shape 13"/>
          <p:cNvSpPr/>
          <p:nvPr/>
        </p:nvSpPr>
        <p:spPr>
          <a:xfrm>
            <a:off x="3024411" y="2481263"/>
            <a:ext cx="3104704" cy="14288"/>
          </a:xfrm>
          <a:prstGeom prst="roundRect">
            <a:avLst>
              <a:gd name="adj" fmla="val 49998"/>
            </a:avLst>
          </a:prstGeom>
          <a:solidFill>
            <a:srgbClr val="CED9CE"/>
          </a:solidFill>
          <a:ln/>
        </p:spPr>
      </p:sp>
      <p:sp>
        <p:nvSpPr>
          <p:cNvPr id="16" name="Text 14"/>
          <p:cNvSpPr/>
          <p:nvPr/>
        </p:nvSpPr>
        <p:spPr>
          <a:xfrm>
            <a:off x="3130972" y="2587823"/>
            <a:ext cx="2891582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ML &amp; Data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30972" y="2845966"/>
            <a:ext cx="2891582" cy="539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Pandas • NumPy</a:t>
            </a:r>
            <a:endParaRPr lang="en-US" sz="800" dirty="0"/>
          </a:p>
          <a:p>
            <a:pPr algn="l" marL="162560" indent="-162560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Scikit-learn • XGBoost</a:t>
            </a:r>
            <a:endParaRPr lang="en-US" sz="800" dirty="0"/>
          </a:p>
          <a:p>
            <a:pPr algn="l" marL="162560" indent="-162560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Matplotlib / Seaborn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024411" y="3492252"/>
            <a:ext cx="3104704" cy="1201564"/>
          </a:xfrm>
          <a:custGeom>
            <a:avLst/>
            <a:gdLst/>
            <a:ahLst/>
            <a:cxnLst/>
            <a:rect l="l" t="t" r="r" b="b"/>
            <a:pathLst>
              <a:path w="3104704" h="1201564">
                <a:moveTo>
                  <a:pt x="0" y="0"/>
                </a:moveTo>
                <a:lnTo>
                  <a:pt x="3104704" y="0"/>
                </a:lnTo>
                <a:lnTo>
                  <a:pt x="3104704" y="1121612"/>
                </a:lnTo>
                <a:arcTo hR="79952" wR="79952" stAng="0" swAng="5400000"/>
                <a:lnTo>
                  <a:pt x="79952" y="1201564"/>
                </a:lnTo>
                <a:arcTo hR="79952" wR="79952" stAng="5400000" swAng="5400000"/>
                <a:lnTo>
                  <a:pt x="0" y="0"/>
                </a:lnTo>
                <a:close/>
              </a:path>
            </a:pathLst>
          </a:custGeom>
          <a:solidFill>
            <a:srgbClr val="E8F3E8"/>
          </a:solidFill>
          <a:ln/>
        </p:spPr>
      </p:sp>
      <p:sp>
        <p:nvSpPr>
          <p:cNvPr id="19" name="Shape 17"/>
          <p:cNvSpPr/>
          <p:nvPr/>
        </p:nvSpPr>
        <p:spPr>
          <a:xfrm>
            <a:off x="3024411" y="3492252"/>
            <a:ext cx="3104704" cy="14288"/>
          </a:xfrm>
          <a:prstGeom prst="roundRect">
            <a:avLst>
              <a:gd name="adj" fmla="val 49998"/>
            </a:avLst>
          </a:prstGeom>
          <a:solidFill>
            <a:srgbClr val="CED9CE"/>
          </a:solidFill>
          <a:ln/>
        </p:spPr>
      </p:sp>
      <p:sp>
        <p:nvSpPr>
          <p:cNvPr id="20" name="Text 18"/>
          <p:cNvSpPr/>
          <p:nvPr/>
        </p:nvSpPr>
        <p:spPr>
          <a:xfrm>
            <a:off x="3130972" y="3598813"/>
            <a:ext cx="2891582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130972" y="3856955"/>
            <a:ext cx="2891582" cy="7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FastAPI • Uvicorn</a:t>
            </a:r>
            <a:endParaRPr lang="en-US" sz="800" dirty="0"/>
          </a:p>
          <a:p>
            <a:pPr algn="l" marL="162560" indent="-162560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Streamlit</a:t>
            </a:r>
            <a:endParaRPr lang="en-US" sz="800" dirty="0"/>
          </a:p>
          <a:p>
            <a:pPr algn="l" marL="162560" indent="-162560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MLflow</a:t>
            </a:r>
            <a:endParaRPr lang="en-US" sz="800" dirty="0"/>
          </a:p>
          <a:p>
            <a:pPr algn="l" marL="162560" indent="-162560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Git / GitHub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393879" y="1267123"/>
            <a:ext cx="2263527" cy="2569071"/>
          </a:xfrm>
          <a:prstGeom prst="roundRect">
            <a:avLst>
              <a:gd name="adj" fmla="val 4239"/>
            </a:avLst>
          </a:prstGeom>
          <a:solidFill>
            <a:srgbClr val="DDEEE0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440" y="1397347"/>
            <a:ext cx="166539" cy="133201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773540" y="1385367"/>
            <a:ext cx="1777305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03 — FEASIBILITY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773540" y="1643509"/>
            <a:ext cx="1777305" cy="164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24000"/>
              </a:lnSpc>
              <a:buSzPct val="100000"/>
              <a:buChar char="•"/>
            </a:pPr>
            <a:r>
              <a:rPr lang="en-US" sz="800" b="1" dirty="0">
                <a:solidFill>
                  <a:srgbClr val="00000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Technical:</a:t>
            </a:r>
            <a:pPr algn="l" marL="162560" indent="-162560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Uses established ML algorithms and open-source tools.</a:t>
            </a:r>
            <a:endParaRPr lang="en-US" sz="800" dirty="0"/>
          </a:p>
          <a:p>
            <a:pPr algn="l" marL="162560" indent="-162560">
              <a:lnSpc>
                <a:spcPct val="124000"/>
              </a:lnSpc>
              <a:buSzPct val="100000"/>
              <a:buChar char="•"/>
            </a:pPr>
            <a:r>
              <a:rPr lang="en-US" sz="800" b="1" dirty="0">
                <a:solidFill>
                  <a:srgbClr val="00000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Economic:</a:t>
            </a:r>
            <a:pPr algn="l" marL="162560" indent="-162560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No specialized hardware or expensive software required.</a:t>
            </a:r>
            <a:endParaRPr lang="en-US" sz="800" dirty="0"/>
          </a:p>
          <a:p>
            <a:pPr algn="l" marL="162560" indent="-162560">
              <a:lnSpc>
                <a:spcPct val="124000"/>
              </a:lnSpc>
              <a:buSzPct val="100000"/>
              <a:buChar char="•"/>
            </a:pPr>
            <a:r>
              <a:rPr lang="en-US" sz="800" b="1" dirty="0">
                <a:solidFill>
                  <a:srgbClr val="00000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Operational:</a:t>
            </a:r>
            <a:pPr algn="l" marL="162560" indent="-162560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Can be developed, tested, and deployed using a standard computer.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773540" y="3384872"/>
            <a:ext cx="1777305" cy="333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FEASIBLE • LOW COST • SCALABLE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9129"/>
            <a:ext cx="8151763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Novelty of the Project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267519" y="887760"/>
            <a:ext cx="8608963" cy="182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Distinguishing our solution from existing approaches in healthcare analytics.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187648"/>
            <a:ext cx="8151763" cy="14288"/>
          </a:xfrm>
          <a:prstGeom prst="roundRect">
            <a:avLst>
              <a:gd name="adj" fmla="val 49998"/>
            </a:avLst>
          </a:prstGeom>
          <a:solidFill>
            <a:srgbClr val="405449">
              <a:alpha val="5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319213"/>
            <a:ext cx="4034954" cy="29560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1163" y="1717700"/>
            <a:ext cx="380486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01 — WHAT MAKES OUR PROJECT UNIQUE?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11163" y="1924273"/>
            <a:ext cx="3804865" cy="633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350"/>
              </a:spcAft>
              <a:buNone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project delivers </a:t>
            </a:r>
            <a:pPr algn="l" indent="0" marL="0">
              <a:lnSpc>
                <a:spcPct val="121000"/>
              </a:lnSpc>
              <a:spcAft>
                <a:spcPts val="350"/>
              </a:spcAft>
              <a:buNone/>
            </a:pPr>
            <a:r>
              <a:rPr lang="en-US" sz="7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multi-perspective patient intelligence</a:t>
            </a:r>
            <a:pPr algn="l" indent="0" marL="0">
              <a:lnSpc>
                <a:spcPct val="121000"/>
              </a:lnSpc>
              <a:spcAft>
                <a:spcPts val="350"/>
              </a:spcAft>
              <a:buNone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derived from a single patient record.</a:t>
            </a:r>
            <a:endParaRPr lang="en-US" sz="7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Instead of machine learning being confined to a solitary task, our system integrates: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611163" y="2606799"/>
            <a:ext cx="3804865" cy="670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21000"/>
              </a:lnSpc>
              <a:buSzPct val="100000"/>
              <a:buChar char="•"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Multi-Disease Prediction</a:t>
            </a:r>
            <a:endParaRPr lang="en-US" sz="750" dirty="0"/>
          </a:p>
          <a:p>
            <a:pPr algn="l" marL="152400" indent="-152400">
              <a:lnSpc>
                <a:spcPct val="121000"/>
              </a:lnSpc>
              <a:buSzPct val="100000"/>
              <a:buChar char="•"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Emergency Severity Assessment</a:t>
            </a:r>
            <a:endParaRPr lang="en-US" sz="750" dirty="0"/>
          </a:p>
          <a:p>
            <a:pPr algn="l" marL="152400" indent="-152400">
              <a:lnSpc>
                <a:spcPct val="121000"/>
              </a:lnSpc>
              <a:buSzPct val="100000"/>
              <a:buChar char="•"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Patient Segmentation</a:t>
            </a:r>
            <a:endParaRPr lang="en-US" sz="750" dirty="0"/>
          </a:p>
          <a:p>
            <a:pPr algn="l" marL="152400" indent="-152400">
              <a:lnSpc>
                <a:spcPct val="121000"/>
              </a:lnSpc>
              <a:buSzPct val="100000"/>
              <a:buChar char="•"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Anomaly Detection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611163" y="3326160"/>
            <a:ext cx="3804865" cy="2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comprehensive approach constructs a significantly </a:t>
            </a:r>
            <a:pPr algn="l" indent="0" marL="0">
              <a:lnSpc>
                <a:spcPct val="121000"/>
              </a:lnSpc>
              <a:buNone/>
            </a:pPr>
            <a:r>
              <a:rPr lang="en-US" sz="7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broader patient risk profile</a:t>
            </a:r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from the same underlying health data, offering a holistic view.</a:t>
            </a:r>
            <a:endParaRPr lang="en-US" sz="7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2928" y="1319213"/>
            <a:ext cx="4034954" cy="295609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27972" y="1717700"/>
            <a:ext cx="3804865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02 — HOW IS IT DIFFERENT FROM EXISTING SOLUTIONS?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727972" y="2065362"/>
            <a:ext cx="380486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Existing Solutions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727972" y="2271936"/>
            <a:ext cx="3804865" cy="670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21000"/>
              </a:lnSpc>
              <a:buSzPct val="100000"/>
              <a:buChar char="•"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Typically focus on </a:t>
            </a:r>
            <a:pPr algn="l" marL="152400" indent="-152400">
              <a:lnSpc>
                <a:spcPct val="121000"/>
              </a:lnSpc>
              <a:buSzPct val="100000"/>
              <a:buChar char="•"/>
            </a:pPr>
            <a:r>
              <a:rPr lang="en-US" sz="7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single-disease prediction</a:t>
            </a:r>
            <a:pPr algn="l" marL="152400" indent="-152400">
              <a:lnSpc>
                <a:spcPct val="121000"/>
              </a:lnSpc>
              <a:buSzPct val="100000"/>
              <a:buChar char="•"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750" dirty="0"/>
          </a:p>
          <a:p>
            <a:pPr algn="l" marL="152400" indent="-152400">
              <a:lnSpc>
                <a:spcPct val="121000"/>
              </a:lnSpc>
              <a:buSzPct val="100000"/>
              <a:buChar char="•"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Often provide only a </a:t>
            </a:r>
            <a:pPr algn="l" marL="152400" indent="-152400">
              <a:lnSpc>
                <a:spcPct val="121000"/>
              </a:lnSpc>
              <a:buSzPct val="100000"/>
              <a:buChar char="•"/>
            </a:pPr>
            <a:r>
              <a:rPr lang="en-US" sz="7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single model output</a:t>
            </a:r>
            <a:pPr algn="l" marL="152400" indent="-152400">
              <a:lnSpc>
                <a:spcPct val="121000"/>
              </a:lnSpc>
              <a:buSzPct val="100000"/>
              <a:buChar char="•"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750" dirty="0"/>
          </a:p>
          <a:p>
            <a:pPr algn="l" marL="152400" indent="-152400">
              <a:lnSpc>
                <a:spcPct val="121000"/>
              </a:lnSpc>
              <a:buSzPct val="100000"/>
              <a:buChar char="•"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Predictive and unsupervised techniques are commonly handled in isolation.</a:t>
            </a:r>
            <a:endParaRPr lang="en-US" sz="750" dirty="0"/>
          </a:p>
          <a:p>
            <a:pPr algn="l" marL="152400" indent="-152400">
              <a:lnSpc>
                <a:spcPct val="121000"/>
              </a:lnSpc>
              <a:buSzPct val="100000"/>
              <a:buChar char="•"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Exhibit limited integration between ML models and real-time applications.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4727972" y="2991296"/>
            <a:ext cx="380486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Our Proposed Solution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727972" y="3197870"/>
            <a:ext cx="3804865" cy="962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21000"/>
              </a:lnSpc>
              <a:buSzPct val="100000"/>
              <a:buChar char="•"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Predicts </a:t>
            </a:r>
            <a:pPr algn="l" marL="152400" indent="-152400">
              <a:lnSpc>
                <a:spcPct val="121000"/>
              </a:lnSpc>
              <a:buSzPct val="100000"/>
              <a:buChar char="•"/>
            </a:pPr>
            <a:r>
              <a:rPr lang="en-US" sz="7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multiple disease categories</a:t>
            </a:r>
            <a:pPr algn="l" marL="152400" indent="-152400">
              <a:lnSpc>
                <a:spcPct val="121000"/>
              </a:lnSpc>
              <a:buSzPct val="100000"/>
              <a:buChar char="•"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within a unified system.</a:t>
            </a:r>
            <a:endParaRPr lang="en-US" sz="750" dirty="0"/>
          </a:p>
          <a:p>
            <a:pPr algn="l" marL="152400" indent="-152400">
              <a:lnSpc>
                <a:spcPct val="121000"/>
              </a:lnSpc>
              <a:buSzPct val="100000"/>
              <a:buChar char="•"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Harmoniously combines </a:t>
            </a:r>
            <a:pPr algn="l" marL="152400" indent="-152400">
              <a:lnSpc>
                <a:spcPct val="121000"/>
              </a:lnSpc>
              <a:buSzPct val="100000"/>
              <a:buChar char="•"/>
            </a:pPr>
            <a:r>
              <a:rPr lang="en-US" sz="7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supervised, unsupervised, and anomaly detection</a:t>
            </a:r>
            <a:pPr algn="l" marL="152400" indent="-152400">
              <a:lnSpc>
                <a:spcPct val="121000"/>
              </a:lnSpc>
              <a:buSzPct val="100000"/>
              <a:buChar char="•"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methodologies.</a:t>
            </a:r>
            <a:endParaRPr lang="en-US" sz="750" dirty="0"/>
          </a:p>
          <a:p>
            <a:pPr algn="l" marL="152400" indent="-152400">
              <a:lnSpc>
                <a:spcPct val="121000"/>
              </a:lnSpc>
              <a:buSzPct val="100000"/>
              <a:buChar char="•"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Generates </a:t>
            </a:r>
            <a:pPr algn="l" marL="152400" indent="-152400">
              <a:lnSpc>
                <a:spcPct val="121000"/>
              </a:lnSpc>
              <a:buSzPct val="100000"/>
              <a:buChar char="•"/>
            </a:pPr>
            <a:r>
              <a:rPr lang="en-US" sz="7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multiple, diverse insights</a:t>
            </a:r>
            <a:pPr algn="l" marL="152400" indent="-152400">
              <a:lnSpc>
                <a:spcPct val="121000"/>
              </a:lnSpc>
              <a:buSzPct val="100000"/>
              <a:buChar char="•"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from each individual patient record.</a:t>
            </a:r>
            <a:endParaRPr lang="en-US" sz="750" dirty="0"/>
          </a:p>
          <a:p>
            <a:pPr algn="l" marL="152400" indent="-152400">
              <a:lnSpc>
                <a:spcPct val="121000"/>
              </a:lnSpc>
              <a:buSzPct val="100000"/>
              <a:buChar char="•"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Seamlessly integrates the entire ML pipeline into a </a:t>
            </a:r>
            <a:pPr algn="l" marL="152400" indent="-152400">
              <a:lnSpc>
                <a:spcPct val="121000"/>
              </a:lnSpc>
              <a:buSzPct val="100000"/>
              <a:buChar char="•"/>
            </a:pPr>
            <a:r>
              <a:rPr lang="en-US" sz="7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real-time healthcare application</a:t>
            </a:r>
            <a:pPr algn="l" marL="152400" indent="-152400">
              <a:lnSpc>
                <a:spcPct val="121000"/>
              </a:lnSpc>
              <a:buSzPct val="100000"/>
              <a:buChar char="•"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418654" y="4459560"/>
            <a:ext cx="8457828" cy="182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9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“From a single prediction to a complete patient intelligence profile.”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96119" y="4367436"/>
            <a:ext cx="14288" cy="366861"/>
          </a:xfrm>
          <a:prstGeom prst="roundRect">
            <a:avLst>
              <a:gd name="adj" fmla="val 49998"/>
            </a:avLst>
          </a:prstGeom>
          <a:solidFill>
            <a:srgbClr val="438951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41114"/>
            <a:ext cx="1409551" cy="144214"/>
          </a:xfrm>
          <a:prstGeom prst="roundRect">
            <a:avLst>
              <a:gd name="adj" fmla="val 47416"/>
            </a:avLst>
          </a:prstGeom>
          <a:noFill/>
          <a:ln w="4763">
            <a:solidFill>
              <a:srgbClr val="438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3045" y="369540"/>
            <a:ext cx="1752898" cy="87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NEW FEATURES &amp; IMPROVEMENTS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496119" y="514350"/>
            <a:ext cx="8151763" cy="296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New Features &amp; Improvements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267519" y="920130"/>
            <a:ext cx="8608963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Extending healthcare ML from prediction to integrated, real-time patient intelligence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96119" y="1193229"/>
            <a:ext cx="8151763" cy="9525"/>
          </a:xfrm>
          <a:prstGeom prst="roundRect">
            <a:avLst>
              <a:gd name="adj" fmla="val 50000"/>
            </a:avLst>
          </a:prstGeom>
          <a:solidFill>
            <a:srgbClr val="405449">
              <a:alpha val="5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450702"/>
            <a:ext cx="4039493" cy="74175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0596" y="1627882"/>
            <a:ext cx="3830538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Multi-Disease Prediction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00596" y="1819796"/>
            <a:ext cx="3830538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Predict the most likely disease category from </a:t>
            </a:r>
            <a:pPr algn="l" indent="0" marL="0">
              <a:lnSpc>
                <a:spcPct val="118000"/>
              </a:lnSpc>
              <a:buNone/>
            </a:pPr>
            <a:r>
              <a:rPr lang="en-US" sz="7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multiple disease classes</a:t>
            </a:r>
            <a:pPr algn="l" indent="0" marL="0">
              <a:lnSpc>
                <a:spcPct val="118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instead of a single disease.</a:t>
            </a:r>
            <a:endParaRPr lang="en-US" sz="7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8314" y="1308274"/>
            <a:ext cx="4039567" cy="8841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12791" y="1485454"/>
            <a:ext cx="3830613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Emergency Severity Assessment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712791" y="1677367"/>
            <a:ext cx="3830613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Classify patients into </a:t>
            </a:r>
            <a:pPr algn="l" indent="0" marL="0">
              <a:lnSpc>
                <a:spcPct val="118000"/>
              </a:lnSpc>
              <a:buNone/>
            </a:pPr>
            <a:r>
              <a:rPr lang="en-US" sz="7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Low, Medium, High, or Critical</a:t>
            </a:r>
            <a:pPr algn="l" indent="0" marL="0">
              <a:lnSpc>
                <a:spcPct val="118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severity levels to support faster prioritization.</a:t>
            </a:r>
            <a:endParaRPr lang="en-US" sz="7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407593"/>
            <a:ext cx="4039493" cy="74175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00596" y="2584772"/>
            <a:ext cx="3830538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Patient Pattern Discovery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600596" y="2776686"/>
            <a:ext cx="3830538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 </a:t>
            </a:r>
            <a:pPr algn="l" indent="0" marL="0">
              <a:lnSpc>
                <a:spcPct val="118000"/>
              </a:lnSpc>
              <a:buNone/>
            </a:pPr>
            <a:r>
              <a:rPr lang="en-US" sz="7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K-Means and PCA</a:t>
            </a:r>
            <a:pPr algn="l" indent="0" marL="0">
              <a:lnSpc>
                <a:spcPct val="118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to identify similar patient groups and reveal hidden patterns in healthcare data.</a:t>
            </a:r>
            <a:endParaRPr lang="en-US" sz="7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08314" y="2265164"/>
            <a:ext cx="4039567" cy="8841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712791" y="2442344"/>
            <a:ext cx="3830613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Anomaly Detection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4712791" y="2634258"/>
            <a:ext cx="3830613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Utilise </a:t>
            </a:r>
            <a:pPr algn="l" indent="0" marL="0">
              <a:lnSpc>
                <a:spcPct val="118000"/>
              </a:lnSpc>
              <a:buNone/>
            </a:pPr>
            <a:r>
              <a:rPr lang="en-US" sz="7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Isolation Forest</a:t>
            </a:r>
            <a:pPr algn="l" indent="0" marL="0">
              <a:lnSpc>
                <a:spcPct val="118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to flag unusual patient records and abnormal health-data patterns for review.</a:t>
            </a:r>
            <a:endParaRPr lang="en-US" sz="7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364483"/>
            <a:ext cx="4039493" cy="741759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00596" y="3541663"/>
            <a:ext cx="3830538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Real-Time ML Integration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600596" y="3733577"/>
            <a:ext cx="3830538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Deploy trained models through </a:t>
            </a:r>
            <a:pPr algn="l" indent="0" marL="0">
              <a:lnSpc>
                <a:spcPct val="118000"/>
              </a:lnSpc>
              <a:buNone/>
            </a:pPr>
            <a:r>
              <a:rPr lang="en-US" sz="7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FastAPI REST APIs</a:t>
            </a:r>
            <a:pPr algn="l" indent="0" marL="0">
              <a:lnSpc>
                <a:spcPct val="118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enabling real-time prediction capabilities.</a:t>
            </a:r>
            <a:endParaRPr lang="en-US" sz="7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08314" y="3222054"/>
            <a:ext cx="4039567" cy="88418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712791" y="3399234"/>
            <a:ext cx="3830613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Model Monitoring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4712791" y="3591148"/>
            <a:ext cx="3830613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Track </a:t>
            </a:r>
            <a:pPr algn="l" indent="0" marL="0">
              <a:lnSpc>
                <a:spcPct val="118000"/>
              </a:lnSpc>
              <a:buNone/>
            </a:pPr>
            <a:r>
              <a:rPr lang="en-US" sz="7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prediction behaviour, response time, and data changes</a:t>
            </a:r>
            <a:pPr algn="l" indent="0" marL="0">
              <a:lnSpc>
                <a:spcPct val="118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to ensure reliable operation and future improvements.</a:t>
            </a:r>
            <a:endParaRPr lang="en-US" sz="700" dirty="0"/>
          </a:p>
        </p:txBody>
      </p:sp>
      <p:sp>
        <p:nvSpPr>
          <p:cNvPr id="25" name="Text 17"/>
          <p:cNvSpPr/>
          <p:nvPr/>
        </p:nvSpPr>
        <p:spPr>
          <a:xfrm>
            <a:off x="638547" y="4269804"/>
            <a:ext cx="8009334" cy="416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Key Improvement:</a:t>
            </a:r>
            <a:endParaRPr lang="en-US" sz="9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single platform combines </a:t>
            </a:r>
            <a:pPr algn="ctr" indent="0" marL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prediction, risk assessment, pattern discovery, anomaly detection, deployment, and monitoring.</a:t>
            </a:r>
            <a:endParaRPr lang="en-US" sz="900" dirty="0"/>
          </a:p>
        </p:txBody>
      </p:sp>
      <p:sp>
        <p:nvSpPr>
          <p:cNvPr id="26" name="Shape 18"/>
          <p:cNvSpPr/>
          <p:nvPr/>
        </p:nvSpPr>
        <p:spPr>
          <a:xfrm>
            <a:off x="496119" y="4188023"/>
            <a:ext cx="9525" cy="580504"/>
          </a:xfrm>
          <a:prstGeom prst="roundRect">
            <a:avLst>
              <a:gd name="adj" fmla="val 50000"/>
            </a:avLst>
          </a:prstGeom>
          <a:solidFill>
            <a:srgbClr val="43895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2026-08-11T00:01:34Z</dcterms:created>
  <dcterms:modified xsi:type="dcterms:W3CDTF">2026-08-11T00:01:34Z</dcterms:modified>
</cp:coreProperties>
</file>