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libri (MS) Bold" charset="1" panose="020F0702030404030204"/>
      <p:regular r:id="rId16"/>
    </p:embeddedFont>
    <p:embeddedFont>
      <p:font typeface="Calibri (MS)" charset="1" panose="020F0502020204030204"/>
      <p:regular r:id="rId17"/>
    </p:embeddedFont>
    <p:embeddedFont>
      <p:font typeface="Cambria Bold" charset="1" panose="02040803050406030204"/>
      <p:regular r:id="rId18"/>
    </p:embeddedFont>
    <p:embeddedFont>
      <p:font typeface="Arimo" charset="1" panose="020B06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jpeg" Type="http://schemas.openxmlformats.org/officeDocument/2006/relationships/image"/><Relationship Id="rId8" Target="../media/image7.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13" Target="../media/image19.png" Type="http://schemas.openxmlformats.org/officeDocument/2006/relationships/image"/><Relationship Id="rId14" Target="../media/image20.png" Type="http://schemas.openxmlformats.org/officeDocument/2006/relationships/image"/><Relationship Id="rId15" Target="../media/image21.svg" Type="http://schemas.openxmlformats.org/officeDocument/2006/relationships/image"/><Relationship Id="rId16" Target="../media/image22.png" Type="http://schemas.openxmlformats.org/officeDocument/2006/relationships/image"/><Relationship Id="rId17" Target="../media/image23.svg" Type="http://schemas.openxmlformats.org/officeDocument/2006/relationships/image"/><Relationship Id="rId18" Target="../media/image24.png" Type="http://schemas.openxmlformats.org/officeDocument/2006/relationships/image"/><Relationship Id="rId19" Target="../media/image25.png" Type="http://schemas.openxmlformats.org/officeDocument/2006/relationships/image"/><Relationship Id="rId2" Target="../media/image8.png" Type="http://schemas.openxmlformats.org/officeDocument/2006/relationships/image"/><Relationship Id="rId20" Target="../media/image26.png" Type="http://schemas.openxmlformats.org/officeDocument/2006/relationships/image"/><Relationship Id="rId21" Target="../media/image27.svg" Type="http://schemas.openxmlformats.org/officeDocument/2006/relationships/image"/><Relationship Id="rId22" Target="../media/image7.jpe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38.png" Type="http://schemas.openxmlformats.org/officeDocument/2006/relationships/image"/><Relationship Id="rId13" Target="../media/image39.svg" Type="http://schemas.openxmlformats.org/officeDocument/2006/relationships/image"/><Relationship Id="rId14" Target="../media/image40.svg" Type="http://schemas.openxmlformats.org/officeDocument/2006/relationships/image"/><Relationship Id="rId15" Target="../media/image41.svg" Type="http://schemas.openxmlformats.org/officeDocument/2006/relationships/image"/><Relationship Id="rId16" Target="../media/image42.svg" Type="http://schemas.openxmlformats.org/officeDocument/2006/relationships/image"/><Relationship Id="rId17" Target="../media/image7.jpeg" Type="http://schemas.openxmlformats.org/officeDocument/2006/relationships/image"/><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svg" Type="http://schemas.openxmlformats.org/officeDocument/2006/relationships/image"/><Relationship Id="rId11" Target="../media/image52.svg" Type="http://schemas.openxmlformats.org/officeDocument/2006/relationships/image"/><Relationship Id="rId12" Target="../media/image53.png" Type="http://schemas.openxmlformats.org/officeDocument/2006/relationships/image"/><Relationship Id="rId13" Target="../media/image54.svg" Type="http://schemas.openxmlformats.org/officeDocument/2006/relationships/image"/><Relationship Id="rId14" Target="../media/image55.svg" Type="http://schemas.openxmlformats.org/officeDocument/2006/relationships/image"/><Relationship Id="rId15" Target="../media/image56.svg" Type="http://schemas.openxmlformats.org/officeDocument/2006/relationships/image"/><Relationship Id="rId16" Target="../media/image57.png" Type="http://schemas.openxmlformats.org/officeDocument/2006/relationships/image"/><Relationship Id="rId17" Target="../media/image58.svg" Type="http://schemas.openxmlformats.org/officeDocument/2006/relationships/image"/><Relationship Id="rId18" Target="../media/image59.png" Type="http://schemas.openxmlformats.org/officeDocument/2006/relationships/image"/><Relationship Id="rId19" Target="../media/image60.svg" Type="http://schemas.openxmlformats.org/officeDocument/2006/relationships/image"/><Relationship Id="rId2" Target="../media/image43.png" Type="http://schemas.openxmlformats.org/officeDocument/2006/relationships/image"/><Relationship Id="rId20" Target="../media/image7.jpe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https://doi.org/10.1023/A:1010933404324" TargetMode="External" Type="http://schemas.openxmlformats.org/officeDocument/2006/relationships/hyperlink"/><Relationship Id="rId11" Target="https://doi.org/10.1186/s12911-019-1004-8" TargetMode="External" Type="http://schemas.openxmlformats.org/officeDocument/2006/relationships/hyperlink"/><Relationship Id="rId12" Target="https://doi.org/10.1038/s42256-019-0138-9" TargetMode="External" Type="http://schemas.openxmlformats.org/officeDocument/2006/relationships/hyperlink"/><Relationship Id="rId13" Target="https://doi.org/10.1038/s41746-020-0221-y" TargetMode="External" Type="http://schemas.openxmlformats.org/officeDocument/2006/relationships/hyperlink"/><Relationship Id="rId2" Target="../media/image61.png" Type="http://schemas.openxmlformats.org/officeDocument/2006/relationships/image"/><Relationship Id="rId3" Target="../media/image62.svg" Type="http://schemas.openxmlformats.org/officeDocument/2006/relationships/image"/><Relationship Id="rId4" Target="../media/image63.png" Type="http://schemas.openxmlformats.org/officeDocument/2006/relationships/image"/><Relationship Id="rId5" Target="../media/image64.svg" Type="http://schemas.openxmlformats.org/officeDocument/2006/relationships/image"/><Relationship Id="rId6" Target="../media/image7.jpeg" Type="http://schemas.openxmlformats.org/officeDocument/2006/relationships/image"/><Relationship Id="rId7" Target="https://doi.org/10.1613/jair.953" TargetMode="External" Type="http://schemas.openxmlformats.org/officeDocument/2006/relationships/hyperlink"/><Relationship Id="rId8" Target="https://doi.org/10.1186/1472-6947-11-51" TargetMode="External" Type="http://schemas.openxmlformats.org/officeDocument/2006/relationships/hyperlink"/><Relationship Id="rId9" Target="https://doi.org/10.1016/j.ipm.2009.03.002"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66.svg" Type="http://schemas.openxmlformats.org/officeDocument/2006/relationships/image"/><Relationship Id="rId4" Target="../media/image67.png" Type="http://schemas.openxmlformats.org/officeDocument/2006/relationships/image"/><Relationship Id="rId5" Target="../media/image68.svg" Type="http://schemas.openxmlformats.org/officeDocument/2006/relationships/image"/><Relationship Id="rId6" Target="../media/image69.png" Type="http://schemas.openxmlformats.org/officeDocument/2006/relationships/image"/><Relationship Id="rId7" Target="../media/image70.svg" Type="http://schemas.openxmlformats.org/officeDocument/2006/relationships/image"/><Relationship Id="rId8"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9.png" Type="http://schemas.openxmlformats.org/officeDocument/2006/relationships/image"/><Relationship Id="rId11" Target="../media/image80.svg" Type="http://schemas.openxmlformats.org/officeDocument/2006/relationships/image"/><Relationship Id="rId12" Target="../media/image81.png" Type="http://schemas.openxmlformats.org/officeDocument/2006/relationships/image"/><Relationship Id="rId13" Target="../media/image82.svg" Type="http://schemas.openxmlformats.org/officeDocument/2006/relationships/image"/><Relationship Id="rId14" Target="../media/image83.svg" Type="http://schemas.openxmlformats.org/officeDocument/2006/relationships/image"/><Relationship Id="rId15" Target="../media/image84.svg" Type="http://schemas.openxmlformats.org/officeDocument/2006/relationships/image"/><Relationship Id="rId16" Target="../media/image85.svg" Type="http://schemas.openxmlformats.org/officeDocument/2006/relationships/image"/><Relationship Id="rId17" Target="../media/image86.png" Type="http://schemas.openxmlformats.org/officeDocument/2006/relationships/image"/><Relationship Id="rId18" Target="../media/image87.svg" Type="http://schemas.openxmlformats.org/officeDocument/2006/relationships/image"/><Relationship Id="rId19" Target="../media/image88.svg" Type="http://schemas.openxmlformats.org/officeDocument/2006/relationships/image"/><Relationship Id="rId2" Target="../media/image71.png" Type="http://schemas.openxmlformats.org/officeDocument/2006/relationships/image"/><Relationship Id="rId20" Target="../media/image89.svg" Type="http://schemas.openxmlformats.org/officeDocument/2006/relationships/image"/><Relationship Id="rId21" Target="../media/image90.svg" Type="http://schemas.openxmlformats.org/officeDocument/2006/relationships/image"/><Relationship Id="rId22" Target="../media/image91.svg" Type="http://schemas.openxmlformats.org/officeDocument/2006/relationships/image"/><Relationship Id="rId23" Target="../media/image92.png" Type="http://schemas.openxmlformats.org/officeDocument/2006/relationships/image"/><Relationship Id="rId24" Target="../media/image93.svg" Type="http://schemas.openxmlformats.org/officeDocument/2006/relationships/image"/><Relationship Id="rId25" Target="../media/image7.jpeg" Type="http://schemas.openxmlformats.org/officeDocument/2006/relationships/image"/><Relationship Id="rId3" Target="../media/image72.svg" Type="http://schemas.openxmlformats.org/officeDocument/2006/relationships/image"/><Relationship Id="rId4" Target="../media/image73.png" Type="http://schemas.openxmlformats.org/officeDocument/2006/relationships/image"/><Relationship Id="rId5" Target="../media/image74.svg" Type="http://schemas.openxmlformats.org/officeDocument/2006/relationships/image"/><Relationship Id="rId6" Target="../media/image75.png" Type="http://schemas.openxmlformats.org/officeDocument/2006/relationships/image"/><Relationship Id="rId7" Target="../media/image76.svg" Type="http://schemas.openxmlformats.org/officeDocument/2006/relationships/image"/><Relationship Id="rId8" Target="../media/image77.png" Type="http://schemas.openxmlformats.org/officeDocument/2006/relationships/image"/><Relationship Id="rId9" Target="../media/image7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2.png" Type="http://schemas.openxmlformats.org/officeDocument/2006/relationships/image"/><Relationship Id="rId11" Target="../media/image103.png" Type="http://schemas.openxmlformats.org/officeDocument/2006/relationships/image"/><Relationship Id="rId12" Target="../media/image104.png" Type="http://schemas.openxmlformats.org/officeDocument/2006/relationships/image"/><Relationship Id="rId13" Target="../media/image105.svg" Type="http://schemas.openxmlformats.org/officeDocument/2006/relationships/image"/><Relationship Id="rId14" Target="../media/image106.png" Type="http://schemas.openxmlformats.org/officeDocument/2006/relationships/image"/><Relationship Id="rId15" Target="../media/image107.svg" Type="http://schemas.openxmlformats.org/officeDocument/2006/relationships/image"/><Relationship Id="rId16" Target="../media/image108.png" Type="http://schemas.openxmlformats.org/officeDocument/2006/relationships/image"/><Relationship Id="rId17" Target="../media/image109.svg" Type="http://schemas.openxmlformats.org/officeDocument/2006/relationships/image"/><Relationship Id="rId18" Target="../media/image7.jpeg" Type="http://schemas.openxmlformats.org/officeDocument/2006/relationships/image"/><Relationship Id="rId2" Target="../media/image94.png" Type="http://schemas.openxmlformats.org/officeDocument/2006/relationships/image"/><Relationship Id="rId3" Target="../media/image95.svg" Type="http://schemas.openxmlformats.org/officeDocument/2006/relationships/image"/><Relationship Id="rId4" Target="../media/image96.png" Type="http://schemas.openxmlformats.org/officeDocument/2006/relationships/image"/><Relationship Id="rId5" Target="../media/image97.svg" Type="http://schemas.openxmlformats.org/officeDocument/2006/relationships/image"/><Relationship Id="rId6" Target="../media/image98.svg" Type="http://schemas.openxmlformats.org/officeDocument/2006/relationships/image"/><Relationship Id="rId7" Target="../media/image99.svg" Type="http://schemas.openxmlformats.org/officeDocument/2006/relationships/image"/><Relationship Id="rId8" Target="../media/image100.png" Type="http://schemas.openxmlformats.org/officeDocument/2006/relationships/image"/><Relationship Id="rId9" Target="../media/image10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8.png" Type="http://schemas.openxmlformats.org/officeDocument/2006/relationships/image"/><Relationship Id="rId11" Target="../media/image119.png" Type="http://schemas.openxmlformats.org/officeDocument/2006/relationships/image"/><Relationship Id="rId12" Target="../media/image120.png" Type="http://schemas.openxmlformats.org/officeDocument/2006/relationships/image"/><Relationship Id="rId13" Target="../media/image121.png" Type="http://schemas.openxmlformats.org/officeDocument/2006/relationships/image"/><Relationship Id="rId14" Target="../media/image122.png" Type="http://schemas.openxmlformats.org/officeDocument/2006/relationships/image"/><Relationship Id="rId15" Target="../media/image123.png" Type="http://schemas.openxmlformats.org/officeDocument/2006/relationships/image"/><Relationship Id="rId16" Target="../media/image124.svg" Type="http://schemas.openxmlformats.org/officeDocument/2006/relationships/image"/><Relationship Id="rId17" Target="../media/image125.png" Type="http://schemas.openxmlformats.org/officeDocument/2006/relationships/image"/><Relationship Id="rId18" Target="../media/image126.svg" Type="http://schemas.openxmlformats.org/officeDocument/2006/relationships/image"/><Relationship Id="rId19" Target="../media/image127.png" Type="http://schemas.openxmlformats.org/officeDocument/2006/relationships/image"/><Relationship Id="rId2" Target="../media/image110.png" Type="http://schemas.openxmlformats.org/officeDocument/2006/relationships/image"/><Relationship Id="rId20" Target="../media/image128.svg" Type="http://schemas.openxmlformats.org/officeDocument/2006/relationships/image"/><Relationship Id="rId21" Target="../media/image129.png" Type="http://schemas.openxmlformats.org/officeDocument/2006/relationships/image"/><Relationship Id="rId22" Target="../media/image130.svg" Type="http://schemas.openxmlformats.org/officeDocument/2006/relationships/image"/><Relationship Id="rId23" Target="../media/image131.png" Type="http://schemas.openxmlformats.org/officeDocument/2006/relationships/image"/><Relationship Id="rId24" Target="../media/image132.svg" Type="http://schemas.openxmlformats.org/officeDocument/2006/relationships/image"/><Relationship Id="rId25" Target="../media/image133.png" Type="http://schemas.openxmlformats.org/officeDocument/2006/relationships/image"/><Relationship Id="rId26" Target="../media/image134.svg" Type="http://schemas.openxmlformats.org/officeDocument/2006/relationships/image"/><Relationship Id="rId27" Target="../media/image135.png" Type="http://schemas.openxmlformats.org/officeDocument/2006/relationships/image"/><Relationship Id="rId28" Target="../media/image136.svg" Type="http://schemas.openxmlformats.org/officeDocument/2006/relationships/image"/><Relationship Id="rId29" Target="../media/image137.png" Type="http://schemas.openxmlformats.org/officeDocument/2006/relationships/image"/><Relationship Id="rId3" Target="../media/image111.svg" Type="http://schemas.openxmlformats.org/officeDocument/2006/relationships/image"/><Relationship Id="rId30" Target="../media/image138.svg" Type="http://schemas.openxmlformats.org/officeDocument/2006/relationships/image"/><Relationship Id="rId31" Target="../media/image7.jpeg" Type="http://schemas.openxmlformats.org/officeDocument/2006/relationships/image"/><Relationship Id="rId4" Target="../media/image112.png" Type="http://schemas.openxmlformats.org/officeDocument/2006/relationships/image"/><Relationship Id="rId5" Target="../media/image113.svg" Type="http://schemas.openxmlformats.org/officeDocument/2006/relationships/image"/><Relationship Id="rId6" Target="../media/image114.svg" Type="http://schemas.openxmlformats.org/officeDocument/2006/relationships/image"/><Relationship Id="rId7" Target="../media/image115.png" Type="http://schemas.openxmlformats.org/officeDocument/2006/relationships/image"/><Relationship Id="rId8" Target="../media/image116.svg" Type="http://schemas.openxmlformats.org/officeDocument/2006/relationships/image"/><Relationship Id="rId9" Target="../media/image11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6.png" Type="http://schemas.openxmlformats.org/officeDocument/2006/relationships/image"/><Relationship Id="rId11" Target="../media/image7.jpeg" Type="http://schemas.openxmlformats.org/officeDocument/2006/relationships/image"/><Relationship Id="rId2" Target="../media/image139.png" Type="http://schemas.openxmlformats.org/officeDocument/2006/relationships/image"/><Relationship Id="rId3" Target="../media/image140.svg" Type="http://schemas.openxmlformats.org/officeDocument/2006/relationships/image"/><Relationship Id="rId4" Target="../media/image141.png" Type="http://schemas.openxmlformats.org/officeDocument/2006/relationships/image"/><Relationship Id="rId5" Target="../media/image142.svg" Type="http://schemas.openxmlformats.org/officeDocument/2006/relationships/image"/><Relationship Id="rId6" Target="../media/image143.png" Type="http://schemas.openxmlformats.org/officeDocument/2006/relationships/image"/><Relationship Id="rId7" Target="../media/image144.svg" Type="http://schemas.openxmlformats.org/officeDocument/2006/relationships/image"/><Relationship Id="rId8" Target="../media/image14.png" Type="http://schemas.openxmlformats.org/officeDocument/2006/relationships/image"/><Relationship Id="rId9" Target="../media/image14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2545"/>
        </a:solidFill>
      </p:bgPr>
    </p:bg>
    <p:spTree>
      <p:nvGrpSpPr>
        <p:cNvPr id="1" name=""/>
        <p:cNvGrpSpPr/>
        <p:nvPr/>
      </p:nvGrpSpPr>
      <p:grpSpPr>
        <a:xfrm>
          <a:off x="0" y="0"/>
          <a:ext cx="0" cy="0"/>
          <a:chOff x="0" y="0"/>
          <a:chExt cx="0" cy="0"/>
        </a:xfrm>
      </p:grpSpPr>
      <p:sp>
        <p:nvSpPr>
          <p:cNvPr name="Freeform 2" id="2"/>
          <p:cNvSpPr/>
          <p:nvPr/>
        </p:nvSpPr>
        <p:spPr>
          <a:xfrm flipH="false" flipV="false" rot="0">
            <a:off x="1029014" y="5966774"/>
            <a:ext cx="8641032" cy="2769994"/>
          </a:xfrm>
          <a:custGeom>
            <a:avLst/>
            <a:gdLst/>
            <a:ahLst/>
            <a:cxnLst/>
            <a:rect r="r" b="b" t="t" l="l"/>
            <a:pathLst>
              <a:path h="2769994" w="8641032">
                <a:moveTo>
                  <a:pt x="0" y="0"/>
                </a:moveTo>
                <a:lnTo>
                  <a:pt x="8641033" y="0"/>
                </a:lnTo>
                <a:lnTo>
                  <a:pt x="8641033" y="2769994"/>
                </a:lnTo>
                <a:lnTo>
                  <a:pt x="0" y="27699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727494" y="1714814"/>
            <a:ext cx="5897242" cy="5897242"/>
          </a:xfrm>
          <a:custGeom>
            <a:avLst/>
            <a:gdLst/>
            <a:ahLst/>
            <a:cxnLst/>
            <a:rect r="r" b="b" t="t" l="l"/>
            <a:pathLst>
              <a:path h="5897242" w="5897242">
                <a:moveTo>
                  <a:pt x="0" y="0"/>
                </a:moveTo>
                <a:lnTo>
                  <a:pt x="5897242" y="0"/>
                </a:lnTo>
                <a:lnTo>
                  <a:pt x="5897242" y="5897242"/>
                </a:lnTo>
                <a:lnTo>
                  <a:pt x="0" y="58972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3716000" y="3703320"/>
            <a:ext cx="1920240" cy="1920240"/>
            <a:chOff x="0" y="0"/>
            <a:chExt cx="2560320" cy="2560320"/>
          </a:xfrm>
        </p:grpSpPr>
        <p:sp>
          <p:nvSpPr>
            <p:cNvPr name="Freeform 5" id="5" descr="Heartbeat icon"/>
            <p:cNvSpPr/>
            <p:nvPr/>
          </p:nvSpPr>
          <p:spPr>
            <a:xfrm flipH="false" flipV="false" rot="0">
              <a:off x="0" y="0"/>
              <a:ext cx="2560320" cy="2560320"/>
            </a:xfrm>
            <a:custGeom>
              <a:avLst/>
              <a:gdLst/>
              <a:ahLst/>
              <a:cxnLst/>
              <a:rect r="r" b="b" t="t" l="l"/>
              <a:pathLst>
                <a:path h="2560320" w="2560320">
                  <a:moveTo>
                    <a:pt x="0" y="0"/>
                  </a:moveTo>
                  <a:lnTo>
                    <a:pt x="2560320" y="0"/>
                  </a:lnTo>
                  <a:lnTo>
                    <a:pt x="2560320" y="2560320"/>
                  </a:lnTo>
                  <a:lnTo>
                    <a:pt x="0" y="2560320"/>
                  </a:lnTo>
                  <a:lnTo>
                    <a:pt x="0" y="0"/>
                  </a:lnTo>
                  <a:close/>
                </a:path>
              </a:pathLst>
            </a:custGeom>
            <a:blipFill>
              <a:blip r:embed="rId6"/>
              <a:stretch>
                <a:fillRect l="0" t="0" r="0" b="0"/>
              </a:stretch>
            </a:blipFill>
          </p:spPr>
        </p:sp>
      </p:grpSp>
      <p:grpSp>
        <p:nvGrpSpPr>
          <p:cNvPr name="Group 6" id="6"/>
          <p:cNvGrpSpPr/>
          <p:nvPr/>
        </p:nvGrpSpPr>
        <p:grpSpPr>
          <a:xfrm rot="0">
            <a:off x="0" y="-542925"/>
            <a:ext cx="18983325" cy="10829925"/>
            <a:chOff x="0" y="0"/>
            <a:chExt cx="25311100" cy="14439900"/>
          </a:xfrm>
        </p:grpSpPr>
        <p:sp>
          <p:nvSpPr>
            <p:cNvPr name="Freeform 7" id="7"/>
            <p:cNvSpPr/>
            <p:nvPr/>
          </p:nvSpPr>
          <p:spPr>
            <a:xfrm flipH="false" flipV="false" rot="0">
              <a:off x="0" y="0"/>
              <a:ext cx="25311100" cy="14439900"/>
            </a:xfrm>
            <a:custGeom>
              <a:avLst/>
              <a:gdLst/>
              <a:ahLst/>
              <a:cxnLst/>
              <a:rect r="r" b="b" t="t" l="l"/>
              <a:pathLst>
                <a:path h="14439900" w="25311100">
                  <a:moveTo>
                    <a:pt x="0" y="0"/>
                  </a:moveTo>
                  <a:lnTo>
                    <a:pt x="25311100" y="0"/>
                  </a:lnTo>
                  <a:lnTo>
                    <a:pt x="25311100" y="14439900"/>
                  </a:lnTo>
                  <a:lnTo>
                    <a:pt x="0" y="14439900"/>
                  </a:lnTo>
                  <a:lnTo>
                    <a:pt x="0" y="0"/>
                  </a:lnTo>
                  <a:close/>
                </a:path>
              </a:pathLst>
            </a:custGeom>
            <a:blipFill>
              <a:blip r:embed="rId7"/>
              <a:stretch>
                <a:fillRect l="0" t="0" r="0" b="0"/>
              </a:stretch>
            </a:blipFill>
          </p:spPr>
        </p:sp>
      </p:grpSp>
      <p:grpSp>
        <p:nvGrpSpPr>
          <p:cNvPr name="Group 8" id="8"/>
          <p:cNvGrpSpPr/>
          <p:nvPr/>
        </p:nvGrpSpPr>
        <p:grpSpPr>
          <a:xfrm rot="0">
            <a:off x="15784954" y="200911"/>
            <a:ext cx="2179863" cy="828675"/>
            <a:chOff x="0" y="0"/>
            <a:chExt cx="2906484" cy="1104900"/>
          </a:xfrm>
        </p:grpSpPr>
        <p:sp>
          <p:nvSpPr>
            <p:cNvPr name="Freeform 9" id="9"/>
            <p:cNvSpPr/>
            <p:nvPr/>
          </p:nvSpPr>
          <p:spPr>
            <a:xfrm flipH="false" flipV="false" rot="0">
              <a:off x="0" y="0"/>
              <a:ext cx="2906522" cy="1104900"/>
            </a:xfrm>
            <a:custGeom>
              <a:avLst/>
              <a:gdLst/>
              <a:ahLst/>
              <a:cxnLst/>
              <a:rect r="r" b="b" t="t" l="l"/>
              <a:pathLst>
                <a:path h="1104900" w="2906522">
                  <a:moveTo>
                    <a:pt x="0" y="0"/>
                  </a:moveTo>
                  <a:lnTo>
                    <a:pt x="2906522" y="0"/>
                  </a:lnTo>
                  <a:lnTo>
                    <a:pt x="2906522" y="1104900"/>
                  </a:lnTo>
                  <a:lnTo>
                    <a:pt x="0" y="1104900"/>
                  </a:lnTo>
                  <a:lnTo>
                    <a:pt x="0" y="0"/>
                  </a:lnTo>
                  <a:close/>
                </a:path>
              </a:pathLst>
            </a:custGeom>
            <a:blipFill>
              <a:blip r:embed="rId8"/>
              <a:stretch>
                <a:fillRect l="-3558" t="-4895" r="1" b="-4300"/>
              </a:stretch>
            </a:blipFill>
          </p:spPr>
        </p:sp>
      </p:grpSp>
      <p:grpSp>
        <p:nvGrpSpPr>
          <p:cNvPr name="Group 10" id="10"/>
          <p:cNvGrpSpPr/>
          <p:nvPr/>
        </p:nvGrpSpPr>
        <p:grpSpPr>
          <a:xfrm rot="0">
            <a:off x="1029014" y="5966774"/>
            <a:ext cx="8640442" cy="2769994"/>
            <a:chOff x="0" y="0"/>
            <a:chExt cx="8640445" cy="2769997"/>
          </a:xfrm>
        </p:grpSpPr>
        <p:sp>
          <p:nvSpPr>
            <p:cNvPr name="Freeform 11" id="11"/>
            <p:cNvSpPr/>
            <p:nvPr/>
          </p:nvSpPr>
          <p:spPr>
            <a:xfrm flipH="false" flipV="false" rot="0">
              <a:off x="63500" y="63500"/>
              <a:ext cx="8513445" cy="585597"/>
            </a:xfrm>
            <a:custGeom>
              <a:avLst/>
              <a:gdLst/>
              <a:ahLst/>
              <a:cxnLst/>
              <a:rect r="r" b="b" t="t" l="l"/>
              <a:pathLst>
                <a:path h="585597" w="8513445">
                  <a:moveTo>
                    <a:pt x="0" y="585597"/>
                  </a:moveTo>
                  <a:lnTo>
                    <a:pt x="8513445" y="585597"/>
                  </a:lnTo>
                  <a:lnTo>
                    <a:pt x="8513445" y="0"/>
                  </a:lnTo>
                  <a:lnTo>
                    <a:pt x="0" y="0"/>
                  </a:lnTo>
                  <a:close/>
                </a:path>
              </a:pathLst>
            </a:custGeom>
            <a:solidFill>
              <a:srgbClr val="000000">
                <a:alpha val="0"/>
              </a:srgbClr>
            </a:solidFill>
          </p:spPr>
        </p:sp>
        <p:sp>
          <p:nvSpPr>
            <p:cNvPr name="Freeform 12" id="12"/>
            <p:cNvSpPr/>
            <p:nvPr/>
          </p:nvSpPr>
          <p:spPr>
            <a:xfrm flipH="false" flipV="false" rot="0">
              <a:off x="63500" y="749300"/>
              <a:ext cx="8513445" cy="585597"/>
            </a:xfrm>
            <a:custGeom>
              <a:avLst/>
              <a:gdLst/>
              <a:ahLst/>
              <a:cxnLst/>
              <a:rect r="r" b="b" t="t" l="l"/>
              <a:pathLst>
                <a:path h="585597" w="8513445">
                  <a:moveTo>
                    <a:pt x="0" y="585597"/>
                  </a:moveTo>
                  <a:lnTo>
                    <a:pt x="8513445" y="585597"/>
                  </a:lnTo>
                  <a:lnTo>
                    <a:pt x="8513445" y="0"/>
                  </a:lnTo>
                  <a:lnTo>
                    <a:pt x="0" y="0"/>
                  </a:lnTo>
                  <a:close/>
                </a:path>
              </a:pathLst>
            </a:custGeom>
            <a:solidFill>
              <a:srgbClr val="000000">
                <a:alpha val="0"/>
              </a:srgbClr>
            </a:solidFill>
          </p:spPr>
        </p:sp>
        <p:sp>
          <p:nvSpPr>
            <p:cNvPr name="Freeform 13" id="13"/>
            <p:cNvSpPr/>
            <p:nvPr/>
          </p:nvSpPr>
          <p:spPr>
            <a:xfrm flipH="false" flipV="false" rot="0">
              <a:off x="63500" y="1435100"/>
              <a:ext cx="8513445" cy="585597"/>
            </a:xfrm>
            <a:custGeom>
              <a:avLst/>
              <a:gdLst/>
              <a:ahLst/>
              <a:cxnLst/>
              <a:rect r="r" b="b" t="t" l="l"/>
              <a:pathLst>
                <a:path h="585597" w="8513445">
                  <a:moveTo>
                    <a:pt x="0" y="585597"/>
                  </a:moveTo>
                  <a:lnTo>
                    <a:pt x="8513445" y="585597"/>
                  </a:lnTo>
                  <a:lnTo>
                    <a:pt x="8513445" y="0"/>
                  </a:lnTo>
                  <a:lnTo>
                    <a:pt x="0" y="0"/>
                  </a:lnTo>
                  <a:close/>
                </a:path>
              </a:pathLst>
            </a:custGeom>
            <a:solidFill>
              <a:srgbClr val="000000">
                <a:alpha val="0"/>
              </a:srgbClr>
            </a:solidFill>
          </p:spPr>
        </p:sp>
        <p:sp>
          <p:nvSpPr>
            <p:cNvPr name="Freeform 14" id="14"/>
            <p:cNvSpPr/>
            <p:nvPr/>
          </p:nvSpPr>
          <p:spPr>
            <a:xfrm flipH="false" flipV="false" rot="0">
              <a:off x="63500" y="2120900"/>
              <a:ext cx="8513445" cy="585597"/>
            </a:xfrm>
            <a:custGeom>
              <a:avLst/>
              <a:gdLst/>
              <a:ahLst/>
              <a:cxnLst/>
              <a:rect r="r" b="b" t="t" l="l"/>
              <a:pathLst>
                <a:path h="585597" w="8513445">
                  <a:moveTo>
                    <a:pt x="0" y="585597"/>
                  </a:moveTo>
                  <a:lnTo>
                    <a:pt x="8513445" y="585597"/>
                  </a:lnTo>
                  <a:lnTo>
                    <a:pt x="8513445" y="0"/>
                  </a:lnTo>
                  <a:lnTo>
                    <a:pt x="0" y="0"/>
                  </a:lnTo>
                  <a:close/>
                </a:path>
              </a:pathLst>
            </a:custGeom>
            <a:solidFill>
              <a:srgbClr val="000000">
                <a:alpha val="0"/>
              </a:srgbClr>
            </a:solidFill>
          </p:spPr>
        </p:sp>
      </p:grpSp>
      <p:grpSp>
        <p:nvGrpSpPr>
          <p:cNvPr name="Group 15" id="15"/>
          <p:cNvGrpSpPr/>
          <p:nvPr/>
        </p:nvGrpSpPr>
        <p:grpSpPr>
          <a:xfrm rot="0">
            <a:off x="11727494" y="1714814"/>
            <a:ext cx="5897242" cy="5897242"/>
            <a:chOff x="0" y="0"/>
            <a:chExt cx="5897245" cy="5897245"/>
          </a:xfrm>
        </p:grpSpPr>
        <p:sp>
          <p:nvSpPr>
            <p:cNvPr name="Freeform 16" id="16"/>
            <p:cNvSpPr/>
            <p:nvPr/>
          </p:nvSpPr>
          <p:spPr>
            <a:xfrm flipH="false" flipV="false" rot="0">
              <a:off x="63500" y="63500"/>
              <a:ext cx="5770245" cy="5770245"/>
            </a:xfrm>
            <a:custGeom>
              <a:avLst/>
              <a:gdLst/>
              <a:ahLst/>
              <a:cxnLst/>
              <a:rect r="r" b="b" t="t" l="l"/>
              <a:pathLst>
                <a:path h="5770245" w="5770245">
                  <a:moveTo>
                    <a:pt x="0" y="5770245"/>
                  </a:moveTo>
                  <a:lnTo>
                    <a:pt x="5770245" y="5770245"/>
                  </a:lnTo>
                  <a:lnTo>
                    <a:pt x="5770245" y="0"/>
                  </a:lnTo>
                  <a:lnTo>
                    <a:pt x="0" y="0"/>
                  </a:lnTo>
                  <a:close/>
                </a:path>
              </a:pathLst>
            </a:custGeom>
            <a:solidFill>
              <a:srgbClr val="000000">
                <a:alpha val="0"/>
              </a:srgbClr>
            </a:solidFill>
          </p:spPr>
        </p:sp>
        <p:sp>
          <p:nvSpPr>
            <p:cNvPr name="Freeform 17" id="17"/>
            <p:cNvSpPr/>
            <p:nvPr/>
          </p:nvSpPr>
          <p:spPr>
            <a:xfrm flipH="false" flipV="false" rot="0">
              <a:off x="749300" y="749300"/>
              <a:ext cx="4398645" cy="4398645"/>
            </a:xfrm>
            <a:custGeom>
              <a:avLst/>
              <a:gdLst/>
              <a:ahLst/>
              <a:cxnLst/>
              <a:rect r="r" b="b" t="t" l="l"/>
              <a:pathLst>
                <a:path h="4398645" w="4398645">
                  <a:moveTo>
                    <a:pt x="0" y="4398645"/>
                  </a:moveTo>
                  <a:lnTo>
                    <a:pt x="4398645" y="4398645"/>
                  </a:lnTo>
                  <a:lnTo>
                    <a:pt x="4398645" y="0"/>
                  </a:lnTo>
                  <a:lnTo>
                    <a:pt x="0" y="0"/>
                  </a:lnTo>
                  <a:close/>
                </a:path>
              </a:pathLst>
            </a:custGeom>
            <a:solidFill>
              <a:srgbClr val="000000">
                <a:alpha val="0"/>
              </a:srgbClr>
            </a:solidFill>
          </p:spPr>
        </p:sp>
      </p:grpSp>
      <p:sp>
        <p:nvSpPr>
          <p:cNvPr name="TextBox 18" id="18"/>
          <p:cNvSpPr txBox="true"/>
          <p:nvPr/>
        </p:nvSpPr>
        <p:spPr>
          <a:xfrm rot="0">
            <a:off x="8053040" y="4898707"/>
            <a:ext cx="2181920" cy="4038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Calibri (MS) Bold"/>
                <a:ea typeface="Calibri (MS) Bold"/>
                <a:cs typeface="Calibri (MS) Bold"/>
                <a:sym typeface="Calibri (MS) Bold"/>
              </a:rPr>
              <a:t>Your paragraph text</a:t>
            </a:r>
          </a:p>
        </p:txBody>
      </p:sp>
      <p:grpSp>
        <p:nvGrpSpPr>
          <p:cNvPr name="Group 19" id="19"/>
          <p:cNvGrpSpPr/>
          <p:nvPr/>
        </p:nvGrpSpPr>
        <p:grpSpPr>
          <a:xfrm rot="0">
            <a:off x="1104900" y="1527810"/>
            <a:ext cx="2085023" cy="483870"/>
            <a:chOff x="0" y="0"/>
            <a:chExt cx="2780030" cy="645160"/>
          </a:xfrm>
        </p:grpSpPr>
        <p:sp>
          <p:nvSpPr>
            <p:cNvPr name="Freeform 20" id="20"/>
            <p:cNvSpPr/>
            <p:nvPr/>
          </p:nvSpPr>
          <p:spPr>
            <a:xfrm flipH="false" flipV="false" rot="0">
              <a:off x="50608" y="46977"/>
              <a:ext cx="2678730" cy="547491"/>
            </a:xfrm>
            <a:custGeom>
              <a:avLst/>
              <a:gdLst/>
              <a:ahLst/>
              <a:cxnLst/>
              <a:rect r="r" b="b" t="t" l="l"/>
              <a:pathLst>
                <a:path h="547491" w="2678730">
                  <a:moveTo>
                    <a:pt x="25592" y="93993"/>
                  </a:moveTo>
                  <a:cubicBezTo>
                    <a:pt x="893002" y="15253"/>
                    <a:pt x="1140652" y="12713"/>
                    <a:pt x="1380682" y="7633"/>
                  </a:cubicBezTo>
                  <a:cubicBezTo>
                    <a:pt x="1619442" y="3823"/>
                    <a:pt x="1873442" y="-5067"/>
                    <a:pt x="2095692" y="3823"/>
                  </a:cubicBezTo>
                  <a:cubicBezTo>
                    <a:pt x="2290002" y="11443"/>
                    <a:pt x="2570672" y="21603"/>
                    <a:pt x="2640522" y="48273"/>
                  </a:cubicBezTo>
                  <a:cubicBezTo>
                    <a:pt x="2660842" y="54623"/>
                    <a:pt x="2668462" y="62243"/>
                    <a:pt x="2673542" y="71133"/>
                  </a:cubicBezTo>
                  <a:cubicBezTo>
                    <a:pt x="2678622" y="78753"/>
                    <a:pt x="2679892" y="85103"/>
                    <a:pt x="2676082" y="95263"/>
                  </a:cubicBezTo>
                  <a:cubicBezTo>
                    <a:pt x="2668462" y="116853"/>
                    <a:pt x="2625282" y="157493"/>
                    <a:pt x="2587182" y="186703"/>
                  </a:cubicBezTo>
                  <a:cubicBezTo>
                    <a:pt x="2537652" y="223533"/>
                    <a:pt x="2471612" y="256553"/>
                    <a:pt x="2397952" y="289573"/>
                  </a:cubicBezTo>
                  <a:cubicBezTo>
                    <a:pt x="2302702" y="332753"/>
                    <a:pt x="2184592" y="381013"/>
                    <a:pt x="2056322" y="415303"/>
                  </a:cubicBezTo>
                  <a:cubicBezTo>
                    <a:pt x="1902652" y="455943"/>
                    <a:pt x="1651192" y="490233"/>
                    <a:pt x="1534352" y="504203"/>
                  </a:cubicBezTo>
                  <a:cubicBezTo>
                    <a:pt x="1474662" y="511823"/>
                    <a:pt x="1449262" y="513093"/>
                    <a:pt x="1399732" y="515633"/>
                  </a:cubicBezTo>
                  <a:cubicBezTo>
                    <a:pt x="1338772" y="519443"/>
                    <a:pt x="1233362" y="538493"/>
                    <a:pt x="1193992" y="521983"/>
                  </a:cubicBezTo>
                  <a:cubicBezTo>
                    <a:pt x="1172402" y="513093"/>
                    <a:pt x="1153352" y="492773"/>
                    <a:pt x="1153352" y="481343"/>
                  </a:cubicBezTo>
                  <a:cubicBezTo>
                    <a:pt x="1153352" y="473723"/>
                    <a:pt x="1162242" y="464833"/>
                    <a:pt x="1172402" y="459753"/>
                  </a:cubicBezTo>
                  <a:cubicBezTo>
                    <a:pt x="1186372" y="452133"/>
                    <a:pt x="1200342" y="455943"/>
                    <a:pt x="1234632" y="453403"/>
                  </a:cubicBezTo>
                  <a:cubicBezTo>
                    <a:pt x="1388302" y="445783"/>
                    <a:pt x="2424622" y="383553"/>
                    <a:pt x="2516062" y="449593"/>
                  </a:cubicBezTo>
                  <a:cubicBezTo>
                    <a:pt x="2533842" y="462293"/>
                    <a:pt x="2522412" y="483883"/>
                    <a:pt x="2530032" y="496583"/>
                  </a:cubicBezTo>
                  <a:cubicBezTo>
                    <a:pt x="2537652" y="506743"/>
                    <a:pt x="2555432" y="510553"/>
                    <a:pt x="2555432" y="518173"/>
                  </a:cubicBezTo>
                  <a:cubicBezTo>
                    <a:pt x="2556702" y="527063"/>
                    <a:pt x="2530032" y="546113"/>
                    <a:pt x="2530032" y="547383"/>
                  </a:cubicBezTo>
                  <a:cubicBezTo>
                    <a:pt x="2531302" y="548653"/>
                    <a:pt x="2552892" y="534683"/>
                    <a:pt x="2552892" y="534683"/>
                  </a:cubicBezTo>
                  <a:cubicBezTo>
                    <a:pt x="2552892" y="533413"/>
                    <a:pt x="2532572" y="548653"/>
                    <a:pt x="2524952" y="546113"/>
                  </a:cubicBezTo>
                  <a:cubicBezTo>
                    <a:pt x="2516062" y="544843"/>
                    <a:pt x="2504632" y="530873"/>
                    <a:pt x="2504632" y="521983"/>
                  </a:cubicBezTo>
                  <a:cubicBezTo>
                    <a:pt x="2505902" y="513093"/>
                    <a:pt x="2522412" y="496583"/>
                    <a:pt x="2531302" y="496583"/>
                  </a:cubicBezTo>
                  <a:cubicBezTo>
                    <a:pt x="2538922" y="495313"/>
                    <a:pt x="2552892" y="508013"/>
                    <a:pt x="2555432" y="515633"/>
                  </a:cubicBezTo>
                  <a:cubicBezTo>
                    <a:pt x="2557972" y="521983"/>
                    <a:pt x="2554162" y="533413"/>
                    <a:pt x="2549082" y="538493"/>
                  </a:cubicBezTo>
                  <a:cubicBezTo>
                    <a:pt x="2544002" y="543573"/>
                    <a:pt x="2526222" y="547383"/>
                    <a:pt x="2519872" y="544843"/>
                  </a:cubicBezTo>
                  <a:cubicBezTo>
                    <a:pt x="2512252" y="542303"/>
                    <a:pt x="2504632" y="532143"/>
                    <a:pt x="2505902" y="524523"/>
                  </a:cubicBezTo>
                  <a:cubicBezTo>
                    <a:pt x="2505902" y="516903"/>
                    <a:pt x="2522412" y="497853"/>
                    <a:pt x="2530032" y="496583"/>
                  </a:cubicBezTo>
                  <a:cubicBezTo>
                    <a:pt x="2536382" y="495313"/>
                    <a:pt x="2544002" y="497853"/>
                    <a:pt x="2547812" y="502933"/>
                  </a:cubicBezTo>
                  <a:cubicBezTo>
                    <a:pt x="2552892" y="508013"/>
                    <a:pt x="2556702" y="523253"/>
                    <a:pt x="2554162" y="530873"/>
                  </a:cubicBezTo>
                  <a:cubicBezTo>
                    <a:pt x="2551622" y="538493"/>
                    <a:pt x="2537652" y="548653"/>
                    <a:pt x="2530032" y="547383"/>
                  </a:cubicBezTo>
                  <a:cubicBezTo>
                    <a:pt x="2522412" y="544843"/>
                    <a:pt x="2531302" y="513093"/>
                    <a:pt x="2512252" y="499123"/>
                  </a:cubicBezTo>
                  <a:cubicBezTo>
                    <a:pt x="2413192" y="433083"/>
                    <a:pt x="1277812" y="532143"/>
                    <a:pt x="1178752" y="509283"/>
                  </a:cubicBezTo>
                  <a:cubicBezTo>
                    <a:pt x="1166052" y="506743"/>
                    <a:pt x="1162242" y="505473"/>
                    <a:pt x="1158432" y="499123"/>
                  </a:cubicBezTo>
                  <a:cubicBezTo>
                    <a:pt x="1154622" y="494043"/>
                    <a:pt x="1152082" y="482613"/>
                    <a:pt x="1154622" y="476263"/>
                  </a:cubicBezTo>
                  <a:cubicBezTo>
                    <a:pt x="1158432" y="468643"/>
                    <a:pt x="1171132" y="459753"/>
                    <a:pt x="1178752" y="458483"/>
                  </a:cubicBezTo>
                  <a:cubicBezTo>
                    <a:pt x="1185102" y="458483"/>
                    <a:pt x="1187642" y="469913"/>
                    <a:pt x="1199072" y="473723"/>
                  </a:cubicBezTo>
                  <a:cubicBezTo>
                    <a:pt x="1242252" y="485153"/>
                    <a:pt x="1404812" y="468643"/>
                    <a:pt x="1526732" y="454673"/>
                  </a:cubicBezTo>
                  <a:cubicBezTo>
                    <a:pt x="1679132" y="436893"/>
                    <a:pt x="1888682" y="406413"/>
                    <a:pt x="2041082" y="367043"/>
                  </a:cubicBezTo>
                  <a:cubicBezTo>
                    <a:pt x="2165542" y="334023"/>
                    <a:pt x="2282382" y="285763"/>
                    <a:pt x="2375092" y="245123"/>
                  </a:cubicBezTo>
                  <a:cubicBezTo>
                    <a:pt x="2443672" y="213373"/>
                    <a:pt x="2500822" y="184163"/>
                    <a:pt x="2551622" y="149873"/>
                  </a:cubicBezTo>
                  <a:cubicBezTo>
                    <a:pt x="2593532" y="121933"/>
                    <a:pt x="2639252" y="58433"/>
                    <a:pt x="2659572" y="60973"/>
                  </a:cubicBezTo>
                  <a:cubicBezTo>
                    <a:pt x="2669732" y="62243"/>
                    <a:pt x="2679892" y="81293"/>
                    <a:pt x="2678622" y="88913"/>
                  </a:cubicBezTo>
                  <a:cubicBezTo>
                    <a:pt x="2677352" y="97803"/>
                    <a:pt x="2660842" y="110503"/>
                    <a:pt x="2651952" y="110503"/>
                  </a:cubicBezTo>
                  <a:cubicBezTo>
                    <a:pt x="2645602" y="111773"/>
                    <a:pt x="2645602" y="100343"/>
                    <a:pt x="2632902" y="95263"/>
                  </a:cubicBezTo>
                  <a:cubicBezTo>
                    <a:pt x="2575752" y="73673"/>
                    <a:pt x="2306512" y="60973"/>
                    <a:pt x="2095692" y="54623"/>
                  </a:cubicBezTo>
                  <a:cubicBezTo>
                    <a:pt x="1795972" y="44463"/>
                    <a:pt x="1266382" y="58433"/>
                    <a:pt x="1006032" y="66053"/>
                  </a:cubicBezTo>
                  <a:cubicBezTo>
                    <a:pt x="859982" y="69863"/>
                    <a:pt x="792672" y="71133"/>
                    <a:pt x="666942" y="81293"/>
                  </a:cubicBezTo>
                  <a:cubicBezTo>
                    <a:pt x="505652" y="93993"/>
                    <a:pt x="226252" y="139713"/>
                    <a:pt x="115762" y="144793"/>
                  </a:cubicBezTo>
                  <a:cubicBezTo>
                    <a:pt x="68772" y="146063"/>
                    <a:pt x="30672" y="152413"/>
                    <a:pt x="14162" y="142253"/>
                  </a:cubicBezTo>
                  <a:cubicBezTo>
                    <a:pt x="4002" y="135903"/>
                    <a:pt x="-1078" y="124473"/>
                    <a:pt x="192" y="115583"/>
                  </a:cubicBezTo>
                  <a:cubicBezTo>
                    <a:pt x="1462" y="107963"/>
                    <a:pt x="25592" y="93993"/>
                    <a:pt x="25592" y="93993"/>
                  </a:cubicBezTo>
                </a:path>
              </a:pathLst>
            </a:custGeom>
            <a:solidFill>
              <a:srgbClr val="0571D3"/>
            </a:solidFill>
            <a:ln cap="sq">
              <a:noFill/>
              <a:prstDash val="solid"/>
              <a:miter/>
            </a:ln>
          </p:spPr>
        </p:sp>
      </p:grpSp>
      <p:grpSp>
        <p:nvGrpSpPr>
          <p:cNvPr name="Group 21" id="21"/>
          <p:cNvGrpSpPr/>
          <p:nvPr/>
        </p:nvGrpSpPr>
        <p:grpSpPr>
          <a:xfrm rot="0">
            <a:off x="470535" y="989648"/>
            <a:ext cx="6484620" cy="1367790"/>
            <a:chOff x="0" y="0"/>
            <a:chExt cx="8646160" cy="1823720"/>
          </a:xfrm>
        </p:grpSpPr>
        <p:sp>
          <p:nvSpPr>
            <p:cNvPr name="Freeform 22" id="22"/>
            <p:cNvSpPr/>
            <p:nvPr/>
          </p:nvSpPr>
          <p:spPr>
            <a:xfrm flipH="false" flipV="false" rot="0">
              <a:off x="49030" y="49084"/>
              <a:ext cx="8545556" cy="1727472"/>
            </a:xfrm>
            <a:custGeom>
              <a:avLst/>
              <a:gdLst/>
              <a:ahLst/>
              <a:cxnLst/>
              <a:rect r="r" b="b" t="t" l="l"/>
              <a:pathLst>
                <a:path h="1727472" w="8545556">
                  <a:moveTo>
                    <a:pt x="3490460" y="829756"/>
                  </a:moveTo>
                  <a:cubicBezTo>
                    <a:pt x="4549640" y="866586"/>
                    <a:pt x="6300970" y="771336"/>
                    <a:pt x="6468610" y="831026"/>
                  </a:cubicBezTo>
                  <a:cubicBezTo>
                    <a:pt x="6490200" y="839916"/>
                    <a:pt x="6497820" y="848806"/>
                    <a:pt x="6500360" y="858966"/>
                  </a:cubicBezTo>
                  <a:cubicBezTo>
                    <a:pt x="6502900" y="869126"/>
                    <a:pt x="6499090" y="883096"/>
                    <a:pt x="6488930" y="890716"/>
                  </a:cubicBezTo>
                  <a:cubicBezTo>
                    <a:pt x="6466070" y="908496"/>
                    <a:pt x="6405110" y="908496"/>
                    <a:pt x="6331450" y="912306"/>
                  </a:cubicBezTo>
                  <a:cubicBezTo>
                    <a:pt x="6162540" y="923736"/>
                    <a:pt x="5827260" y="921196"/>
                    <a:pt x="5493250" y="907226"/>
                  </a:cubicBezTo>
                  <a:cubicBezTo>
                    <a:pt x="5000490" y="886906"/>
                    <a:pt x="4221980" y="815786"/>
                    <a:pt x="3658100" y="764986"/>
                  </a:cubicBezTo>
                  <a:cubicBezTo>
                    <a:pt x="3174230" y="720536"/>
                    <a:pt x="2811010" y="671006"/>
                    <a:pt x="2313170" y="626556"/>
                  </a:cubicBezTo>
                  <a:cubicBezTo>
                    <a:pt x="1693410" y="571946"/>
                    <a:pt x="509770" y="503366"/>
                    <a:pt x="221480" y="470346"/>
                  </a:cubicBezTo>
                  <a:cubicBezTo>
                    <a:pt x="146550" y="462726"/>
                    <a:pt x="119880" y="461456"/>
                    <a:pt x="79240" y="448756"/>
                  </a:cubicBezTo>
                  <a:cubicBezTo>
                    <a:pt x="48760" y="439866"/>
                    <a:pt x="9390" y="428436"/>
                    <a:pt x="1770" y="413196"/>
                  </a:cubicBezTo>
                  <a:cubicBezTo>
                    <a:pt x="-2040" y="403036"/>
                    <a:pt x="3040" y="386526"/>
                    <a:pt x="10660" y="380176"/>
                  </a:cubicBezTo>
                  <a:cubicBezTo>
                    <a:pt x="20820" y="372556"/>
                    <a:pt x="34790" y="377636"/>
                    <a:pt x="65270" y="380176"/>
                  </a:cubicBezTo>
                  <a:cubicBezTo>
                    <a:pt x="237990" y="397956"/>
                    <a:pt x="1186680" y="613856"/>
                    <a:pt x="1760720" y="721806"/>
                  </a:cubicBezTo>
                  <a:cubicBezTo>
                    <a:pt x="2352540" y="832296"/>
                    <a:pt x="3127240" y="964376"/>
                    <a:pt x="3565390" y="1032956"/>
                  </a:cubicBezTo>
                  <a:cubicBezTo>
                    <a:pt x="3813040" y="1072326"/>
                    <a:pt x="4073390" y="1082486"/>
                    <a:pt x="4150860" y="1115506"/>
                  </a:cubicBezTo>
                  <a:cubicBezTo>
                    <a:pt x="4173720" y="1124396"/>
                    <a:pt x="4185150" y="1133286"/>
                    <a:pt x="4190230" y="1144716"/>
                  </a:cubicBezTo>
                  <a:cubicBezTo>
                    <a:pt x="4192770" y="1154876"/>
                    <a:pt x="4191500" y="1167576"/>
                    <a:pt x="4181340" y="1177736"/>
                  </a:cubicBezTo>
                  <a:cubicBezTo>
                    <a:pt x="4159750" y="1201866"/>
                    <a:pt x="4067040" y="1220916"/>
                    <a:pt x="3995920" y="1236156"/>
                  </a:cubicBezTo>
                  <a:cubicBezTo>
                    <a:pt x="3901940" y="1256476"/>
                    <a:pt x="3807960" y="1264096"/>
                    <a:pt x="3665720" y="1276796"/>
                  </a:cubicBezTo>
                  <a:cubicBezTo>
                    <a:pt x="3407910" y="1298386"/>
                    <a:pt x="2654800" y="1368236"/>
                    <a:pt x="2567170" y="1327596"/>
                  </a:cubicBezTo>
                  <a:cubicBezTo>
                    <a:pt x="2551930" y="1319976"/>
                    <a:pt x="2546850" y="1308546"/>
                    <a:pt x="2548120" y="1299656"/>
                  </a:cubicBezTo>
                  <a:cubicBezTo>
                    <a:pt x="2548120" y="1292036"/>
                    <a:pt x="2555740" y="1283146"/>
                    <a:pt x="2572250" y="1276796"/>
                  </a:cubicBezTo>
                  <a:cubicBezTo>
                    <a:pt x="2678930" y="1238696"/>
                    <a:pt x="3519670" y="1351726"/>
                    <a:pt x="3924800" y="1374586"/>
                  </a:cubicBezTo>
                  <a:cubicBezTo>
                    <a:pt x="4255000" y="1393636"/>
                    <a:pt x="4732520" y="1444436"/>
                    <a:pt x="4826500" y="1412686"/>
                  </a:cubicBezTo>
                  <a:cubicBezTo>
                    <a:pt x="4846820" y="1405066"/>
                    <a:pt x="4848090" y="1384746"/>
                    <a:pt x="4858250" y="1384746"/>
                  </a:cubicBezTo>
                  <a:cubicBezTo>
                    <a:pt x="4867140" y="1384746"/>
                    <a:pt x="4882380" y="1399986"/>
                    <a:pt x="4882380" y="1407606"/>
                  </a:cubicBezTo>
                  <a:cubicBezTo>
                    <a:pt x="4883650" y="1416496"/>
                    <a:pt x="4870950" y="1434276"/>
                    <a:pt x="4856980" y="1435546"/>
                  </a:cubicBezTo>
                  <a:cubicBezTo>
                    <a:pt x="4823960" y="1439356"/>
                    <a:pt x="4756650" y="1365696"/>
                    <a:pt x="4674100" y="1318706"/>
                  </a:cubicBezTo>
                  <a:cubicBezTo>
                    <a:pt x="4509000" y="1224726"/>
                    <a:pt x="4178800" y="1059626"/>
                    <a:pt x="3923530" y="937706"/>
                  </a:cubicBezTo>
                  <a:cubicBezTo>
                    <a:pt x="3663180" y="814516"/>
                    <a:pt x="3379970" y="684976"/>
                    <a:pt x="3128510" y="583376"/>
                  </a:cubicBezTo>
                  <a:cubicBezTo>
                    <a:pt x="2907530" y="494476"/>
                    <a:pt x="2706870" y="427166"/>
                    <a:pt x="2496050" y="356046"/>
                  </a:cubicBezTo>
                  <a:cubicBezTo>
                    <a:pt x="2287770" y="286196"/>
                    <a:pt x="1918200" y="211266"/>
                    <a:pt x="1868670" y="160466"/>
                  </a:cubicBezTo>
                  <a:cubicBezTo>
                    <a:pt x="1857240" y="149036"/>
                    <a:pt x="1855970" y="136336"/>
                    <a:pt x="1858510" y="128716"/>
                  </a:cubicBezTo>
                  <a:cubicBezTo>
                    <a:pt x="1862320" y="121096"/>
                    <a:pt x="1868670" y="117286"/>
                    <a:pt x="1883910" y="114746"/>
                  </a:cubicBezTo>
                  <a:cubicBezTo>
                    <a:pt x="1994400" y="93156"/>
                    <a:pt x="3146290" y="278576"/>
                    <a:pt x="3315200" y="325566"/>
                  </a:cubicBezTo>
                  <a:cubicBezTo>
                    <a:pt x="3353300" y="335726"/>
                    <a:pt x="3372350" y="342076"/>
                    <a:pt x="3382510" y="353506"/>
                  </a:cubicBezTo>
                  <a:cubicBezTo>
                    <a:pt x="3388860" y="359856"/>
                    <a:pt x="3390130" y="370016"/>
                    <a:pt x="3388860" y="376366"/>
                  </a:cubicBezTo>
                  <a:cubicBezTo>
                    <a:pt x="3386320" y="383986"/>
                    <a:pt x="3381240" y="389066"/>
                    <a:pt x="3367270" y="395416"/>
                  </a:cubicBezTo>
                  <a:cubicBezTo>
                    <a:pt x="3305040" y="424626"/>
                    <a:pt x="2965950" y="447486"/>
                    <a:pt x="2777990" y="467806"/>
                  </a:cubicBezTo>
                  <a:cubicBezTo>
                    <a:pt x="2606540" y="484316"/>
                    <a:pt x="2394450" y="489396"/>
                    <a:pt x="2285230" y="508446"/>
                  </a:cubicBezTo>
                  <a:cubicBezTo>
                    <a:pt x="2229350" y="518606"/>
                    <a:pt x="2196330" y="526226"/>
                    <a:pt x="2160770" y="541466"/>
                  </a:cubicBezTo>
                  <a:cubicBezTo>
                    <a:pt x="2130290" y="555436"/>
                    <a:pt x="2102350" y="590996"/>
                    <a:pt x="2083300" y="593536"/>
                  </a:cubicBezTo>
                  <a:cubicBezTo>
                    <a:pt x="2073140" y="594806"/>
                    <a:pt x="2065520" y="592266"/>
                    <a:pt x="2060440" y="588456"/>
                  </a:cubicBezTo>
                  <a:cubicBezTo>
                    <a:pt x="2055360" y="583376"/>
                    <a:pt x="2051550" y="573216"/>
                    <a:pt x="2051550" y="565596"/>
                  </a:cubicBezTo>
                  <a:cubicBezTo>
                    <a:pt x="2052820" y="559246"/>
                    <a:pt x="2056630" y="547816"/>
                    <a:pt x="2065520" y="546546"/>
                  </a:cubicBezTo>
                  <a:cubicBezTo>
                    <a:pt x="2093460" y="541466"/>
                    <a:pt x="2206490" y="650686"/>
                    <a:pt x="2287770" y="701486"/>
                  </a:cubicBezTo>
                  <a:cubicBezTo>
                    <a:pt x="2381750" y="761176"/>
                    <a:pt x="2479540" y="817056"/>
                    <a:pt x="2598920" y="880556"/>
                  </a:cubicBezTo>
                  <a:cubicBezTo>
                    <a:pt x="2751320" y="961836"/>
                    <a:pt x="3081520" y="1096456"/>
                    <a:pt x="3129780" y="1143446"/>
                  </a:cubicBezTo>
                  <a:cubicBezTo>
                    <a:pt x="3141210" y="1153606"/>
                    <a:pt x="3145020" y="1161226"/>
                    <a:pt x="3143750" y="1168846"/>
                  </a:cubicBezTo>
                  <a:cubicBezTo>
                    <a:pt x="3142480" y="1176466"/>
                    <a:pt x="3133590" y="1186626"/>
                    <a:pt x="3119620" y="1191706"/>
                  </a:cubicBezTo>
                  <a:cubicBezTo>
                    <a:pt x="3067550" y="1205676"/>
                    <a:pt x="2897370" y="1148526"/>
                    <a:pt x="2722110" y="1107886"/>
                  </a:cubicBezTo>
                  <a:cubicBezTo>
                    <a:pt x="2370320" y="1026606"/>
                    <a:pt x="1549900" y="801816"/>
                    <a:pt x="1146040" y="711646"/>
                  </a:cubicBezTo>
                  <a:cubicBezTo>
                    <a:pt x="897120" y="655766"/>
                    <a:pt x="640580" y="630366"/>
                    <a:pt x="538980" y="593536"/>
                  </a:cubicBezTo>
                  <a:cubicBezTo>
                    <a:pt x="503420" y="580836"/>
                    <a:pt x="479290" y="570676"/>
                    <a:pt x="470400" y="556706"/>
                  </a:cubicBezTo>
                  <a:cubicBezTo>
                    <a:pt x="465320" y="547816"/>
                    <a:pt x="465320" y="533846"/>
                    <a:pt x="469130" y="527496"/>
                  </a:cubicBezTo>
                  <a:cubicBezTo>
                    <a:pt x="471670" y="521146"/>
                    <a:pt x="476750" y="518606"/>
                    <a:pt x="489450" y="514796"/>
                  </a:cubicBezTo>
                  <a:cubicBezTo>
                    <a:pt x="533900" y="503366"/>
                    <a:pt x="707890" y="519876"/>
                    <a:pt x="841240" y="530036"/>
                  </a:cubicBezTo>
                  <a:cubicBezTo>
                    <a:pt x="1016500" y="544006"/>
                    <a:pt x="1227320" y="578296"/>
                    <a:pt x="1453380" y="599886"/>
                  </a:cubicBezTo>
                  <a:cubicBezTo>
                    <a:pt x="1731510" y="627826"/>
                    <a:pt x="2308090" y="630366"/>
                    <a:pt x="2381750" y="677356"/>
                  </a:cubicBezTo>
                  <a:cubicBezTo>
                    <a:pt x="2396990" y="686246"/>
                    <a:pt x="2400800" y="698946"/>
                    <a:pt x="2399530" y="706566"/>
                  </a:cubicBezTo>
                  <a:cubicBezTo>
                    <a:pt x="2396990" y="715456"/>
                    <a:pt x="2388100" y="723076"/>
                    <a:pt x="2371590" y="726886"/>
                  </a:cubicBezTo>
                  <a:cubicBezTo>
                    <a:pt x="2320790" y="738316"/>
                    <a:pt x="2112510" y="673546"/>
                    <a:pt x="2008370" y="657036"/>
                  </a:cubicBezTo>
                  <a:cubicBezTo>
                    <a:pt x="1930900" y="645606"/>
                    <a:pt x="1829300" y="654496"/>
                    <a:pt x="1803900" y="635446"/>
                  </a:cubicBezTo>
                  <a:cubicBezTo>
                    <a:pt x="1795010" y="627826"/>
                    <a:pt x="1791200" y="616396"/>
                    <a:pt x="1793740" y="608776"/>
                  </a:cubicBezTo>
                  <a:cubicBezTo>
                    <a:pt x="1796280" y="599886"/>
                    <a:pt x="1803900" y="590996"/>
                    <a:pt x="1820410" y="588456"/>
                  </a:cubicBezTo>
                  <a:cubicBezTo>
                    <a:pt x="1902960" y="578296"/>
                    <a:pt x="2323330" y="798006"/>
                    <a:pt x="2610350" y="905956"/>
                  </a:cubicBezTo>
                  <a:cubicBezTo>
                    <a:pt x="2946900" y="1034226"/>
                    <a:pt x="3546340" y="1213296"/>
                    <a:pt x="3716520" y="1300926"/>
                  </a:cubicBezTo>
                  <a:cubicBezTo>
                    <a:pt x="3772400" y="1328866"/>
                    <a:pt x="3806690" y="1352996"/>
                    <a:pt x="3820660" y="1373316"/>
                  </a:cubicBezTo>
                  <a:cubicBezTo>
                    <a:pt x="3827010" y="1380936"/>
                    <a:pt x="3828280" y="1388556"/>
                    <a:pt x="3827010" y="1394906"/>
                  </a:cubicBezTo>
                  <a:cubicBezTo>
                    <a:pt x="3824470" y="1402526"/>
                    <a:pt x="3820660" y="1410146"/>
                    <a:pt x="3805420" y="1415226"/>
                  </a:cubicBezTo>
                  <a:cubicBezTo>
                    <a:pt x="3677150" y="1452056"/>
                    <a:pt x="1994400" y="1098996"/>
                    <a:pt x="1671820" y="1035496"/>
                  </a:cubicBezTo>
                  <a:cubicBezTo>
                    <a:pt x="1577840" y="1016446"/>
                    <a:pt x="1521960" y="1013906"/>
                    <a:pt x="1488940" y="996126"/>
                  </a:cubicBezTo>
                  <a:cubicBezTo>
                    <a:pt x="1473700" y="987236"/>
                    <a:pt x="1464810" y="977076"/>
                    <a:pt x="1462270" y="966916"/>
                  </a:cubicBezTo>
                  <a:cubicBezTo>
                    <a:pt x="1459730" y="958026"/>
                    <a:pt x="1458460" y="945326"/>
                    <a:pt x="1468620" y="938976"/>
                  </a:cubicBezTo>
                  <a:cubicBezTo>
                    <a:pt x="1509260" y="907226"/>
                    <a:pt x="1833110" y="958026"/>
                    <a:pt x="2022340" y="977076"/>
                  </a:cubicBezTo>
                  <a:cubicBezTo>
                    <a:pt x="2221730" y="997396"/>
                    <a:pt x="2422390" y="1034226"/>
                    <a:pt x="2637020" y="1059626"/>
                  </a:cubicBezTo>
                  <a:cubicBezTo>
                    <a:pt x="2870700" y="1088836"/>
                    <a:pt x="3299960" y="1101536"/>
                    <a:pt x="3372350" y="1138366"/>
                  </a:cubicBezTo>
                  <a:cubicBezTo>
                    <a:pt x="3387590" y="1145986"/>
                    <a:pt x="3395210" y="1154876"/>
                    <a:pt x="3395210" y="1162496"/>
                  </a:cubicBezTo>
                  <a:cubicBezTo>
                    <a:pt x="3395210" y="1171386"/>
                    <a:pt x="3388860" y="1184086"/>
                    <a:pt x="3373620" y="1189166"/>
                  </a:cubicBezTo>
                  <a:cubicBezTo>
                    <a:pt x="3291070" y="1214566"/>
                    <a:pt x="2513830" y="988506"/>
                    <a:pt x="2436360" y="933896"/>
                  </a:cubicBezTo>
                  <a:cubicBezTo>
                    <a:pt x="2421120" y="923736"/>
                    <a:pt x="2414770" y="914846"/>
                    <a:pt x="2417310" y="905956"/>
                  </a:cubicBezTo>
                  <a:cubicBezTo>
                    <a:pt x="2418580" y="897066"/>
                    <a:pt x="2431280" y="888176"/>
                    <a:pt x="2447790" y="884366"/>
                  </a:cubicBezTo>
                  <a:cubicBezTo>
                    <a:pt x="2499860" y="872936"/>
                    <a:pt x="2639560" y="908496"/>
                    <a:pt x="2784340" y="936436"/>
                  </a:cubicBezTo>
                  <a:cubicBezTo>
                    <a:pt x="3056120" y="988506"/>
                    <a:pt x="3805420" y="1167576"/>
                    <a:pt x="3947660" y="1206946"/>
                  </a:cubicBezTo>
                  <a:cubicBezTo>
                    <a:pt x="3979410" y="1217106"/>
                    <a:pt x="3995920" y="1215836"/>
                    <a:pt x="4006080" y="1227266"/>
                  </a:cubicBezTo>
                  <a:cubicBezTo>
                    <a:pt x="4013700" y="1234886"/>
                    <a:pt x="4017510" y="1251396"/>
                    <a:pt x="4011160" y="1260286"/>
                  </a:cubicBezTo>
                  <a:cubicBezTo>
                    <a:pt x="4001000" y="1275526"/>
                    <a:pt x="3948930" y="1280606"/>
                    <a:pt x="3895590" y="1278066"/>
                  </a:cubicBezTo>
                  <a:cubicBezTo>
                    <a:pt x="3777480" y="1272986"/>
                    <a:pt x="3523480" y="1194246"/>
                    <a:pt x="3321550" y="1139636"/>
                  </a:cubicBezTo>
                  <a:cubicBezTo>
                    <a:pt x="3091680" y="1077406"/>
                    <a:pt x="2733540" y="969456"/>
                    <a:pt x="2588760" y="919926"/>
                  </a:cubicBezTo>
                  <a:cubicBezTo>
                    <a:pt x="2527800" y="899606"/>
                    <a:pt x="2490970" y="890716"/>
                    <a:pt x="2457950" y="870396"/>
                  </a:cubicBezTo>
                  <a:cubicBezTo>
                    <a:pt x="2435090" y="856426"/>
                    <a:pt x="2408420" y="839916"/>
                    <a:pt x="2403340" y="824676"/>
                  </a:cubicBezTo>
                  <a:cubicBezTo>
                    <a:pt x="2399530" y="814516"/>
                    <a:pt x="2402070" y="800546"/>
                    <a:pt x="2410960" y="791656"/>
                  </a:cubicBezTo>
                  <a:cubicBezTo>
                    <a:pt x="2433820" y="772606"/>
                    <a:pt x="2497320" y="775146"/>
                    <a:pt x="2584950" y="772606"/>
                  </a:cubicBezTo>
                  <a:cubicBezTo>
                    <a:pt x="2870700" y="768796"/>
                    <a:pt x="4288020" y="846266"/>
                    <a:pt x="4397240" y="914846"/>
                  </a:cubicBezTo>
                  <a:cubicBezTo>
                    <a:pt x="4412480" y="923736"/>
                    <a:pt x="4416290" y="935166"/>
                    <a:pt x="4415020" y="944056"/>
                  </a:cubicBezTo>
                  <a:cubicBezTo>
                    <a:pt x="4412480" y="951676"/>
                    <a:pt x="4404860" y="960566"/>
                    <a:pt x="4388350" y="964376"/>
                  </a:cubicBezTo>
                  <a:cubicBezTo>
                    <a:pt x="4271510" y="985966"/>
                    <a:pt x="3357110" y="660846"/>
                    <a:pt x="2899910" y="542736"/>
                  </a:cubicBezTo>
                  <a:cubicBezTo>
                    <a:pt x="2513830" y="441136"/>
                    <a:pt x="2176010" y="366206"/>
                    <a:pt x="1821680" y="287466"/>
                  </a:cubicBezTo>
                  <a:cubicBezTo>
                    <a:pt x="1481320" y="211266"/>
                    <a:pt x="895850" y="136336"/>
                    <a:pt x="814570" y="77916"/>
                  </a:cubicBezTo>
                  <a:cubicBezTo>
                    <a:pt x="799330" y="66486"/>
                    <a:pt x="794250" y="52516"/>
                    <a:pt x="795520" y="44896"/>
                  </a:cubicBezTo>
                  <a:cubicBezTo>
                    <a:pt x="796790" y="37276"/>
                    <a:pt x="804410" y="33466"/>
                    <a:pt x="813300" y="28386"/>
                  </a:cubicBezTo>
                  <a:cubicBezTo>
                    <a:pt x="832350" y="16956"/>
                    <a:pt x="866640" y="5526"/>
                    <a:pt x="921250" y="1716"/>
                  </a:cubicBezTo>
                  <a:cubicBezTo>
                    <a:pt x="1082540" y="-10984"/>
                    <a:pt x="1547360" y="49976"/>
                    <a:pt x="1876290" y="80456"/>
                  </a:cubicBezTo>
                  <a:cubicBezTo>
                    <a:pt x="2225540" y="112206"/>
                    <a:pt x="2595110" y="159196"/>
                    <a:pt x="2959600" y="190946"/>
                  </a:cubicBezTo>
                  <a:cubicBezTo>
                    <a:pt x="3327900" y="223966"/>
                    <a:pt x="3886700" y="249366"/>
                    <a:pt x="4075930" y="274766"/>
                  </a:cubicBezTo>
                  <a:cubicBezTo>
                    <a:pt x="4140700" y="283656"/>
                    <a:pt x="4176260" y="286196"/>
                    <a:pt x="4206740" y="300166"/>
                  </a:cubicBezTo>
                  <a:cubicBezTo>
                    <a:pt x="4225790" y="307786"/>
                    <a:pt x="4243570" y="319216"/>
                    <a:pt x="4248650" y="331916"/>
                  </a:cubicBezTo>
                  <a:cubicBezTo>
                    <a:pt x="4253730" y="342076"/>
                    <a:pt x="4253730" y="354776"/>
                    <a:pt x="4246110" y="366206"/>
                  </a:cubicBezTo>
                  <a:cubicBezTo>
                    <a:pt x="4234680" y="383986"/>
                    <a:pt x="4158480" y="394146"/>
                    <a:pt x="4159750" y="413196"/>
                  </a:cubicBezTo>
                  <a:cubicBezTo>
                    <a:pt x="4162290" y="455106"/>
                    <a:pt x="4402320" y="526226"/>
                    <a:pt x="4575040" y="582106"/>
                  </a:cubicBezTo>
                  <a:cubicBezTo>
                    <a:pt x="4845550" y="668466"/>
                    <a:pt x="5272270" y="756096"/>
                    <a:pt x="5638030" y="839916"/>
                  </a:cubicBezTo>
                  <a:cubicBezTo>
                    <a:pt x="6027920" y="930086"/>
                    <a:pt x="6415270" y="1016446"/>
                    <a:pt x="6848340" y="1104076"/>
                  </a:cubicBezTo>
                  <a:cubicBezTo>
                    <a:pt x="7347450" y="1205676"/>
                    <a:pt x="8282170" y="1351726"/>
                    <a:pt x="8463780" y="1407606"/>
                  </a:cubicBezTo>
                  <a:cubicBezTo>
                    <a:pt x="8501880" y="1420306"/>
                    <a:pt x="8517120" y="1427926"/>
                    <a:pt x="8531090" y="1438086"/>
                  </a:cubicBezTo>
                  <a:cubicBezTo>
                    <a:pt x="8538710" y="1443166"/>
                    <a:pt x="8543790" y="1449516"/>
                    <a:pt x="8545060" y="1455866"/>
                  </a:cubicBezTo>
                  <a:cubicBezTo>
                    <a:pt x="8546330" y="1463486"/>
                    <a:pt x="8545060" y="1471106"/>
                    <a:pt x="8538710" y="1478726"/>
                  </a:cubicBezTo>
                  <a:cubicBezTo>
                    <a:pt x="8526010" y="1493966"/>
                    <a:pt x="8503150" y="1509206"/>
                    <a:pt x="8452350" y="1521906"/>
                  </a:cubicBezTo>
                  <a:cubicBezTo>
                    <a:pt x="8200890" y="1581596"/>
                    <a:pt x="6494010" y="1560006"/>
                    <a:pt x="6071100" y="1548576"/>
                  </a:cubicBezTo>
                  <a:cubicBezTo>
                    <a:pt x="5916160" y="1544766"/>
                    <a:pt x="5754870" y="1524446"/>
                    <a:pt x="5754870" y="1528256"/>
                  </a:cubicBezTo>
                  <a:cubicBezTo>
                    <a:pt x="5753600" y="1535876"/>
                    <a:pt x="6271760" y="1606996"/>
                    <a:pt x="6476230" y="1632396"/>
                  </a:cubicBezTo>
                  <a:cubicBezTo>
                    <a:pt x="6626090" y="1650176"/>
                    <a:pt x="6820400" y="1646366"/>
                    <a:pt x="6869930" y="1671766"/>
                  </a:cubicBezTo>
                  <a:cubicBezTo>
                    <a:pt x="6883900" y="1679386"/>
                    <a:pt x="6892790" y="1689546"/>
                    <a:pt x="6891520" y="1697166"/>
                  </a:cubicBezTo>
                  <a:cubicBezTo>
                    <a:pt x="6891520" y="1706056"/>
                    <a:pt x="6880090" y="1717486"/>
                    <a:pt x="6863580" y="1722566"/>
                  </a:cubicBezTo>
                  <a:cubicBezTo>
                    <a:pt x="6797540" y="1741616"/>
                    <a:pt x="6549890" y="1662876"/>
                    <a:pt x="6335260" y="1633666"/>
                  </a:cubicBezTo>
                  <a:cubicBezTo>
                    <a:pt x="6006330" y="1587946"/>
                    <a:pt x="5166860" y="1547306"/>
                    <a:pt x="5079230" y="1496506"/>
                  </a:cubicBezTo>
                  <a:cubicBezTo>
                    <a:pt x="5066530" y="1488886"/>
                    <a:pt x="5062720" y="1479996"/>
                    <a:pt x="5062720" y="1472376"/>
                  </a:cubicBezTo>
                  <a:cubicBezTo>
                    <a:pt x="5062720" y="1464756"/>
                    <a:pt x="5067800" y="1454596"/>
                    <a:pt x="5079230" y="1448246"/>
                  </a:cubicBezTo>
                  <a:cubicBezTo>
                    <a:pt x="5109710" y="1431736"/>
                    <a:pt x="5196070" y="1439356"/>
                    <a:pt x="5300210" y="1439356"/>
                  </a:cubicBezTo>
                  <a:cubicBezTo>
                    <a:pt x="5552940" y="1439356"/>
                    <a:pt x="6520680" y="1448246"/>
                    <a:pt x="6601960" y="1501586"/>
                  </a:cubicBezTo>
                  <a:cubicBezTo>
                    <a:pt x="6613390" y="1509206"/>
                    <a:pt x="6615930" y="1519366"/>
                    <a:pt x="6614660" y="1526986"/>
                  </a:cubicBezTo>
                  <a:cubicBezTo>
                    <a:pt x="6612120" y="1535876"/>
                    <a:pt x="6604500" y="1544766"/>
                    <a:pt x="6587990" y="1548576"/>
                  </a:cubicBezTo>
                  <a:cubicBezTo>
                    <a:pt x="6514330" y="1567626"/>
                    <a:pt x="6175240" y="1459676"/>
                    <a:pt x="5897110" y="1406336"/>
                  </a:cubicBezTo>
                  <a:cubicBezTo>
                    <a:pt x="5478010" y="1325056"/>
                    <a:pt x="4507730" y="1170116"/>
                    <a:pt x="4312150" y="1121856"/>
                  </a:cubicBezTo>
                  <a:cubicBezTo>
                    <a:pt x="4266430" y="1110426"/>
                    <a:pt x="4239760" y="1109156"/>
                    <a:pt x="4229600" y="1095186"/>
                  </a:cubicBezTo>
                  <a:cubicBezTo>
                    <a:pt x="4223250" y="1086296"/>
                    <a:pt x="4224520" y="1071056"/>
                    <a:pt x="4229600" y="1064706"/>
                  </a:cubicBezTo>
                  <a:cubicBezTo>
                    <a:pt x="4234680" y="1058356"/>
                    <a:pt x="4251190" y="1053276"/>
                    <a:pt x="4258810" y="1055816"/>
                  </a:cubicBezTo>
                  <a:cubicBezTo>
                    <a:pt x="4266430" y="1057086"/>
                    <a:pt x="4272780" y="1067246"/>
                    <a:pt x="4274050" y="1073596"/>
                  </a:cubicBezTo>
                  <a:cubicBezTo>
                    <a:pt x="4276590" y="1079946"/>
                    <a:pt x="4274050" y="1092646"/>
                    <a:pt x="4268970" y="1096456"/>
                  </a:cubicBezTo>
                  <a:cubicBezTo>
                    <a:pt x="4261350" y="1101536"/>
                    <a:pt x="4238490" y="1102806"/>
                    <a:pt x="4232140" y="1097726"/>
                  </a:cubicBezTo>
                  <a:cubicBezTo>
                    <a:pt x="4225790" y="1091376"/>
                    <a:pt x="4224520" y="1073596"/>
                    <a:pt x="4228330" y="1067246"/>
                  </a:cubicBezTo>
                  <a:cubicBezTo>
                    <a:pt x="4230870" y="1060896"/>
                    <a:pt x="4234680" y="1057086"/>
                    <a:pt x="4248650" y="1054546"/>
                  </a:cubicBezTo>
                  <a:cubicBezTo>
                    <a:pt x="4357870" y="1032956"/>
                    <a:pt x="5474200" y="1271716"/>
                    <a:pt x="5907270" y="1356806"/>
                  </a:cubicBezTo>
                  <a:cubicBezTo>
                    <a:pt x="6189210" y="1411416"/>
                    <a:pt x="6546080" y="1457136"/>
                    <a:pt x="6601960" y="1501586"/>
                  </a:cubicBezTo>
                  <a:cubicBezTo>
                    <a:pt x="6613390" y="1510476"/>
                    <a:pt x="6615930" y="1519366"/>
                    <a:pt x="6614660" y="1526986"/>
                  </a:cubicBezTo>
                  <a:cubicBezTo>
                    <a:pt x="6612120" y="1535876"/>
                    <a:pt x="6605770" y="1543496"/>
                    <a:pt x="6587990" y="1548576"/>
                  </a:cubicBezTo>
                  <a:cubicBezTo>
                    <a:pt x="6482580" y="1584136"/>
                    <a:pt x="5552940" y="1491426"/>
                    <a:pt x="5301480" y="1490156"/>
                  </a:cubicBezTo>
                  <a:cubicBezTo>
                    <a:pt x="5197340" y="1488886"/>
                    <a:pt x="5110980" y="1514286"/>
                    <a:pt x="5079230" y="1496506"/>
                  </a:cubicBezTo>
                  <a:cubicBezTo>
                    <a:pt x="5067800" y="1488886"/>
                    <a:pt x="5061450" y="1474916"/>
                    <a:pt x="5063990" y="1466026"/>
                  </a:cubicBezTo>
                  <a:cubicBezTo>
                    <a:pt x="5065260" y="1458406"/>
                    <a:pt x="5074150" y="1452056"/>
                    <a:pt x="5091930" y="1446976"/>
                  </a:cubicBezTo>
                  <a:cubicBezTo>
                    <a:pt x="5198610" y="1419036"/>
                    <a:pt x="6013950" y="1537146"/>
                    <a:pt x="6342880" y="1582866"/>
                  </a:cubicBezTo>
                  <a:cubicBezTo>
                    <a:pt x="6558780" y="1613346"/>
                    <a:pt x="6822940" y="1636206"/>
                    <a:pt x="6875010" y="1673036"/>
                  </a:cubicBezTo>
                  <a:cubicBezTo>
                    <a:pt x="6888980" y="1683196"/>
                    <a:pt x="6892790" y="1695896"/>
                    <a:pt x="6891520" y="1703516"/>
                  </a:cubicBezTo>
                  <a:cubicBezTo>
                    <a:pt x="6888980" y="1711136"/>
                    <a:pt x="6881360" y="1718756"/>
                    <a:pt x="6863580" y="1722566"/>
                  </a:cubicBezTo>
                  <a:cubicBezTo>
                    <a:pt x="6761980" y="1747966"/>
                    <a:pt x="5815830" y="1670496"/>
                    <a:pt x="5724390" y="1587946"/>
                  </a:cubicBezTo>
                  <a:cubicBezTo>
                    <a:pt x="5701530" y="1567626"/>
                    <a:pt x="5696450" y="1537146"/>
                    <a:pt x="5707880" y="1520636"/>
                  </a:cubicBezTo>
                  <a:cubicBezTo>
                    <a:pt x="5737090" y="1482536"/>
                    <a:pt x="5897110" y="1504126"/>
                    <a:pt x="6069830" y="1497776"/>
                  </a:cubicBezTo>
                  <a:cubicBezTo>
                    <a:pt x="6513060" y="1482536"/>
                    <a:pt x="8167870" y="1524446"/>
                    <a:pt x="8432030" y="1474916"/>
                  </a:cubicBezTo>
                  <a:cubicBezTo>
                    <a:pt x="8487910" y="1464756"/>
                    <a:pt x="8513310" y="1430466"/>
                    <a:pt x="8531090" y="1438086"/>
                  </a:cubicBezTo>
                  <a:cubicBezTo>
                    <a:pt x="8539980" y="1441896"/>
                    <a:pt x="8547600" y="1459676"/>
                    <a:pt x="8545060" y="1468566"/>
                  </a:cubicBezTo>
                  <a:cubicBezTo>
                    <a:pt x="8542520" y="1476186"/>
                    <a:pt x="8527280" y="1485076"/>
                    <a:pt x="8515850" y="1486346"/>
                  </a:cubicBezTo>
                  <a:cubicBezTo>
                    <a:pt x="8499340" y="1487616"/>
                    <a:pt x="8490450" y="1469836"/>
                    <a:pt x="8454890" y="1458406"/>
                  </a:cubicBezTo>
                  <a:cubicBezTo>
                    <a:pt x="8279630" y="1402526"/>
                    <a:pt x="7337290" y="1255206"/>
                    <a:pt x="6836910" y="1153606"/>
                  </a:cubicBezTo>
                  <a:cubicBezTo>
                    <a:pt x="6403840" y="1065976"/>
                    <a:pt x="6016490" y="979616"/>
                    <a:pt x="5626600" y="889446"/>
                  </a:cubicBezTo>
                  <a:cubicBezTo>
                    <a:pt x="5258300" y="804356"/>
                    <a:pt x="4831580" y="715456"/>
                    <a:pt x="4557260" y="629096"/>
                  </a:cubicBezTo>
                  <a:cubicBezTo>
                    <a:pt x="4380730" y="574486"/>
                    <a:pt x="4178800" y="514796"/>
                    <a:pt x="4128000" y="465266"/>
                  </a:cubicBezTo>
                  <a:cubicBezTo>
                    <a:pt x="4110220" y="447486"/>
                    <a:pt x="4106410" y="430976"/>
                    <a:pt x="4107680" y="414466"/>
                  </a:cubicBezTo>
                  <a:cubicBezTo>
                    <a:pt x="4108950" y="399226"/>
                    <a:pt x="4119110" y="383986"/>
                    <a:pt x="4134350" y="370016"/>
                  </a:cubicBezTo>
                  <a:cubicBezTo>
                    <a:pt x="4154670" y="350966"/>
                    <a:pt x="4214360" y="317946"/>
                    <a:pt x="4233410" y="323026"/>
                  </a:cubicBezTo>
                  <a:cubicBezTo>
                    <a:pt x="4244840" y="325566"/>
                    <a:pt x="4255000" y="340806"/>
                    <a:pt x="4253730" y="349696"/>
                  </a:cubicBezTo>
                  <a:cubicBezTo>
                    <a:pt x="4252460" y="358586"/>
                    <a:pt x="4234680" y="372556"/>
                    <a:pt x="4224520" y="372556"/>
                  </a:cubicBezTo>
                  <a:cubicBezTo>
                    <a:pt x="4214360" y="372556"/>
                    <a:pt x="4208010" y="354776"/>
                    <a:pt x="4194040" y="348426"/>
                  </a:cubicBezTo>
                  <a:cubicBezTo>
                    <a:pt x="4168640" y="335726"/>
                    <a:pt x="4134350" y="333186"/>
                    <a:pt x="4072120" y="325566"/>
                  </a:cubicBezTo>
                  <a:cubicBezTo>
                    <a:pt x="3887970" y="301436"/>
                    <a:pt x="3381240" y="277306"/>
                    <a:pt x="2954520" y="241746"/>
                  </a:cubicBezTo>
                  <a:cubicBezTo>
                    <a:pt x="2379210" y="192216"/>
                    <a:pt x="1195570" y="33466"/>
                    <a:pt x="932680" y="51246"/>
                  </a:cubicBezTo>
                  <a:cubicBezTo>
                    <a:pt x="869180" y="55056"/>
                    <a:pt x="836160" y="86806"/>
                    <a:pt x="814570" y="77916"/>
                  </a:cubicBezTo>
                  <a:cubicBezTo>
                    <a:pt x="803140" y="71566"/>
                    <a:pt x="792980" y="52516"/>
                    <a:pt x="795520" y="44896"/>
                  </a:cubicBezTo>
                  <a:cubicBezTo>
                    <a:pt x="798060" y="36006"/>
                    <a:pt x="809490" y="29656"/>
                    <a:pt x="824730" y="27116"/>
                  </a:cubicBezTo>
                  <a:cubicBezTo>
                    <a:pt x="874260" y="19496"/>
                    <a:pt x="1016500" y="63946"/>
                    <a:pt x="1143500" y="90616"/>
                  </a:cubicBezTo>
                  <a:cubicBezTo>
                    <a:pt x="1330190" y="128716"/>
                    <a:pt x="1577840" y="179516"/>
                    <a:pt x="1834380" y="237936"/>
                  </a:cubicBezTo>
                  <a:cubicBezTo>
                    <a:pt x="2154420" y="310326"/>
                    <a:pt x="2526530" y="392876"/>
                    <a:pt x="2913880" y="493206"/>
                  </a:cubicBezTo>
                  <a:cubicBezTo>
                    <a:pt x="3369810" y="612586"/>
                    <a:pt x="4300720" y="839916"/>
                    <a:pt x="4397240" y="914846"/>
                  </a:cubicBezTo>
                  <a:cubicBezTo>
                    <a:pt x="4412480" y="925006"/>
                    <a:pt x="4416290" y="935166"/>
                    <a:pt x="4415020" y="944056"/>
                  </a:cubicBezTo>
                  <a:cubicBezTo>
                    <a:pt x="4412480" y="951676"/>
                    <a:pt x="4406130" y="959296"/>
                    <a:pt x="4388350" y="964376"/>
                  </a:cubicBezTo>
                  <a:cubicBezTo>
                    <a:pt x="4258810" y="1002476"/>
                    <a:pt x="2873240" y="824676"/>
                    <a:pt x="2590030" y="823406"/>
                  </a:cubicBezTo>
                  <a:cubicBezTo>
                    <a:pt x="2502400" y="823406"/>
                    <a:pt x="2442710" y="847536"/>
                    <a:pt x="2417310" y="837376"/>
                  </a:cubicBezTo>
                  <a:cubicBezTo>
                    <a:pt x="2407150" y="832296"/>
                    <a:pt x="2402070" y="825946"/>
                    <a:pt x="2400800" y="819596"/>
                  </a:cubicBezTo>
                  <a:cubicBezTo>
                    <a:pt x="2399530" y="811976"/>
                    <a:pt x="2405880" y="796736"/>
                    <a:pt x="2410960" y="791656"/>
                  </a:cubicBezTo>
                  <a:cubicBezTo>
                    <a:pt x="2417310" y="787846"/>
                    <a:pt x="2426200" y="786576"/>
                    <a:pt x="2435090" y="789116"/>
                  </a:cubicBezTo>
                  <a:cubicBezTo>
                    <a:pt x="2447790" y="792926"/>
                    <a:pt x="2457950" y="813246"/>
                    <a:pt x="2477000" y="823406"/>
                  </a:cubicBezTo>
                  <a:cubicBezTo>
                    <a:pt x="2506210" y="841186"/>
                    <a:pt x="2543040" y="851346"/>
                    <a:pt x="2604000" y="871666"/>
                  </a:cubicBezTo>
                  <a:cubicBezTo>
                    <a:pt x="2746240" y="919926"/>
                    <a:pt x="3105650" y="1027876"/>
                    <a:pt x="3334250" y="1090106"/>
                  </a:cubicBezTo>
                  <a:cubicBezTo>
                    <a:pt x="3532370" y="1143446"/>
                    <a:pt x="3781290" y="1217106"/>
                    <a:pt x="3893050" y="1227266"/>
                  </a:cubicBezTo>
                  <a:cubicBezTo>
                    <a:pt x="3940040" y="1232346"/>
                    <a:pt x="3975600" y="1212026"/>
                    <a:pt x="3994650" y="1222186"/>
                  </a:cubicBezTo>
                  <a:cubicBezTo>
                    <a:pt x="4006080" y="1227266"/>
                    <a:pt x="4016240" y="1239966"/>
                    <a:pt x="4014970" y="1248856"/>
                  </a:cubicBezTo>
                  <a:cubicBezTo>
                    <a:pt x="4014970" y="1256476"/>
                    <a:pt x="4008620" y="1267906"/>
                    <a:pt x="3992110" y="1271716"/>
                  </a:cubicBezTo>
                  <a:cubicBezTo>
                    <a:pt x="3879080" y="1303466"/>
                    <a:pt x="2567170" y="881826"/>
                    <a:pt x="2457950" y="912306"/>
                  </a:cubicBezTo>
                  <a:cubicBezTo>
                    <a:pt x="2442710" y="916116"/>
                    <a:pt x="2442710" y="935166"/>
                    <a:pt x="2436360" y="933896"/>
                  </a:cubicBezTo>
                  <a:cubicBezTo>
                    <a:pt x="2428740" y="932626"/>
                    <a:pt x="2414770" y="914846"/>
                    <a:pt x="2417310" y="905956"/>
                  </a:cubicBezTo>
                  <a:cubicBezTo>
                    <a:pt x="2418580" y="897066"/>
                    <a:pt x="2430010" y="888176"/>
                    <a:pt x="2447790" y="884366"/>
                  </a:cubicBezTo>
                  <a:cubicBezTo>
                    <a:pt x="2507480" y="874206"/>
                    <a:pt x="2729730" y="952946"/>
                    <a:pt x="2874510" y="993586"/>
                  </a:cubicBezTo>
                  <a:cubicBezTo>
                    <a:pt x="3028180" y="1038036"/>
                    <a:pt x="3280910" y="1134556"/>
                    <a:pt x="3345680" y="1142176"/>
                  </a:cubicBezTo>
                  <a:cubicBezTo>
                    <a:pt x="3363460" y="1144716"/>
                    <a:pt x="3371080" y="1135826"/>
                    <a:pt x="3378700" y="1139636"/>
                  </a:cubicBezTo>
                  <a:cubicBezTo>
                    <a:pt x="3386320" y="1143446"/>
                    <a:pt x="3396480" y="1161226"/>
                    <a:pt x="3395210" y="1168846"/>
                  </a:cubicBezTo>
                  <a:cubicBezTo>
                    <a:pt x="3393940" y="1176466"/>
                    <a:pt x="3387590" y="1184086"/>
                    <a:pt x="3373620" y="1189166"/>
                  </a:cubicBezTo>
                  <a:cubicBezTo>
                    <a:pt x="3302500" y="1212026"/>
                    <a:pt x="2865620" y="1138366"/>
                    <a:pt x="2629400" y="1110426"/>
                  </a:cubicBezTo>
                  <a:cubicBezTo>
                    <a:pt x="2416040" y="1085026"/>
                    <a:pt x="2215380" y="1049466"/>
                    <a:pt x="2018530" y="1027876"/>
                  </a:cubicBezTo>
                  <a:cubicBezTo>
                    <a:pt x="1833110" y="1007556"/>
                    <a:pt x="1535930" y="1003746"/>
                    <a:pt x="1480050" y="982156"/>
                  </a:cubicBezTo>
                  <a:cubicBezTo>
                    <a:pt x="1468620" y="977076"/>
                    <a:pt x="1464810" y="973266"/>
                    <a:pt x="1462270" y="966916"/>
                  </a:cubicBezTo>
                  <a:cubicBezTo>
                    <a:pt x="1459730" y="959296"/>
                    <a:pt x="1462270" y="944056"/>
                    <a:pt x="1468620" y="938976"/>
                  </a:cubicBezTo>
                  <a:cubicBezTo>
                    <a:pt x="1472430" y="933896"/>
                    <a:pt x="1483860" y="930086"/>
                    <a:pt x="1490210" y="932626"/>
                  </a:cubicBezTo>
                  <a:cubicBezTo>
                    <a:pt x="1497830" y="933896"/>
                    <a:pt x="1496560" y="945326"/>
                    <a:pt x="1506720" y="950406"/>
                  </a:cubicBezTo>
                  <a:cubicBezTo>
                    <a:pt x="1532120" y="965646"/>
                    <a:pt x="1589270" y="968186"/>
                    <a:pt x="1679440" y="984696"/>
                  </a:cubicBezTo>
                  <a:cubicBezTo>
                    <a:pt x="1994400" y="1044386"/>
                    <a:pt x="3693660" y="1281876"/>
                    <a:pt x="3810500" y="1365696"/>
                  </a:cubicBezTo>
                  <a:cubicBezTo>
                    <a:pt x="3824470" y="1375856"/>
                    <a:pt x="3828280" y="1387286"/>
                    <a:pt x="3827010" y="1394906"/>
                  </a:cubicBezTo>
                  <a:cubicBezTo>
                    <a:pt x="3825740" y="1403796"/>
                    <a:pt x="3815580" y="1413956"/>
                    <a:pt x="3805420" y="1415226"/>
                  </a:cubicBezTo>
                  <a:cubicBezTo>
                    <a:pt x="3783830" y="1416496"/>
                    <a:pt x="3755890" y="1375856"/>
                    <a:pt x="3698740" y="1347916"/>
                  </a:cubicBezTo>
                  <a:cubicBezTo>
                    <a:pt x="3527290" y="1264096"/>
                    <a:pt x="2927850" y="1081216"/>
                    <a:pt x="2591300" y="952946"/>
                  </a:cubicBezTo>
                  <a:cubicBezTo>
                    <a:pt x="2305550" y="844996"/>
                    <a:pt x="1859780" y="697676"/>
                    <a:pt x="1803900" y="635446"/>
                  </a:cubicBezTo>
                  <a:cubicBezTo>
                    <a:pt x="1792470" y="622746"/>
                    <a:pt x="1792470" y="610046"/>
                    <a:pt x="1795010" y="602426"/>
                  </a:cubicBezTo>
                  <a:cubicBezTo>
                    <a:pt x="1798820" y="594806"/>
                    <a:pt x="1807710" y="590996"/>
                    <a:pt x="1820410" y="588456"/>
                  </a:cubicBezTo>
                  <a:cubicBezTo>
                    <a:pt x="1854700" y="582106"/>
                    <a:pt x="1942330" y="596076"/>
                    <a:pt x="2017260" y="607506"/>
                  </a:cubicBezTo>
                  <a:cubicBezTo>
                    <a:pt x="2120130" y="621476"/>
                    <a:pt x="2339840" y="650686"/>
                    <a:pt x="2381750" y="677356"/>
                  </a:cubicBezTo>
                  <a:cubicBezTo>
                    <a:pt x="2394450" y="684976"/>
                    <a:pt x="2398260" y="692596"/>
                    <a:pt x="2399530" y="700216"/>
                  </a:cubicBezTo>
                  <a:cubicBezTo>
                    <a:pt x="2400800" y="707836"/>
                    <a:pt x="2396990" y="716726"/>
                    <a:pt x="2389370" y="721806"/>
                  </a:cubicBezTo>
                  <a:cubicBezTo>
                    <a:pt x="2376670" y="730696"/>
                    <a:pt x="2356350" y="729426"/>
                    <a:pt x="2315710" y="728156"/>
                  </a:cubicBezTo>
                  <a:cubicBezTo>
                    <a:pt x="2136640" y="728156"/>
                    <a:pt x="1162550" y="603696"/>
                    <a:pt x="838700" y="580836"/>
                  </a:cubicBezTo>
                  <a:cubicBezTo>
                    <a:pt x="681220" y="569406"/>
                    <a:pt x="528820" y="580836"/>
                    <a:pt x="485640" y="565596"/>
                  </a:cubicBezTo>
                  <a:cubicBezTo>
                    <a:pt x="474210" y="561786"/>
                    <a:pt x="470400" y="556706"/>
                    <a:pt x="466590" y="550356"/>
                  </a:cubicBezTo>
                  <a:cubicBezTo>
                    <a:pt x="464050" y="544006"/>
                    <a:pt x="464050" y="532576"/>
                    <a:pt x="469130" y="527496"/>
                  </a:cubicBezTo>
                  <a:cubicBezTo>
                    <a:pt x="472940" y="521146"/>
                    <a:pt x="484370" y="514796"/>
                    <a:pt x="494530" y="516066"/>
                  </a:cubicBezTo>
                  <a:cubicBezTo>
                    <a:pt x="509770" y="516066"/>
                    <a:pt x="519930" y="533846"/>
                    <a:pt x="549140" y="544006"/>
                  </a:cubicBezTo>
                  <a:cubicBezTo>
                    <a:pt x="641850" y="577026"/>
                    <a:pt x="950460" y="616396"/>
                    <a:pt x="1157470" y="662116"/>
                  </a:cubicBezTo>
                  <a:cubicBezTo>
                    <a:pt x="1378450" y="710376"/>
                    <a:pt x="1576570" y="759906"/>
                    <a:pt x="1835650" y="824676"/>
                  </a:cubicBezTo>
                  <a:cubicBezTo>
                    <a:pt x="2188710" y="914846"/>
                    <a:pt x="2945630" y="1157416"/>
                    <a:pt x="3081520" y="1156146"/>
                  </a:cubicBezTo>
                  <a:cubicBezTo>
                    <a:pt x="3108190" y="1156146"/>
                    <a:pt x="3119620" y="1138366"/>
                    <a:pt x="3129780" y="1143446"/>
                  </a:cubicBezTo>
                  <a:cubicBezTo>
                    <a:pt x="3138670" y="1147256"/>
                    <a:pt x="3145020" y="1161226"/>
                    <a:pt x="3143750" y="1168846"/>
                  </a:cubicBezTo>
                  <a:cubicBezTo>
                    <a:pt x="3142480" y="1176466"/>
                    <a:pt x="3133590" y="1189166"/>
                    <a:pt x="3119620" y="1191706"/>
                  </a:cubicBezTo>
                  <a:cubicBezTo>
                    <a:pt x="3056120" y="1200596"/>
                    <a:pt x="2729730" y="1007556"/>
                    <a:pt x="2573520" y="925006"/>
                  </a:cubicBezTo>
                  <a:cubicBezTo>
                    <a:pt x="2451600" y="860236"/>
                    <a:pt x="2342380" y="804356"/>
                    <a:pt x="2256020" y="742126"/>
                  </a:cubicBezTo>
                  <a:cubicBezTo>
                    <a:pt x="2188710" y="692596"/>
                    <a:pt x="2122670" y="607506"/>
                    <a:pt x="2088380" y="592266"/>
                  </a:cubicBezTo>
                  <a:cubicBezTo>
                    <a:pt x="2076950" y="585916"/>
                    <a:pt x="2065520" y="593536"/>
                    <a:pt x="2060440" y="588456"/>
                  </a:cubicBezTo>
                  <a:cubicBezTo>
                    <a:pt x="2054090" y="583376"/>
                    <a:pt x="2051550" y="569406"/>
                    <a:pt x="2052820" y="560516"/>
                  </a:cubicBezTo>
                  <a:cubicBezTo>
                    <a:pt x="2056630" y="547816"/>
                    <a:pt x="2074410" y="533846"/>
                    <a:pt x="2088380" y="523686"/>
                  </a:cubicBezTo>
                  <a:cubicBezTo>
                    <a:pt x="2104890" y="510986"/>
                    <a:pt x="2123940" y="502096"/>
                    <a:pt x="2148070" y="493206"/>
                  </a:cubicBezTo>
                  <a:cubicBezTo>
                    <a:pt x="2182360" y="479236"/>
                    <a:pt x="2220460" y="467806"/>
                    <a:pt x="2278880" y="457646"/>
                  </a:cubicBezTo>
                  <a:cubicBezTo>
                    <a:pt x="2390640" y="438596"/>
                    <a:pt x="2600190" y="434786"/>
                    <a:pt x="2772910" y="417006"/>
                  </a:cubicBezTo>
                  <a:cubicBezTo>
                    <a:pt x="2962140" y="397956"/>
                    <a:pt x="3303770" y="316676"/>
                    <a:pt x="3366000" y="345886"/>
                  </a:cubicBezTo>
                  <a:cubicBezTo>
                    <a:pt x="3382510" y="352236"/>
                    <a:pt x="3390130" y="367476"/>
                    <a:pt x="3388860" y="376366"/>
                  </a:cubicBezTo>
                  <a:cubicBezTo>
                    <a:pt x="3387590" y="383986"/>
                    <a:pt x="3372350" y="394146"/>
                    <a:pt x="3360920" y="395416"/>
                  </a:cubicBezTo>
                  <a:cubicBezTo>
                    <a:pt x="3346950" y="397956"/>
                    <a:pt x="3338060" y="383986"/>
                    <a:pt x="3308850" y="376366"/>
                  </a:cubicBezTo>
                  <a:cubicBezTo>
                    <a:pt x="3190740" y="344616"/>
                    <a:pt x="2619240" y="278576"/>
                    <a:pt x="2362700" y="231586"/>
                  </a:cubicBezTo>
                  <a:cubicBezTo>
                    <a:pt x="2184900" y="199836"/>
                    <a:pt x="1986780" y="126176"/>
                    <a:pt x="1915660" y="136336"/>
                  </a:cubicBezTo>
                  <a:cubicBezTo>
                    <a:pt x="1890260" y="140146"/>
                    <a:pt x="1877560" y="164276"/>
                    <a:pt x="1868670" y="160466"/>
                  </a:cubicBezTo>
                  <a:cubicBezTo>
                    <a:pt x="1861050" y="157926"/>
                    <a:pt x="1855970" y="136336"/>
                    <a:pt x="1858510" y="128716"/>
                  </a:cubicBezTo>
                  <a:cubicBezTo>
                    <a:pt x="1862320" y="121096"/>
                    <a:pt x="1871210" y="116016"/>
                    <a:pt x="1883910" y="114746"/>
                  </a:cubicBezTo>
                  <a:cubicBezTo>
                    <a:pt x="1920740" y="109666"/>
                    <a:pt x="2003290" y="142686"/>
                    <a:pt x="2102350" y="173166"/>
                  </a:cubicBezTo>
                  <a:cubicBezTo>
                    <a:pt x="2322060" y="240476"/>
                    <a:pt x="2826250" y="409386"/>
                    <a:pt x="3148830" y="537656"/>
                  </a:cubicBezTo>
                  <a:cubicBezTo>
                    <a:pt x="3434580" y="650686"/>
                    <a:pt x="3684770" y="768796"/>
                    <a:pt x="3946390" y="893256"/>
                  </a:cubicBezTo>
                  <a:cubicBezTo>
                    <a:pt x="4202930" y="1015176"/>
                    <a:pt x="4539480" y="1180276"/>
                    <a:pt x="4702040" y="1275526"/>
                  </a:cubicBezTo>
                  <a:cubicBezTo>
                    <a:pt x="4783320" y="1323786"/>
                    <a:pt x="4863330" y="1366966"/>
                    <a:pt x="4878570" y="1396176"/>
                  </a:cubicBezTo>
                  <a:cubicBezTo>
                    <a:pt x="4884920" y="1407606"/>
                    <a:pt x="4882380" y="1416496"/>
                    <a:pt x="4878570" y="1425386"/>
                  </a:cubicBezTo>
                  <a:cubicBezTo>
                    <a:pt x="4872220" y="1436816"/>
                    <a:pt x="4862060" y="1449516"/>
                    <a:pt x="4836660" y="1458406"/>
                  </a:cubicBezTo>
                  <a:cubicBezTo>
                    <a:pt x="4729980" y="1493966"/>
                    <a:pt x="4255000" y="1443166"/>
                    <a:pt x="3920990" y="1425386"/>
                  </a:cubicBezTo>
                  <a:cubicBezTo>
                    <a:pt x="3513320" y="1402526"/>
                    <a:pt x="2664960" y="1380936"/>
                    <a:pt x="2567170" y="1327596"/>
                  </a:cubicBezTo>
                  <a:cubicBezTo>
                    <a:pt x="2551930" y="1318706"/>
                    <a:pt x="2546850" y="1308546"/>
                    <a:pt x="2548120" y="1299656"/>
                  </a:cubicBezTo>
                  <a:cubicBezTo>
                    <a:pt x="2548120" y="1292036"/>
                    <a:pt x="2555740" y="1284416"/>
                    <a:pt x="2572250" y="1276796"/>
                  </a:cubicBezTo>
                  <a:cubicBezTo>
                    <a:pt x="2666230" y="1237426"/>
                    <a:pt x="3404100" y="1247586"/>
                    <a:pt x="3660640" y="1225996"/>
                  </a:cubicBezTo>
                  <a:cubicBezTo>
                    <a:pt x="3800340" y="1214566"/>
                    <a:pt x="3896860" y="1199326"/>
                    <a:pt x="3984490" y="1186626"/>
                  </a:cubicBezTo>
                  <a:cubicBezTo>
                    <a:pt x="4044180" y="1176466"/>
                    <a:pt x="4101330" y="1170116"/>
                    <a:pt x="4134350" y="1157416"/>
                  </a:cubicBezTo>
                  <a:cubicBezTo>
                    <a:pt x="4153400" y="1151066"/>
                    <a:pt x="4166100" y="1130746"/>
                    <a:pt x="4176260" y="1133286"/>
                  </a:cubicBezTo>
                  <a:cubicBezTo>
                    <a:pt x="4183880" y="1135826"/>
                    <a:pt x="4194040" y="1154876"/>
                    <a:pt x="4191500" y="1162496"/>
                  </a:cubicBezTo>
                  <a:cubicBezTo>
                    <a:pt x="4190230" y="1171386"/>
                    <a:pt x="4173720" y="1182816"/>
                    <a:pt x="4164830" y="1182816"/>
                  </a:cubicBezTo>
                  <a:cubicBezTo>
                    <a:pt x="4155940" y="1181546"/>
                    <a:pt x="4155940" y="1170116"/>
                    <a:pt x="4140700" y="1163766"/>
                  </a:cubicBezTo>
                  <a:cubicBezTo>
                    <a:pt x="4077200" y="1137096"/>
                    <a:pt x="3804150" y="1121856"/>
                    <a:pt x="3556500" y="1082486"/>
                  </a:cubicBezTo>
                  <a:cubicBezTo>
                    <a:pt x="3119620" y="1015176"/>
                    <a:pt x="2346190" y="881826"/>
                    <a:pt x="1751830" y="771336"/>
                  </a:cubicBezTo>
                  <a:cubicBezTo>
                    <a:pt x="1167630" y="663386"/>
                    <a:pt x="130040" y="475426"/>
                    <a:pt x="20820" y="427166"/>
                  </a:cubicBezTo>
                  <a:cubicBezTo>
                    <a:pt x="8120" y="420816"/>
                    <a:pt x="4310" y="419546"/>
                    <a:pt x="1770" y="413196"/>
                  </a:cubicBezTo>
                  <a:cubicBezTo>
                    <a:pt x="-770" y="406846"/>
                    <a:pt x="-770" y="395416"/>
                    <a:pt x="3040" y="389066"/>
                  </a:cubicBezTo>
                  <a:cubicBezTo>
                    <a:pt x="6850" y="382716"/>
                    <a:pt x="15740" y="378906"/>
                    <a:pt x="28440" y="376366"/>
                  </a:cubicBezTo>
                  <a:cubicBezTo>
                    <a:pt x="62730" y="372556"/>
                    <a:pt x="123690" y="405576"/>
                    <a:pt x="224020" y="419546"/>
                  </a:cubicBezTo>
                  <a:cubicBezTo>
                    <a:pt x="550410" y="467806"/>
                    <a:pt x="1698490" y="521146"/>
                    <a:pt x="2318250" y="575756"/>
                  </a:cubicBezTo>
                  <a:cubicBezTo>
                    <a:pt x="2816090" y="620206"/>
                    <a:pt x="3179310" y="669736"/>
                    <a:pt x="3661910" y="714186"/>
                  </a:cubicBezTo>
                  <a:cubicBezTo>
                    <a:pt x="4225790" y="764986"/>
                    <a:pt x="5001760" y="836106"/>
                    <a:pt x="5494520" y="856426"/>
                  </a:cubicBezTo>
                  <a:cubicBezTo>
                    <a:pt x="5824720" y="870396"/>
                    <a:pt x="6157460" y="871666"/>
                    <a:pt x="6325100" y="862776"/>
                  </a:cubicBezTo>
                  <a:cubicBezTo>
                    <a:pt x="6398760" y="857696"/>
                    <a:pt x="6457180" y="832296"/>
                    <a:pt x="6482580" y="843726"/>
                  </a:cubicBezTo>
                  <a:cubicBezTo>
                    <a:pt x="6495280" y="848806"/>
                    <a:pt x="6502900" y="862776"/>
                    <a:pt x="6501630" y="871666"/>
                  </a:cubicBezTo>
                  <a:cubicBezTo>
                    <a:pt x="6500360" y="879286"/>
                    <a:pt x="6485120" y="893256"/>
                    <a:pt x="6476230" y="893256"/>
                  </a:cubicBezTo>
                  <a:cubicBezTo>
                    <a:pt x="6469880" y="893256"/>
                    <a:pt x="6471150" y="883096"/>
                    <a:pt x="6458450" y="878016"/>
                  </a:cubicBezTo>
                  <a:cubicBezTo>
                    <a:pt x="6327640" y="832296"/>
                    <a:pt x="4545830" y="917386"/>
                    <a:pt x="4027670" y="907226"/>
                  </a:cubicBezTo>
                  <a:cubicBezTo>
                    <a:pt x="3782560" y="902146"/>
                    <a:pt x="3548880" y="911036"/>
                    <a:pt x="3487920" y="880556"/>
                  </a:cubicBezTo>
                  <a:cubicBezTo>
                    <a:pt x="3471410" y="871666"/>
                    <a:pt x="3462520" y="858966"/>
                    <a:pt x="3463790" y="850076"/>
                  </a:cubicBezTo>
                  <a:cubicBezTo>
                    <a:pt x="3465060" y="842456"/>
                    <a:pt x="3490460" y="829756"/>
                    <a:pt x="3490460" y="829756"/>
                  </a:cubicBezTo>
                </a:path>
              </a:pathLst>
            </a:custGeom>
            <a:solidFill>
              <a:srgbClr val="FFFFFF"/>
            </a:solidFill>
            <a:ln cap="sq">
              <a:noFill/>
              <a:prstDash val="solid"/>
              <a:miter/>
            </a:ln>
          </p:spPr>
        </p:sp>
      </p:grpSp>
      <p:grpSp>
        <p:nvGrpSpPr>
          <p:cNvPr name="Group 23" id="23"/>
          <p:cNvGrpSpPr/>
          <p:nvPr/>
        </p:nvGrpSpPr>
        <p:grpSpPr>
          <a:xfrm rot="0">
            <a:off x="443865" y="787718"/>
            <a:ext cx="10336530" cy="2426970"/>
            <a:chOff x="0" y="0"/>
            <a:chExt cx="13782040" cy="3235960"/>
          </a:xfrm>
        </p:grpSpPr>
        <p:sp>
          <p:nvSpPr>
            <p:cNvPr name="Freeform 24" id="24"/>
            <p:cNvSpPr/>
            <p:nvPr/>
          </p:nvSpPr>
          <p:spPr>
            <a:xfrm flipH="false" flipV="false" rot="0">
              <a:off x="50800" y="46290"/>
              <a:ext cx="13683540" cy="3137761"/>
            </a:xfrm>
            <a:custGeom>
              <a:avLst/>
              <a:gdLst/>
              <a:ahLst/>
              <a:cxnLst/>
              <a:rect r="r" b="b" t="t" l="l"/>
              <a:pathLst>
                <a:path h="3137761" w="13683540">
                  <a:moveTo>
                    <a:pt x="0" y="2535620"/>
                  </a:moveTo>
                  <a:cubicBezTo>
                    <a:pt x="297180" y="1904430"/>
                    <a:pt x="650240" y="1779970"/>
                    <a:pt x="805180" y="1707580"/>
                  </a:cubicBezTo>
                  <a:cubicBezTo>
                    <a:pt x="890270" y="1668210"/>
                    <a:pt x="1007110" y="1641540"/>
                    <a:pt x="1005840" y="1628840"/>
                  </a:cubicBezTo>
                  <a:cubicBezTo>
                    <a:pt x="1005840" y="1625030"/>
                    <a:pt x="991870" y="1628840"/>
                    <a:pt x="977900" y="1621220"/>
                  </a:cubicBezTo>
                  <a:cubicBezTo>
                    <a:pt x="919480" y="1592010"/>
                    <a:pt x="633730" y="1452310"/>
                    <a:pt x="579120" y="1310070"/>
                  </a:cubicBezTo>
                  <a:cubicBezTo>
                    <a:pt x="518160" y="1152590"/>
                    <a:pt x="579120" y="838900"/>
                    <a:pt x="689610" y="691580"/>
                  </a:cubicBezTo>
                  <a:cubicBezTo>
                    <a:pt x="797560" y="549340"/>
                    <a:pt x="1045210" y="488380"/>
                    <a:pt x="1224280" y="431230"/>
                  </a:cubicBezTo>
                  <a:cubicBezTo>
                    <a:pt x="1386840" y="379160"/>
                    <a:pt x="1662430" y="374080"/>
                    <a:pt x="1714500" y="348680"/>
                  </a:cubicBezTo>
                  <a:cubicBezTo>
                    <a:pt x="1724660" y="342330"/>
                    <a:pt x="1724660" y="338520"/>
                    <a:pt x="1731010" y="330900"/>
                  </a:cubicBezTo>
                  <a:cubicBezTo>
                    <a:pt x="1741170" y="322010"/>
                    <a:pt x="1767840" y="295340"/>
                    <a:pt x="1769110" y="295340"/>
                  </a:cubicBezTo>
                  <a:cubicBezTo>
                    <a:pt x="1769110" y="295340"/>
                    <a:pt x="1798320" y="277560"/>
                    <a:pt x="1813560" y="268670"/>
                  </a:cubicBezTo>
                  <a:cubicBezTo>
                    <a:pt x="1828800" y="259780"/>
                    <a:pt x="1858010" y="243270"/>
                    <a:pt x="1858010" y="242000"/>
                  </a:cubicBezTo>
                  <a:cubicBezTo>
                    <a:pt x="1859280" y="242000"/>
                    <a:pt x="1891030" y="233110"/>
                    <a:pt x="1908810" y="228030"/>
                  </a:cubicBezTo>
                  <a:cubicBezTo>
                    <a:pt x="1925320" y="222950"/>
                    <a:pt x="1957070" y="212790"/>
                    <a:pt x="1958340" y="212790"/>
                  </a:cubicBezTo>
                  <a:cubicBezTo>
                    <a:pt x="1958340" y="212790"/>
                    <a:pt x="1992630" y="211520"/>
                    <a:pt x="2010410" y="210250"/>
                  </a:cubicBezTo>
                  <a:cubicBezTo>
                    <a:pt x="2026920" y="208980"/>
                    <a:pt x="2061210" y="207710"/>
                    <a:pt x="2062480" y="207710"/>
                  </a:cubicBezTo>
                  <a:cubicBezTo>
                    <a:pt x="2062480" y="207710"/>
                    <a:pt x="2190750" y="215330"/>
                    <a:pt x="2277110" y="225490"/>
                  </a:cubicBezTo>
                  <a:cubicBezTo>
                    <a:pt x="2414270" y="240730"/>
                    <a:pt x="2623820" y="273750"/>
                    <a:pt x="2797810" y="302960"/>
                  </a:cubicBezTo>
                  <a:cubicBezTo>
                    <a:pt x="2974340" y="333440"/>
                    <a:pt x="3274060" y="390590"/>
                    <a:pt x="3329940" y="402020"/>
                  </a:cubicBezTo>
                  <a:cubicBezTo>
                    <a:pt x="3340100" y="404560"/>
                    <a:pt x="3343910" y="405830"/>
                    <a:pt x="3348990" y="407100"/>
                  </a:cubicBezTo>
                  <a:cubicBezTo>
                    <a:pt x="3352800" y="407100"/>
                    <a:pt x="3352800" y="407100"/>
                    <a:pt x="3359150" y="407100"/>
                  </a:cubicBezTo>
                  <a:cubicBezTo>
                    <a:pt x="3398520" y="407100"/>
                    <a:pt x="3661410" y="407100"/>
                    <a:pt x="3822700" y="405830"/>
                  </a:cubicBezTo>
                  <a:cubicBezTo>
                    <a:pt x="4001770" y="405830"/>
                    <a:pt x="4199890" y="405830"/>
                    <a:pt x="4386580" y="403290"/>
                  </a:cubicBezTo>
                  <a:cubicBezTo>
                    <a:pt x="4569460" y="400750"/>
                    <a:pt x="4744720" y="402020"/>
                    <a:pt x="4933950" y="390590"/>
                  </a:cubicBezTo>
                  <a:cubicBezTo>
                    <a:pt x="5137150" y="376620"/>
                    <a:pt x="5377180" y="358840"/>
                    <a:pt x="5567680" y="325820"/>
                  </a:cubicBezTo>
                  <a:cubicBezTo>
                    <a:pt x="5727700" y="297880"/>
                    <a:pt x="5853430" y="248350"/>
                    <a:pt x="6003290" y="215330"/>
                  </a:cubicBezTo>
                  <a:cubicBezTo>
                    <a:pt x="6160770" y="182310"/>
                    <a:pt x="6329680" y="156910"/>
                    <a:pt x="6492240" y="130240"/>
                  </a:cubicBezTo>
                  <a:cubicBezTo>
                    <a:pt x="6653530" y="104840"/>
                    <a:pt x="6812280" y="81980"/>
                    <a:pt x="6977380" y="60390"/>
                  </a:cubicBezTo>
                  <a:cubicBezTo>
                    <a:pt x="7145020" y="38800"/>
                    <a:pt x="7320280" y="13400"/>
                    <a:pt x="7489190" y="4510"/>
                  </a:cubicBezTo>
                  <a:cubicBezTo>
                    <a:pt x="7653020" y="-4380"/>
                    <a:pt x="7815580" y="1970"/>
                    <a:pt x="7974330" y="5780"/>
                  </a:cubicBezTo>
                  <a:cubicBezTo>
                    <a:pt x="8126730" y="9590"/>
                    <a:pt x="8268970" y="13400"/>
                    <a:pt x="8425180" y="28640"/>
                  </a:cubicBezTo>
                  <a:cubicBezTo>
                    <a:pt x="8597900" y="43880"/>
                    <a:pt x="8804910" y="69280"/>
                    <a:pt x="8962390" y="99760"/>
                  </a:cubicBezTo>
                  <a:cubicBezTo>
                    <a:pt x="9089390" y="123890"/>
                    <a:pt x="9173210" y="170880"/>
                    <a:pt x="9302750" y="187390"/>
                  </a:cubicBezTo>
                  <a:cubicBezTo>
                    <a:pt x="9469120" y="207710"/>
                    <a:pt x="9692640" y="183580"/>
                    <a:pt x="9879330" y="182310"/>
                  </a:cubicBezTo>
                  <a:cubicBezTo>
                    <a:pt x="10058400" y="181040"/>
                    <a:pt x="10234930" y="182310"/>
                    <a:pt x="10400030" y="182310"/>
                  </a:cubicBezTo>
                  <a:cubicBezTo>
                    <a:pt x="10552430" y="182310"/>
                    <a:pt x="10684510" y="165800"/>
                    <a:pt x="10838180" y="182310"/>
                  </a:cubicBezTo>
                  <a:cubicBezTo>
                    <a:pt x="11010900" y="200090"/>
                    <a:pt x="11297920" y="207710"/>
                    <a:pt x="11383010" y="300420"/>
                  </a:cubicBezTo>
                  <a:cubicBezTo>
                    <a:pt x="11442700" y="363920"/>
                    <a:pt x="11369040" y="523940"/>
                    <a:pt x="11418570" y="570930"/>
                  </a:cubicBezTo>
                  <a:cubicBezTo>
                    <a:pt x="11464290" y="615380"/>
                    <a:pt x="11570970" y="588710"/>
                    <a:pt x="11653520" y="592520"/>
                  </a:cubicBezTo>
                  <a:cubicBezTo>
                    <a:pt x="11743690" y="597600"/>
                    <a:pt x="11877040" y="600140"/>
                    <a:pt x="11939270" y="596330"/>
                  </a:cubicBezTo>
                  <a:cubicBezTo>
                    <a:pt x="11968480" y="593790"/>
                    <a:pt x="11973560" y="589980"/>
                    <a:pt x="12005310" y="584900"/>
                  </a:cubicBezTo>
                  <a:cubicBezTo>
                    <a:pt x="12086590" y="572200"/>
                    <a:pt x="12301220" y="540450"/>
                    <a:pt x="12438380" y="521400"/>
                  </a:cubicBezTo>
                  <a:cubicBezTo>
                    <a:pt x="12565380" y="503620"/>
                    <a:pt x="12800330" y="474410"/>
                    <a:pt x="12802870" y="474410"/>
                  </a:cubicBezTo>
                  <a:cubicBezTo>
                    <a:pt x="12804140" y="474410"/>
                    <a:pt x="12837160" y="476950"/>
                    <a:pt x="12854940" y="479490"/>
                  </a:cubicBezTo>
                  <a:cubicBezTo>
                    <a:pt x="12871450" y="480760"/>
                    <a:pt x="12905740" y="484570"/>
                    <a:pt x="12905740" y="484570"/>
                  </a:cubicBezTo>
                  <a:cubicBezTo>
                    <a:pt x="12907010" y="485840"/>
                    <a:pt x="12938760" y="497270"/>
                    <a:pt x="12955270" y="503620"/>
                  </a:cubicBezTo>
                  <a:cubicBezTo>
                    <a:pt x="12971780" y="508700"/>
                    <a:pt x="13003530" y="520130"/>
                    <a:pt x="13003530" y="521400"/>
                  </a:cubicBezTo>
                  <a:cubicBezTo>
                    <a:pt x="13004800" y="521400"/>
                    <a:pt x="13032739" y="540450"/>
                    <a:pt x="13046711" y="550610"/>
                  </a:cubicBezTo>
                  <a:cubicBezTo>
                    <a:pt x="13061950" y="559500"/>
                    <a:pt x="13089889" y="578550"/>
                    <a:pt x="13089889" y="578550"/>
                  </a:cubicBezTo>
                  <a:cubicBezTo>
                    <a:pt x="13091161" y="579820"/>
                    <a:pt x="13114020" y="605220"/>
                    <a:pt x="13125450" y="617920"/>
                  </a:cubicBezTo>
                  <a:cubicBezTo>
                    <a:pt x="13136880" y="630620"/>
                    <a:pt x="13159739" y="656020"/>
                    <a:pt x="13159739" y="656020"/>
                  </a:cubicBezTo>
                  <a:cubicBezTo>
                    <a:pt x="13161011" y="657290"/>
                    <a:pt x="13166089" y="687770"/>
                    <a:pt x="13181330" y="696660"/>
                  </a:cubicBezTo>
                  <a:cubicBezTo>
                    <a:pt x="13219430" y="715710"/>
                    <a:pt x="13364211" y="633160"/>
                    <a:pt x="13435330" y="676340"/>
                  </a:cubicBezTo>
                  <a:cubicBezTo>
                    <a:pt x="13547089" y="743650"/>
                    <a:pt x="13662661" y="1057340"/>
                    <a:pt x="13679170" y="1236410"/>
                  </a:cubicBezTo>
                  <a:cubicBezTo>
                    <a:pt x="13694411" y="1388810"/>
                    <a:pt x="13671550" y="1571690"/>
                    <a:pt x="13582650" y="1677100"/>
                  </a:cubicBezTo>
                  <a:cubicBezTo>
                    <a:pt x="13486130" y="1791400"/>
                    <a:pt x="13254989" y="1844740"/>
                    <a:pt x="13091161" y="1873950"/>
                  </a:cubicBezTo>
                  <a:cubicBezTo>
                    <a:pt x="12940030" y="1900620"/>
                    <a:pt x="12731750" y="1882840"/>
                    <a:pt x="12636500" y="1862520"/>
                  </a:cubicBezTo>
                  <a:cubicBezTo>
                    <a:pt x="12592050" y="1853630"/>
                    <a:pt x="12562840" y="1823150"/>
                    <a:pt x="12539980" y="1824420"/>
                  </a:cubicBezTo>
                  <a:cubicBezTo>
                    <a:pt x="12524740" y="1825690"/>
                    <a:pt x="12522200" y="1838390"/>
                    <a:pt x="12505690" y="1847280"/>
                  </a:cubicBezTo>
                  <a:cubicBezTo>
                    <a:pt x="12466320" y="1865060"/>
                    <a:pt x="12334240" y="1891730"/>
                    <a:pt x="12299950" y="1910780"/>
                  </a:cubicBezTo>
                  <a:cubicBezTo>
                    <a:pt x="12287250" y="1918400"/>
                    <a:pt x="12285980" y="1924750"/>
                    <a:pt x="12278360" y="1932370"/>
                  </a:cubicBezTo>
                  <a:cubicBezTo>
                    <a:pt x="12266930" y="1943800"/>
                    <a:pt x="12241530" y="1969200"/>
                    <a:pt x="12240260" y="1969200"/>
                  </a:cubicBezTo>
                  <a:cubicBezTo>
                    <a:pt x="12240260" y="1969200"/>
                    <a:pt x="12209780" y="1986980"/>
                    <a:pt x="12195810" y="1995870"/>
                  </a:cubicBezTo>
                  <a:cubicBezTo>
                    <a:pt x="12180570" y="2003490"/>
                    <a:pt x="12151360" y="2021270"/>
                    <a:pt x="12150090" y="2021270"/>
                  </a:cubicBezTo>
                  <a:cubicBezTo>
                    <a:pt x="12150090" y="2021270"/>
                    <a:pt x="12117070" y="2031430"/>
                    <a:pt x="12100560" y="2036510"/>
                  </a:cubicBezTo>
                  <a:cubicBezTo>
                    <a:pt x="12084050" y="2041590"/>
                    <a:pt x="12051030" y="2050480"/>
                    <a:pt x="12051030" y="2050480"/>
                  </a:cubicBezTo>
                  <a:cubicBezTo>
                    <a:pt x="12049760" y="2050480"/>
                    <a:pt x="11910060" y="2073340"/>
                    <a:pt x="11841480" y="2079690"/>
                  </a:cubicBezTo>
                  <a:cubicBezTo>
                    <a:pt x="11774170" y="2084770"/>
                    <a:pt x="11705590" y="2079690"/>
                    <a:pt x="11643360" y="2087310"/>
                  </a:cubicBezTo>
                  <a:cubicBezTo>
                    <a:pt x="11583670" y="2093660"/>
                    <a:pt x="11534140" y="2111440"/>
                    <a:pt x="11474450" y="2121600"/>
                  </a:cubicBezTo>
                  <a:cubicBezTo>
                    <a:pt x="11405870" y="2131760"/>
                    <a:pt x="11256010" y="2127950"/>
                    <a:pt x="11254740" y="2143190"/>
                  </a:cubicBezTo>
                  <a:cubicBezTo>
                    <a:pt x="11252200" y="2164780"/>
                    <a:pt x="11626850" y="2253680"/>
                    <a:pt x="11630660" y="2253680"/>
                  </a:cubicBezTo>
                  <a:cubicBezTo>
                    <a:pt x="11631930" y="2253680"/>
                    <a:pt x="11664950" y="2253680"/>
                    <a:pt x="11682730" y="2253680"/>
                  </a:cubicBezTo>
                  <a:cubicBezTo>
                    <a:pt x="11699240" y="2253680"/>
                    <a:pt x="11733530" y="2252410"/>
                    <a:pt x="11734800" y="2253680"/>
                  </a:cubicBezTo>
                  <a:cubicBezTo>
                    <a:pt x="11734800" y="2253680"/>
                    <a:pt x="11767820" y="2261300"/>
                    <a:pt x="11785600" y="2265110"/>
                  </a:cubicBezTo>
                  <a:cubicBezTo>
                    <a:pt x="11802110" y="2268920"/>
                    <a:pt x="11835130" y="2277810"/>
                    <a:pt x="11835130" y="2277810"/>
                  </a:cubicBezTo>
                  <a:cubicBezTo>
                    <a:pt x="11836400" y="2277810"/>
                    <a:pt x="11866880" y="2293050"/>
                    <a:pt x="11882120" y="2301940"/>
                  </a:cubicBezTo>
                  <a:cubicBezTo>
                    <a:pt x="11897360" y="2309560"/>
                    <a:pt x="11927840" y="2324800"/>
                    <a:pt x="11927840" y="2324800"/>
                  </a:cubicBezTo>
                  <a:cubicBezTo>
                    <a:pt x="11929110" y="2326070"/>
                    <a:pt x="11954510" y="2347660"/>
                    <a:pt x="11967210" y="2359090"/>
                  </a:cubicBezTo>
                  <a:cubicBezTo>
                    <a:pt x="11979910" y="2370520"/>
                    <a:pt x="12005310" y="2393380"/>
                    <a:pt x="12006580" y="2393380"/>
                  </a:cubicBezTo>
                  <a:cubicBezTo>
                    <a:pt x="12006580" y="2394650"/>
                    <a:pt x="12025630" y="2422590"/>
                    <a:pt x="12035790" y="2436560"/>
                  </a:cubicBezTo>
                  <a:cubicBezTo>
                    <a:pt x="12045950" y="2450530"/>
                    <a:pt x="12066270" y="2478470"/>
                    <a:pt x="12066270" y="2479740"/>
                  </a:cubicBezTo>
                  <a:cubicBezTo>
                    <a:pt x="12066270" y="2479740"/>
                    <a:pt x="12078970" y="2511490"/>
                    <a:pt x="12085320" y="2528000"/>
                  </a:cubicBezTo>
                  <a:cubicBezTo>
                    <a:pt x="12090400" y="2544510"/>
                    <a:pt x="12103100" y="2576260"/>
                    <a:pt x="12103100" y="2576260"/>
                  </a:cubicBezTo>
                  <a:cubicBezTo>
                    <a:pt x="12103100" y="2577530"/>
                    <a:pt x="12108180" y="2610550"/>
                    <a:pt x="12109450" y="2628330"/>
                  </a:cubicBezTo>
                  <a:cubicBezTo>
                    <a:pt x="12111990" y="2644840"/>
                    <a:pt x="12117070" y="2679130"/>
                    <a:pt x="12117070" y="2679130"/>
                  </a:cubicBezTo>
                  <a:cubicBezTo>
                    <a:pt x="12117070" y="2680400"/>
                    <a:pt x="12111990" y="2714690"/>
                    <a:pt x="12110720" y="2731200"/>
                  </a:cubicBezTo>
                  <a:cubicBezTo>
                    <a:pt x="12108180" y="2748980"/>
                    <a:pt x="12104370" y="2782000"/>
                    <a:pt x="12104370" y="2783270"/>
                  </a:cubicBezTo>
                  <a:cubicBezTo>
                    <a:pt x="12104370" y="2783270"/>
                    <a:pt x="12092940" y="2815020"/>
                    <a:pt x="12086590" y="2831530"/>
                  </a:cubicBezTo>
                  <a:cubicBezTo>
                    <a:pt x="12080240" y="2848040"/>
                    <a:pt x="12068810" y="2879790"/>
                    <a:pt x="12068810" y="2881060"/>
                  </a:cubicBezTo>
                  <a:cubicBezTo>
                    <a:pt x="12068810" y="2881060"/>
                    <a:pt x="12067540" y="2881060"/>
                    <a:pt x="12067540" y="2881060"/>
                  </a:cubicBezTo>
                  <a:cubicBezTo>
                    <a:pt x="12067540" y="2881060"/>
                    <a:pt x="12048490" y="2909000"/>
                    <a:pt x="12038330" y="2922970"/>
                  </a:cubicBezTo>
                  <a:cubicBezTo>
                    <a:pt x="12029440" y="2938210"/>
                    <a:pt x="12010390" y="2966150"/>
                    <a:pt x="12009120" y="2966150"/>
                  </a:cubicBezTo>
                  <a:cubicBezTo>
                    <a:pt x="12009120" y="2967420"/>
                    <a:pt x="11983720" y="2990280"/>
                    <a:pt x="11971020" y="3001710"/>
                  </a:cubicBezTo>
                  <a:cubicBezTo>
                    <a:pt x="11958320" y="3013140"/>
                    <a:pt x="11932920" y="3036000"/>
                    <a:pt x="11931650" y="3036000"/>
                  </a:cubicBezTo>
                  <a:cubicBezTo>
                    <a:pt x="11931650" y="3036000"/>
                    <a:pt x="11901170" y="3052510"/>
                    <a:pt x="11885930" y="3060130"/>
                  </a:cubicBezTo>
                  <a:cubicBezTo>
                    <a:pt x="11870690" y="3069020"/>
                    <a:pt x="11840210" y="3084260"/>
                    <a:pt x="11840210" y="3085530"/>
                  </a:cubicBezTo>
                  <a:cubicBezTo>
                    <a:pt x="11838940" y="3085530"/>
                    <a:pt x="11805920" y="3093150"/>
                    <a:pt x="11789410" y="3098230"/>
                  </a:cubicBezTo>
                  <a:cubicBezTo>
                    <a:pt x="11772900" y="3102040"/>
                    <a:pt x="11761470" y="3105850"/>
                    <a:pt x="11738610" y="3110930"/>
                  </a:cubicBezTo>
                  <a:cubicBezTo>
                    <a:pt x="11697970" y="3118550"/>
                    <a:pt x="11633200" y="3135060"/>
                    <a:pt x="11559540" y="3137600"/>
                  </a:cubicBezTo>
                  <a:cubicBezTo>
                    <a:pt x="11443970" y="3140140"/>
                    <a:pt x="11269980" y="3112200"/>
                    <a:pt x="11113770" y="3093150"/>
                  </a:cubicBezTo>
                  <a:cubicBezTo>
                    <a:pt x="10942320" y="3074100"/>
                    <a:pt x="10758170" y="3051240"/>
                    <a:pt x="10575290" y="3020760"/>
                  </a:cubicBezTo>
                  <a:cubicBezTo>
                    <a:pt x="10380980" y="2989010"/>
                    <a:pt x="10118090" y="2912810"/>
                    <a:pt x="9982200" y="2905190"/>
                  </a:cubicBezTo>
                  <a:cubicBezTo>
                    <a:pt x="9911080" y="2901380"/>
                    <a:pt x="9888220" y="2917890"/>
                    <a:pt x="9819640" y="2920430"/>
                  </a:cubicBezTo>
                  <a:cubicBezTo>
                    <a:pt x="9700260" y="2925510"/>
                    <a:pt x="9513570" y="2917890"/>
                    <a:pt x="9326880" y="2915350"/>
                  </a:cubicBezTo>
                  <a:cubicBezTo>
                    <a:pt x="9084310" y="2912810"/>
                    <a:pt x="8775700" y="2914080"/>
                    <a:pt x="8484870" y="2903920"/>
                  </a:cubicBezTo>
                  <a:cubicBezTo>
                    <a:pt x="8172450" y="2892490"/>
                    <a:pt x="7833360" y="2873440"/>
                    <a:pt x="7512050" y="2846770"/>
                  </a:cubicBezTo>
                  <a:cubicBezTo>
                    <a:pt x="7195820" y="2820100"/>
                    <a:pt x="6748780" y="2752790"/>
                    <a:pt x="6573520" y="2745170"/>
                  </a:cubicBezTo>
                  <a:cubicBezTo>
                    <a:pt x="6504940" y="2742630"/>
                    <a:pt x="6442710" y="2747710"/>
                    <a:pt x="6431280" y="2748980"/>
                  </a:cubicBezTo>
                  <a:cubicBezTo>
                    <a:pt x="6430010" y="2748980"/>
                    <a:pt x="6428740" y="2748980"/>
                    <a:pt x="6428740" y="2748980"/>
                  </a:cubicBezTo>
                  <a:cubicBezTo>
                    <a:pt x="6428740" y="2748980"/>
                    <a:pt x="6427470" y="2748980"/>
                    <a:pt x="6427470" y="2748980"/>
                  </a:cubicBezTo>
                  <a:cubicBezTo>
                    <a:pt x="6414770" y="2747710"/>
                    <a:pt x="6173470" y="2760410"/>
                    <a:pt x="5991860" y="2760410"/>
                  </a:cubicBezTo>
                  <a:cubicBezTo>
                    <a:pt x="5684520" y="2759140"/>
                    <a:pt x="4894580" y="2731200"/>
                    <a:pt x="4756150" y="2719770"/>
                  </a:cubicBezTo>
                  <a:cubicBezTo>
                    <a:pt x="4728210" y="2717230"/>
                    <a:pt x="4729480" y="2708340"/>
                    <a:pt x="4705350" y="2713420"/>
                  </a:cubicBezTo>
                  <a:cubicBezTo>
                    <a:pt x="4632960" y="2728660"/>
                    <a:pt x="4453890" y="2891220"/>
                    <a:pt x="4297680" y="2950910"/>
                  </a:cubicBezTo>
                  <a:cubicBezTo>
                    <a:pt x="4114800" y="3020760"/>
                    <a:pt x="3855720" y="3051240"/>
                    <a:pt x="3662680" y="3079180"/>
                  </a:cubicBezTo>
                  <a:cubicBezTo>
                    <a:pt x="3502660" y="3103310"/>
                    <a:pt x="3378200" y="3113470"/>
                    <a:pt x="3221990" y="3121090"/>
                  </a:cubicBezTo>
                  <a:cubicBezTo>
                    <a:pt x="3044190" y="3129980"/>
                    <a:pt x="2856230" y="3123630"/>
                    <a:pt x="2649220" y="3124900"/>
                  </a:cubicBezTo>
                  <a:cubicBezTo>
                    <a:pt x="2405380" y="3124900"/>
                    <a:pt x="2090420" y="3137600"/>
                    <a:pt x="1852930" y="3124900"/>
                  </a:cubicBezTo>
                  <a:cubicBezTo>
                    <a:pt x="1658620" y="3114740"/>
                    <a:pt x="1506220" y="3085530"/>
                    <a:pt x="1327150" y="3070290"/>
                  </a:cubicBezTo>
                  <a:cubicBezTo>
                    <a:pt x="1143000" y="3053780"/>
                    <a:pt x="939800" y="3055050"/>
                    <a:pt x="760730" y="3028380"/>
                  </a:cubicBezTo>
                  <a:cubicBezTo>
                    <a:pt x="595630" y="3001710"/>
                    <a:pt x="416560" y="2999170"/>
                    <a:pt x="289560" y="2915350"/>
                  </a:cubicBezTo>
                  <a:cubicBezTo>
                    <a:pt x="162560" y="2834070"/>
                    <a:pt x="0" y="2535620"/>
                    <a:pt x="0" y="2535620"/>
                  </a:cubicBezTo>
                </a:path>
              </a:pathLst>
            </a:custGeom>
            <a:solidFill>
              <a:srgbClr val="FFFFFF"/>
            </a:solidFill>
            <a:ln cap="sq">
              <a:noFill/>
              <a:prstDash val="solid"/>
              <a:miter/>
            </a:ln>
          </p:spPr>
        </p:sp>
      </p:grpSp>
      <p:sp>
        <p:nvSpPr>
          <p:cNvPr name="TextBox 25" id="25"/>
          <p:cNvSpPr txBox="true"/>
          <p:nvPr/>
        </p:nvSpPr>
        <p:spPr>
          <a:xfrm rot="0">
            <a:off x="1118830" y="1843417"/>
            <a:ext cx="8461400" cy="1309348"/>
          </a:xfrm>
          <a:prstGeom prst="rect">
            <a:avLst/>
          </a:prstGeom>
        </p:spPr>
        <p:txBody>
          <a:bodyPr anchor="t" rtlCol="false" tIns="0" lIns="0" bIns="0" rIns="0">
            <a:spAutoFit/>
          </a:bodyPr>
          <a:lstStyle/>
          <a:p>
            <a:pPr algn="ctr">
              <a:lnSpc>
                <a:spcPts val="4936"/>
              </a:lnSpc>
              <a:spcBef>
                <a:spcPct val="0"/>
              </a:spcBef>
            </a:pPr>
            <a:r>
              <a:rPr lang="en-US" b="true" sz="3525">
                <a:solidFill>
                  <a:srgbClr val="000000"/>
                </a:solidFill>
                <a:latin typeface="Calibri (MS) Bold"/>
                <a:ea typeface="Calibri (MS) Bold"/>
                <a:cs typeface="Calibri (MS) Bold"/>
                <a:sym typeface="Calibri (MS) Bold"/>
              </a:rPr>
              <a:t>Intelligent Healthcare </a:t>
            </a:r>
          </a:p>
          <a:p>
            <a:pPr algn="ctr">
              <a:lnSpc>
                <a:spcPts val="5076"/>
              </a:lnSpc>
              <a:spcBef>
                <a:spcPct val="0"/>
              </a:spcBef>
            </a:pPr>
            <a:r>
              <a:rPr lang="en-US" b="true" sz="3625">
                <a:solidFill>
                  <a:srgbClr val="000000"/>
                </a:solidFill>
                <a:latin typeface="Calibri (MS) Bold"/>
                <a:ea typeface="Calibri (MS) Bold"/>
                <a:cs typeface="Calibri (MS) Bold"/>
                <a:sym typeface="Calibri (MS) Bold"/>
              </a:rPr>
              <a:t>System for Multi-Disease Risk Assessment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4694" y="1851974"/>
            <a:ext cx="5485686" cy="4731382"/>
          </a:xfrm>
          <a:custGeom>
            <a:avLst/>
            <a:gdLst/>
            <a:ahLst/>
            <a:cxnLst/>
            <a:rect r="r" b="b" t="t" l="l"/>
            <a:pathLst>
              <a:path h="4731382" w="5485686">
                <a:moveTo>
                  <a:pt x="0" y="0"/>
                </a:moveTo>
                <a:lnTo>
                  <a:pt x="5485686" y="0"/>
                </a:lnTo>
                <a:lnTo>
                  <a:pt x="5485686" y="4731382"/>
                </a:lnTo>
                <a:lnTo>
                  <a:pt x="0" y="4731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15415" y="3474720"/>
            <a:ext cx="66675" cy="66675"/>
            <a:chOff x="0" y="0"/>
            <a:chExt cx="66675" cy="66675"/>
          </a:xfrm>
        </p:grpSpPr>
        <p:sp>
          <p:nvSpPr>
            <p:cNvPr name="Freeform 4" id="4"/>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954"/>
                    <a:pt x="9779" y="9779"/>
                  </a:cubicBezTo>
                  <a:cubicBezTo>
                    <a:pt x="12954" y="6604"/>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0B2545"/>
            </a:solidFill>
          </p:spPr>
        </p:sp>
      </p:grpSp>
      <p:grpSp>
        <p:nvGrpSpPr>
          <p:cNvPr name="Group 5" id="5"/>
          <p:cNvGrpSpPr/>
          <p:nvPr/>
        </p:nvGrpSpPr>
        <p:grpSpPr>
          <a:xfrm rot="0">
            <a:off x="1415415" y="4417695"/>
            <a:ext cx="66675" cy="66675"/>
            <a:chOff x="0" y="0"/>
            <a:chExt cx="66675" cy="66675"/>
          </a:xfrm>
        </p:grpSpPr>
        <p:sp>
          <p:nvSpPr>
            <p:cNvPr name="Freeform 6" id="6"/>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827"/>
                    <a:pt x="9779" y="9779"/>
                  </a:cubicBezTo>
                  <a:cubicBezTo>
                    <a:pt x="12954" y="6731"/>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0B2545"/>
            </a:solidFill>
          </p:spPr>
        </p:sp>
      </p:grpSp>
      <p:grpSp>
        <p:nvGrpSpPr>
          <p:cNvPr name="Group 7" id="7"/>
          <p:cNvGrpSpPr/>
          <p:nvPr/>
        </p:nvGrpSpPr>
        <p:grpSpPr>
          <a:xfrm rot="0">
            <a:off x="1415415" y="5046345"/>
            <a:ext cx="66675" cy="66675"/>
            <a:chOff x="0" y="0"/>
            <a:chExt cx="66675" cy="66675"/>
          </a:xfrm>
        </p:grpSpPr>
        <p:sp>
          <p:nvSpPr>
            <p:cNvPr name="Freeform 8" id="8"/>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827"/>
                    <a:pt x="9779" y="9779"/>
                  </a:cubicBezTo>
                  <a:cubicBezTo>
                    <a:pt x="12954" y="6731"/>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0B2545"/>
            </a:solidFill>
          </p:spPr>
        </p:sp>
      </p:grpSp>
      <p:sp>
        <p:nvSpPr>
          <p:cNvPr name="Freeform 9" id="9"/>
          <p:cNvSpPr/>
          <p:nvPr/>
        </p:nvSpPr>
        <p:spPr>
          <a:xfrm flipH="false" flipV="false" rot="0">
            <a:off x="6378254" y="1851974"/>
            <a:ext cx="5485686" cy="4731382"/>
          </a:xfrm>
          <a:custGeom>
            <a:avLst/>
            <a:gdLst/>
            <a:ahLst/>
            <a:cxnLst/>
            <a:rect r="r" b="b" t="t" l="l"/>
            <a:pathLst>
              <a:path h="4731382" w="5485686">
                <a:moveTo>
                  <a:pt x="0" y="0"/>
                </a:moveTo>
                <a:lnTo>
                  <a:pt x="5485686" y="0"/>
                </a:lnTo>
                <a:lnTo>
                  <a:pt x="5485686" y="4731382"/>
                </a:lnTo>
                <a:lnTo>
                  <a:pt x="0" y="47313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7038975" y="3474720"/>
            <a:ext cx="66675" cy="66675"/>
            <a:chOff x="0" y="0"/>
            <a:chExt cx="66675" cy="66675"/>
          </a:xfrm>
        </p:grpSpPr>
        <p:sp>
          <p:nvSpPr>
            <p:cNvPr name="Freeform 11" id="11"/>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954"/>
                    <a:pt x="9779" y="9779"/>
                  </a:cubicBezTo>
                  <a:cubicBezTo>
                    <a:pt x="12954" y="6604"/>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0B2545"/>
            </a:solidFill>
          </p:spPr>
        </p:sp>
      </p:grpSp>
      <p:grpSp>
        <p:nvGrpSpPr>
          <p:cNvPr name="Group 12" id="12"/>
          <p:cNvGrpSpPr/>
          <p:nvPr/>
        </p:nvGrpSpPr>
        <p:grpSpPr>
          <a:xfrm rot="0">
            <a:off x="7038975" y="4103370"/>
            <a:ext cx="66675" cy="66675"/>
            <a:chOff x="0" y="0"/>
            <a:chExt cx="66675" cy="66675"/>
          </a:xfrm>
        </p:grpSpPr>
        <p:sp>
          <p:nvSpPr>
            <p:cNvPr name="Freeform 13" id="13"/>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827"/>
                    <a:pt x="9779" y="9779"/>
                  </a:cubicBezTo>
                  <a:cubicBezTo>
                    <a:pt x="12954" y="6731"/>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0B2545"/>
            </a:solidFill>
          </p:spPr>
        </p:sp>
      </p:grpSp>
      <p:grpSp>
        <p:nvGrpSpPr>
          <p:cNvPr name="Group 14" id="14"/>
          <p:cNvGrpSpPr/>
          <p:nvPr/>
        </p:nvGrpSpPr>
        <p:grpSpPr>
          <a:xfrm rot="0">
            <a:off x="7038975" y="5046345"/>
            <a:ext cx="66675" cy="66675"/>
            <a:chOff x="0" y="0"/>
            <a:chExt cx="66675" cy="66675"/>
          </a:xfrm>
        </p:grpSpPr>
        <p:sp>
          <p:nvSpPr>
            <p:cNvPr name="Freeform 15" id="15"/>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827"/>
                    <a:pt x="9779" y="9779"/>
                  </a:cubicBezTo>
                  <a:cubicBezTo>
                    <a:pt x="12954" y="6731"/>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0B2545"/>
            </a:solidFill>
          </p:spPr>
        </p:sp>
      </p:grpSp>
      <p:sp>
        <p:nvSpPr>
          <p:cNvPr name="Freeform 16" id="16"/>
          <p:cNvSpPr/>
          <p:nvPr/>
        </p:nvSpPr>
        <p:spPr>
          <a:xfrm flipH="false" flipV="false" rot="0">
            <a:off x="12001814" y="1851974"/>
            <a:ext cx="5485686" cy="4731382"/>
          </a:xfrm>
          <a:custGeom>
            <a:avLst/>
            <a:gdLst/>
            <a:ahLst/>
            <a:cxnLst/>
            <a:rect r="r" b="b" t="t" l="l"/>
            <a:pathLst>
              <a:path h="4731382" w="5485686">
                <a:moveTo>
                  <a:pt x="0" y="0"/>
                </a:moveTo>
                <a:lnTo>
                  <a:pt x="5485686" y="0"/>
                </a:lnTo>
                <a:lnTo>
                  <a:pt x="5485686" y="4731382"/>
                </a:lnTo>
                <a:lnTo>
                  <a:pt x="0" y="47313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1371600" y="2400300"/>
            <a:ext cx="411480" cy="411480"/>
            <a:chOff x="0" y="0"/>
            <a:chExt cx="548640" cy="548640"/>
          </a:xfrm>
        </p:grpSpPr>
        <p:sp>
          <p:nvSpPr>
            <p:cNvPr name="Freeform 18" id="18"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8"/>
              <a:stretch>
                <a:fillRect l="0" t="0" r="0" b="0"/>
              </a:stretch>
            </a:blipFill>
          </p:spPr>
        </p:sp>
      </p:grpSp>
      <p:grpSp>
        <p:nvGrpSpPr>
          <p:cNvPr name="Group 19" id="19"/>
          <p:cNvGrpSpPr/>
          <p:nvPr/>
        </p:nvGrpSpPr>
        <p:grpSpPr>
          <a:xfrm rot="0">
            <a:off x="6995160" y="2400300"/>
            <a:ext cx="411480" cy="411480"/>
            <a:chOff x="0" y="0"/>
            <a:chExt cx="548640" cy="548640"/>
          </a:xfrm>
        </p:grpSpPr>
        <p:sp>
          <p:nvSpPr>
            <p:cNvPr name="Freeform 20" id="20"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9"/>
              <a:stretch>
                <a:fillRect l="0" t="0" r="0" b="0"/>
              </a:stretch>
            </a:blipFill>
          </p:spPr>
        </p:sp>
      </p:grpSp>
      <p:grpSp>
        <p:nvGrpSpPr>
          <p:cNvPr name="Group 21" id="21"/>
          <p:cNvGrpSpPr/>
          <p:nvPr/>
        </p:nvGrpSpPr>
        <p:grpSpPr>
          <a:xfrm rot="0">
            <a:off x="12618720" y="2400300"/>
            <a:ext cx="411480" cy="411480"/>
            <a:chOff x="0" y="0"/>
            <a:chExt cx="548640" cy="548640"/>
          </a:xfrm>
        </p:grpSpPr>
        <p:sp>
          <p:nvSpPr>
            <p:cNvPr name="Freeform 22" id="22"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0"/>
              <a:stretch>
                <a:fillRect l="0" t="0" r="0" b="0"/>
              </a:stretch>
            </a:blipFill>
          </p:spPr>
        </p:sp>
      </p:grpSp>
      <p:sp>
        <p:nvSpPr>
          <p:cNvPr name="Freeform 23" id="23"/>
          <p:cNvSpPr/>
          <p:nvPr/>
        </p:nvSpPr>
        <p:spPr>
          <a:xfrm flipH="false" flipV="false" rot="0">
            <a:off x="754694" y="6721154"/>
            <a:ext cx="5212775" cy="1439542"/>
          </a:xfrm>
          <a:custGeom>
            <a:avLst/>
            <a:gdLst/>
            <a:ahLst/>
            <a:cxnLst/>
            <a:rect r="r" b="b" t="t" l="l"/>
            <a:pathLst>
              <a:path h="1439542" w="5212775">
                <a:moveTo>
                  <a:pt x="0" y="0"/>
                </a:moveTo>
                <a:lnTo>
                  <a:pt x="5212776" y="0"/>
                </a:lnTo>
                <a:lnTo>
                  <a:pt x="5212776" y="1439542"/>
                </a:lnTo>
                <a:lnTo>
                  <a:pt x="0" y="14395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4" id="24"/>
          <p:cNvGrpSpPr/>
          <p:nvPr/>
        </p:nvGrpSpPr>
        <p:grpSpPr>
          <a:xfrm rot="0">
            <a:off x="12662535" y="3474720"/>
            <a:ext cx="66675" cy="66675"/>
            <a:chOff x="0" y="0"/>
            <a:chExt cx="66675" cy="66675"/>
          </a:xfrm>
        </p:grpSpPr>
        <p:sp>
          <p:nvSpPr>
            <p:cNvPr name="Freeform 25" id="25"/>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954"/>
                    <a:pt x="9779" y="9779"/>
                  </a:cubicBezTo>
                  <a:cubicBezTo>
                    <a:pt x="12954" y="6604"/>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0B2545"/>
            </a:solidFill>
          </p:spPr>
        </p:sp>
      </p:grpSp>
      <p:grpSp>
        <p:nvGrpSpPr>
          <p:cNvPr name="Group 26" id="26"/>
          <p:cNvGrpSpPr/>
          <p:nvPr/>
        </p:nvGrpSpPr>
        <p:grpSpPr>
          <a:xfrm rot="0">
            <a:off x="12662535" y="4103370"/>
            <a:ext cx="66675" cy="66675"/>
            <a:chOff x="0" y="0"/>
            <a:chExt cx="66675" cy="66675"/>
          </a:xfrm>
        </p:grpSpPr>
        <p:sp>
          <p:nvSpPr>
            <p:cNvPr name="Freeform 27" id="27"/>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827"/>
                    <a:pt x="9779" y="9779"/>
                  </a:cubicBezTo>
                  <a:cubicBezTo>
                    <a:pt x="12954" y="6731"/>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0B2545"/>
            </a:solidFill>
          </p:spPr>
        </p:sp>
      </p:grpSp>
      <p:grpSp>
        <p:nvGrpSpPr>
          <p:cNvPr name="Group 28" id="28"/>
          <p:cNvGrpSpPr/>
          <p:nvPr/>
        </p:nvGrpSpPr>
        <p:grpSpPr>
          <a:xfrm rot="0">
            <a:off x="12662535" y="4732020"/>
            <a:ext cx="66675" cy="66675"/>
            <a:chOff x="0" y="0"/>
            <a:chExt cx="66675" cy="66675"/>
          </a:xfrm>
        </p:grpSpPr>
        <p:sp>
          <p:nvSpPr>
            <p:cNvPr name="Freeform 29" id="29"/>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827"/>
                    <a:pt x="9779" y="9779"/>
                  </a:cubicBezTo>
                  <a:cubicBezTo>
                    <a:pt x="12954" y="6731"/>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0B2545"/>
            </a:solidFill>
          </p:spPr>
        </p:sp>
      </p:grpSp>
      <p:grpSp>
        <p:nvGrpSpPr>
          <p:cNvPr name="Group 30" id="30"/>
          <p:cNvGrpSpPr/>
          <p:nvPr/>
        </p:nvGrpSpPr>
        <p:grpSpPr>
          <a:xfrm rot="0">
            <a:off x="1303020" y="7228332"/>
            <a:ext cx="411480" cy="411480"/>
            <a:chOff x="0" y="0"/>
            <a:chExt cx="548640" cy="548640"/>
          </a:xfrm>
        </p:grpSpPr>
        <p:sp>
          <p:nvSpPr>
            <p:cNvPr name="Freeform 31" id="31"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3"/>
              <a:stretch>
                <a:fillRect l="0" t="0" r="0" b="0"/>
              </a:stretch>
            </a:blipFill>
          </p:spPr>
        </p:sp>
      </p:grpSp>
      <p:sp>
        <p:nvSpPr>
          <p:cNvPr name="Freeform 32" id="32"/>
          <p:cNvSpPr/>
          <p:nvPr/>
        </p:nvSpPr>
        <p:spPr>
          <a:xfrm flipH="false" flipV="false" rot="0">
            <a:off x="5994206" y="6721154"/>
            <a:ext cx="5733983" cy="1439542"/>
          </a:xfrm>
          <a:custGeom>
            <a:avLst/>
            <a:gdLst/>
            <a:ahLst/>
            <a:cxnLst/>
            <a:rect r="r" b="b" t="t" l="l"/>
            <a:pathLst>
              <a:path h="1439542" w="5733983">
                <a:moveTo>
                  <a:pt x="0" y="0"/>
                </a:moveTo>
                <a:lnTo>
                  <a:pt x="5733984" y="0"/>
                </a:lnTo>
                <a:lnTo>
                  <a:pt x="5733984" y="1439542"/>
                </a:lnTo>
                <a:lnTo>
                  <a:pt x="0" y="143954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3" id="33"/>
          <p:cNvSpPr/>
          <p:nvPr/>
        </p:nvSpPr>
        <p:spPr>
          <a:xfrm flipH="false" flipV="false" rot="0">
            <a:off x="11754926" y="6721154"/>
            <a:ext cx="5733983" cy="1439542"/>
          </a:xfrm>
          <a:custGeom>
            <a:avLst/>
            <a:gdLst/>
            <a:ahLst/>
            <a:cxnLst/>
            <a:rect r="r" b="b" t="t" l="l"/>
            <a:pathLst>
              <a:path h="1439542" w="5733983">
                <a:moveTo>
                  <a:pt x="0" y="0"/>
                </a:moveTo>
                <a:lnTo>
                  <a:pt x="5733984" y="0"/>
                </a:lnTo>
                <a:lnTo>
                  <a:pt x="5733984" y="1439542"/>
                </a:lnTo>
                <a:lnTo>
                  <a:pt x="0" y="143954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34" id="34"/>
          <p:cNvGrpSpPr/>
          <p:nvPr/>
        </p:nvGrpSpPr>
        <p:grpSpPr>
          <a:xfrm rot="0">
            <a:off x="7063740" y="7228332"/>
            <a:ext cx="411480" cy="411480"/>
            <a:chOff x="0" y="0"/>
            <a:chExt cx="548640" cy="548640"/>
          </a:xfrm>
        </p:grpSpPr>
        <p:sp>
          <p:nvSpPr>
            <p:cNvPr name="Freeform 35" id="35"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8"/>
              <a:stretch>
                <a:fillRect l="0" t="0" r="0" b="0"/>
              </a:stretch>
            </a:blipFill>
          </p:spPr>
        </p:sp>
      </p:grpSp>
      <p:grpSp>
        <p:nvGrpSpPr>
          <p:cNvPr name="Group 36" id="36"/>
          <p:cNvGrpSpPr/>
          <p:nvPr/>
        </p:nvGrpSpPr>
        <p:grpSpPr>
          <a:xfrm rot="0">
            <a:off x="12824460" y="7228332"/>
            <a:ext cx="411480" cy="411480"/>
            <a:chOff x="0" y="0"/>
            <a:chExt cx="548640" cy="548640"/>
          </a:xfrm>
        </p:grpSpPr>
        <p:sp>
          <p:nvSpPr>
            <p:cNvPr name="Freeform 37" id="37"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9"/>
              <a:stretch>
                <a:fillRect l="0" t="0" r="0" b="0"/>
              </a:stretch>
            </a:blipFill>
          </p:spPr>
        </p:sp>
      </p:grpSp>
      <p:sp>
        <p:nvSpPr>
          <p:cNvPr name="Freeform 38" id="38"/>
          <p:cNvSpPr/>
          <p:nvPr/>
        </p:nvSpPr>
        <p:spPr>
          <a:xfrm flipH="false" flipV="false" rot="0">
            <a:off x="754694" y="8367074"/>
            <a:ext cx="16732587" cy="1096642"/>
          </a:xfrm>
          <a:custGeom>
            <a:avLst/>
            <a:gdLst/>
            <a:ahLst/>
            <a:cxnLst/>
            <a:rect r="r" b="b" t="t" l="l"/>
            <a:pathLst>
              <a:path h="1096642" w="16732587">
                <a:moveTo>
                  <a:pt x="0" y="0"/>
                </a:moveTo>
                <a:lnTo>
                  <a:pt x="16732587" y="0"/>
                </a:lnTo>
                <a:lnTo>
                  <a:pt x="16732587" y="1096642"/>
                </a:lnTo>
                <a:lnTo>
                  <a:pt x="0" y="109664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39" id="39"/>
          <p:cNvGrpSpPr/>
          <p:nvPr/>
        </p:nvGrpSpPr>
        <p:grpSpPr>
          <a:xfrm rot="0">
            <a:off x="15784954" y="200911"/>
            <a:ext cx="2179863" cy="828675"/>
            <a:chOff x="0" y="0"/>
            <a:chExt cx="2906484" cy="1104900"/>
          </a:xfrm>
        </p:grpSpPr>
        <p:sp>
          <p:nvSpPr>
            <p:cNvPr name="Freeform 40" id="40"/>
            <p:cNvSpPr/>
            <p:nvPr/>
          </p:nvSpPr>
          <p:spPr>
            <a:xfrm flipH="false" flipV="false" rot="0">
              <a:off x="0" y="0"/>
              <a:ext cx="2906522" cy="1104900"/>
            </a:xfrm>
            <a:custGeom>
              <a:avLst/>
              <a:gdLst/>
              <a:ahLst/>
              <a:cxnLst/>
              <a:rect r="r" b="b" t="t" l="l"/>
              <a:pathLst>
                <a:path h="1104900" w="2906522">
                  <a:moveTo>
                    <a:pt x="0" y="0"/>
                  </a:moveTo>
                  <a:lnTo>
                    <a:pt x="2906522" y="0"/>
                  </a:lnTo>
                  <a:lnTo>
                    <a:pt x="2906522" y="1104900"/>
                  </a:lnTo>
                  <a:lnTo>
                    <a:pt x="0" y="1104900"/>
                  </a:lnTo>
                  <a:lnTo>
                    <a:pt x="0" y="0"/>
                  </a:lnTo>
                  <a:close/>
                </a:path>
              </a:pathLst>
            </a:custGeom>
            <a:blipFill>
              <a:blip r:embed="rId22"/>
              <a:stretch>
                <a:fillRect l="-3558" t="-4895" r="1" b="-4300"/>
              </a:stretch>
            </a:blipFill>
          </p:spPr>
        </p:sp>
      </p:grpSp>
      <p:grpSp>
        <p:nvGrpSpPr>
          <p:cNvPr name="Group 41" id="41"/>
          <p:cNvGrpSpPr/>
          <p:nvPr/>
        </p:nvGrpSpPr>
        <p:grpSpPr>
          <a:xfrm rot="0">
            <a:off x="754694" y="6721154"/>
            <a:ext cx="5211442" cy="1439542"/>
            <a:chOff x="0" y="0"/>
            <a:chExt cx="5211445" cy="1439545"/>
          </a:xfrm>
        </p:grpSpPr>
        <p:sp>
          <p:nvSpPr>
            <p:cNvPr name="Freeform 42" id="42"/>
            <p:cNvSpPr/>
            <p:nvPr/>
          </p:nvSpPr>
          <p:spPr>
            <a:xfrm flipH="false" flipV="false" rot="0">
              <a:off x="63500" y="63500"/>
              <a:ext cx="5084445" cy="1312545"/>
            </a:xfrm>
            <a:custGeom>
              <a:avLst/>
              <a:gdLst/>
              <a:ahLst/>
              <a:cxnLst/>
              <a:rect r="r" b="b" t="t" l="l"/>
              <a:pathLst>
                <a:path h="1312545" w="5084445">
                  <a:moveTo>
                    <a:pt x="0" y="1312545"/>
                  </a:moveTo>
                  <a:lnTo>
                    <a:pt x="5084445" y="1312545"/>
                  </a:lnTo>
                  <a:lnTo>
                    <a:pt x="5084445" y="0"/>
                  </a:lnTo>
                  <a:lnTo>
                    <a:pt x="0" y="0"/>
                  </a:lnTo>
                  <a:close/>
                </a:path>
              </a:pathLst>
            </a:custGeom>
            <a:solidFill>
              <a:srgbClr val="000000">
                <a:alpha val="0"/>
              </a:srgbClr>
            </a:solidFill>
          </p:spPr>
        </p:sp>
        <p:sp>
          <p:nvSpPr>
            <p:cNvPr name="Freeform 43" id="43"/>
            <p:cNvSpPr/>
            <p:nvPr/>
          </p:nvSpPr>
          <p:spPr>
            <a:xfrm flipH="false" flipV="false" rot="0">
              <a:off x="337820" y="296672"/>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44" id="44"/>
          <p:cNvGrpSpPr/>
          <p:nvPr/>
        </p:nvGrpSpPr>
        <p:grpSpPr>
          <a:xfrm rot="0">
            <a:off x="754694" y="1851974"/>
            <a:ext cx="5485762" cy="4731382"/>
            <a:chOff x="0" y="0"/>
            <a:chExt cx="5485765" cy="4731385"/>
          </a:xfrm>
        </p:grpSpPr>
        <p:sp>
          <p:nvSpPr>
            <p:cNvPr name="Freeform 45" id="45"/>
            <p:cNvSpPr/>
            <p:nvPr/>
          </p:nvSpPr>
          <p:spPr>
            <a:xfrm flipH="false" flipV="false" rot="0">
              <a:off x="63500" y="63500"/>
              <a:ext cx="5358765" cy="4604385"/>
            </a:xfrm>
            <a:custGeom>
              <a:avLst/>
              <a:gdLst/>
              <a:ahLst/>
              <a:cxnLst/>
              <a:rect r="r" b="b" t="t" l="l"/>
              <a:pathLst>
                <a:path h="4604385" w="5358765">
                  <a:moveTo>
                    <a:pt x="0" y="4604385"/>
                  </a:moveTo>
                  <a:lnTo>
                    <a:pt x="5358765" y="4604385"/>
                  </a:lnTo>
                  <a:lnTo>
                    <a:pt x="5358765" y="0"/>
                  </a:lnTo>
                  <a:lnTo>
                    <a:pt x="0" y="0"/>
                  </a:lnTo>
                  <a:close/>
                </a:path>
              </a:pathLst>
            </a:custGeom>
            <a:solidFill>
              <a:srgbClr val="000000">
                <a:alpha val="0"/>
              </a:srgbClr>
            </a:solidFill>
          </p:spPr>
        </p:sp>
        <p:sp>
          <p:nvSpPr>
            <p:cNvPr name="Freeform 46" id="46"/>
            <p:cNvSpPr/>
            <p:nvPr/>
          </p:nvSpPr>
          <p:spPr>
            <a:xfrm flipH="false" flipV="false" rot="0">
              <a:off x="406400" y="337820"/>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47" id="47"/>
          <p:cNvGrpSpPr/>
          <p:nvPr/>
        </p:nvGrpSpPr>
        <p:grpSpPr>
          <a:xfrm rot="0">
            <a:off x="5994206" y="6721154"/>
            <a:ext cx="5732650" cy="1439542"/>
            <a:chOff x="0" y="0"/>
            <a:chExt cx="5732653" cy="1439545"/>
          </a:xfrm>
        </p:grpSpPr>
        <p:sp>
          <p:nvSpPr>
            <p:cNvPr name="Freeform 48" id="48"/>
            <p:cNvSpPr/>
            <p:nvPr/>
          </p:nvSpPr>
          <p:spPr>
            <a:xfrm flipH="false" flipV="false" rot="0">
              <a:off x="63500" y="502412"/>
              <a:ext cx="421005" cy="421005"/>
            </a:xfrm>
            <a:custGeom>
              <a:avLst/>
              <a:gdLst/>
              <a:ahLst/>
              <a:cxnLst/>
              <a:rect r="r" b="b" t="t" l="l"/>
              <a:pathLst>
                <a:path h="421005" w="421005">
                  <a:moveTo>
                    <a:pt x="0" y="421005"/>
                  </a:moveTo>
                  <a:lnTo>
                    <a:pt x="421005" y="421005"/>
                  </a:lnTo>
                  <a:lnTo>
                    <a:pt x="421005" y="0"/>
                  </a:lnTo>
                  <a:lnTo>
                    <a:pt x="0" y="0"/>
                  </a:lnTo>
                  <a:close/>
                </a:path>
              </a:pathLst>
            </a:custGeom>
            <a:solidFill>
              <a:srgbClr val="000000">
                <a:alpha val="0"/>
              </a:srgbClr>
            </a:solidFill>
          </p:spPr>
        </p:sp>
        <p:sp>
          <p:nvSpPr>
            <p:cNvPr name="Freeform 49" id="49"/>
            <p:cNvSpPr/>
            <p:nvPr/>
          </p:nvSpPr>
          <p:spPr>
            <a:xfrm flipH="false" flipV="false" rot="0">
              <a:off x="584708" y="63500"/>
              <a:ext cx="5084445" cy="1312545"/>
            </a:xfrm>
            <a:custGeom>
              <a:avLst/>
              <a:gdLst/>
              <a:ahLst/>
              <a:cxnLst/>
              <a:rect r="r" b="b" t="t" l="l"/>
              <a:pathLst>
                <a:path h="1312545" w="5084445">
                  <a:moveTo>
                    <a:pt x="0" y="1312545"/>
                  </a:moveTo>
                  <a:lnTo>
                    <a:pt x="5084445" y="1312545"/>
                  </a:lnTo>
                  <a:lnTo>
                    <a:pt x="5084445" y="0"/>
                  </a:lnTo>
                  <a:lnTo>
                    <a:pt x="0" y="0"/>
                  </a:lnTo>
                  <a:close/>
                </a:path>
              </a:pathLst>
            </a:custGeom>
            <a:solidFill>
              <a:srgbClr val="000000">
                <a:alpha val="0"/>
              </a:srgbClr>
            </a:solidFill>
          </p:spPr>
        </p:sp>
        <p:sp>
          <p:nvSpPr>
            <p:cNvPr name="Freeform 50" id="50"/>
            <p:cNvSpPr/>
            <p:nvPr/>
          </p:nvSpPr>
          <p:spPr>
            <a:xfrm flipH="false" flipV="false" rot="0">
              <a:off x="859028" y="296672"/>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51" id="51"/>
          <p:cNvGrpSpPr/>
          <p:nvPr/>
        </p:nvGrpSpPr>
        <p:grpSpPr>
          <a:xfrm rot="0">
            <a:off x="6378254" y="1851974"/>
            <a:ext cx="5485762" cy="4731382"/>
            <a:chOff x="0" y="0"/>
            <a:chExt cx="5485765" cy="4731385"/>
          </a:xfrm>
        </p:grpSpPr>
        <p:sp>
          <p:nvSpPr>
            <p:cNvPr name="Freeform 52" id="52"/>
            <p:cNvSpPr/>
            <p:nvPr/>
          </p:nvSpPr>
          <p:spPr>
            <a:xfrm flipH="false" flipV="false" rot="0">
              <a:off x="63500" y="63500"/>
              <a:ext cx="5358765" cy="4604385"/>
            </a:xfrm>
            <a:custGeom>
              <a:avLst/>
              <a:gdLst/>
              <a:ahLst/>
              <a:cxnLst/>
              <a:rect r="r" b="b" t="t" l="l"/>
              <a:pathLst>
                <a:path h="4604385" w="5358765">
                  <a:moveTo>
                    <a:pt x="0" y="4604385"/>
                  </a:moveTo>
                  <a:lnTo>
                    <a:pt x="5358765" y="4604385"/>
                  </a:lnTo>
                  <a:lnTo>
                    <a:pt x="5358765" y="0"/>
                  </a:lnTo>
                  <a:lnTo>
                    <a:pt x="0" y="0"/>
                  </a:lnTo>
                  <a:close/>
                </a:path>
              </a:pathLst>
            </a:custGeom>
            <a:solidFill>
              <a:srgbClr val="000000">
                <a:alpha val="0"/>
              </a:srgbClr>
            </a:solidFill>
          </p:spPr>
        </p:sp>
        <p:sp>
          <p:nvSpPr>
            <p:cNvPr name="Freeform 53" id="53"/>
            <p:cNvSpPr/>
            <p:nvPr/>
          </p:nvSpPr>
          <p:spPr>
            <a:xfrm flipH="false" flipV="false" rot="0">
              <a:off x="406400" y="337820"/>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54" id="54"/>
          <p:cNvGrpSpPr/>
          <p:nvPr/>
        </p:nvGrpSpPr>
        <p:grpSpPr>
          <a:xfrm rot="0">
            <a:off x="818198" y="8430578"/>
            <a:ext cx="16605885" cy="969645"/>
            <a:chOff x="0" y="0"/>
            <a:chExt cx="16605885" cy="969645"/>
          </a:xfrm>
        </p:grpSpPr>
        <p:sp>
          <p:nvSpPr>
            <p:cNvPr name="Freeform 55" id="55"/>
            <p:cNvSpPr/>
            <p:nvPr/>
          </p:nvSpPr>
          <p:spPr>
            <a:xfrm flipH="false" flipV="false" rot="0">
              <a:off x="0" y="0"/>
              <a:ext cx="16605884" cy="969645"/>
            </a:xfrm>
            <a:custGeom>
              <a:avLst/>
              <a:gdLst/>
              <a:ahLst/>
              <a:cxnLst/>
              <a:rect r="r" b="b" t="t" l="l"/>
              <a:pathLst>
                <a:path h="969645" w="16605884">
                  <a:moveTo>
                    <a:pt x="0" y="969645"/>
                  </a:moveTo>
                  <a:lnTo>
                    <a:pt x="16605884" y="969645"/>
                  </a:lnTo>
                  <a:lnTo>
                    <a:pt x="16605884" y="0"/>
                  </a:lnTo>
                  <a:lnTo>
                    <a:pt x="0" y="0"/>
                  </a:lnTo>
                  <a:close/>
                </a:path>
              </a:pathLst>
            </a:custGeom>
            <a:solidFill>
              <a:srgbClr val="000000">
                <a:alpha val="0"/>
              </a:srgbClr>
            </a:solidFill>
          </p:spPr>
        </p:sp>
      </p:grpSp>
      <p:grpSp>
        <p:nvGrpSpPr>
          <p:cNvPr name="Group 56" id="56"/>
          <p:cNvGrpSpPr/>
          <p:nvPr/>
        </p:nvGrpSpPr>
        <p:grpSpPr>
          <a:xfrm rot="0">
            <a:off x="12001814" y="1851974"/>
            <a:ext cx="5485762" cy="4731382"/>
            <a:chOff x="0" y="0"/>
            <a:chExt cx="5485765" cy="4731385"/>
          </a:xfrm>
        </p:grpSpPr>
        <p:sp>
          <p:nvSpPr>
            <p:cNvPr name="Freeform 57" id="57"/>
            <p:cNvSpPr/>
            <p:nvPr/>
          </p:nvSpPr>
          <p:spPr>
            <a:xfrm flipH="false" flipV="false" rot="0">
              <a:off x="63500" y="63500"/>
              <a:ext cx="5358764" cy="4604385"/>
            </a:xfrm>
            <a:custGeom>
              <a:avLst/>
              <a:gdLst/>
              <a:ahLst/>
              <a:cxnLst/>
              <a:rect r="r" b="b" t="t" l="l"/>
              <a:pathLst>
                <a:path h="4604385" w="5358764">
                  <a:moveTo>
                    <a:pt x="0" y="4604385"/>
                  </a:moveTo>
                  <a:lnTo>
                    <a:pt x="5358764" y="4604385"/>
                  </a:lnTo>
                  <a:lnTo>
                    <a:pt x="5358764" y="0"/>
                  </a:lnTo>
                  <a:lnTo>
                    <a:pt x="0" y="0"/>
                  </a:lnTo>
                  <a:close/>
                </a:path>
              </a:pathLst>
            </a:custGeom>
            <a:solidFill>
              <a:srgbClr val="000000">
                <a:alpha val="0"/>
              </a:srgbClr>
            </a:solidFill>
          </p:spPr>
        </p:sp>
        <p:sp>
          <p:nvSpPr>
            <p:cNvPr name="Freeform 58" id="58"/>
            <p:cNvSpPr/>
            <p:nvPr/>
          </p:nvSpPr>
          <p:spPr>
            <a:xfrm flipH="false" flipV="false" rot="0">
              <a:off x="406400" y="337820"/>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59" id="59"/>
          <p:cNvGrpSpPr/>
          <p:nvPr/>
        </p:nvGrpSpPr>
        <p:grpSpPr>
          <a:xfrm rot="0">
            <a:off x="11754926" y="6721154"/>
            <a:ext cx="5732650" cy="1439542"/>
            <a:chOff x="0" y="0"/>
            <a:chExt cx="5732653" cy="1439545"/>
          </a:xfrm>
        </p:grpSpPr>
        <p:sp>
          <p:nvSpPr>
            <p:cNvPr name="Freeform 60" id="60"/>
            <p:cNvSpPr/>
            <p:nvPr/>
          </p:nvSpPr>
          <p:spPr>
            <a:xfrm flipH="false" flipV="false" rot="0">
              <a:off x="63500" y="502412"/>
              <a:ext cx="421005" cy="421005"/>
            </a:xfrm>
            <a:custGeom>
              <a:avLst/>
              <a:gdLst/>
              <a:ahLst/>
              <a:cxnLst/>
              <a:rect r="r" b="b" t="t" l="l"/>
              <a:pathLst>
                <a:path h="421005" w="421005">
                  <a:moveTo>
                    <a:pt x="0" y="421005"/>
                  </a:moveTo>
                  <a:lnTo>
                    <a:pt x="421005" y="421005"/>
                  </a:lnTo>
                  <a:lnTo>
                    <a:pt x="421005" y="0"/>
                  </a:lnTo>
                  <a:lnTo>
                    <a:pt x="0" y="0"/>
                  </a:lnTo>
                  <a:close/>
                </a:path>
              </a:pathLst>
            </a:custGeom>
            <a:solidFill>
              <a:srgbClr val="000000">
                <a:alpha val="0"/>
              </a:srgbClr>
            </a:solidFill>
          </p:spPr>
        </p:sp>
        <p:sp>
          <p:nvSpPr>
            <p:cNvPr name="Freeform 61" id="61"/>
            <p:cNvSpPr/>
            <p:nvPr/>
          </p:nvSpPr>
          <p:spPr>
            <a:xfrm flipH="false" flipV="false" rot="0">
              <a:off x="584708" y="63500"/>
              <a:ext cx="5084446" cy="1312545"/>
            </a:xfrm>
            <a:custGeom>
              <a:avLst/>
              <a:gdLst/>
              <a:ahLst/>
              <a:cxnLst/>
              <a:rect r="r" b="b" t="t" l="l"/>
              <a:pathLst>
                <a:path h="1312545" w="5084446">
                  <a:moveTo>
                    <a:pt x="0" y="1312545"/>
                  </a:moveTo>
                  <a:lnTo>
                    <a:pt x="5084446" y="1312545"/>
                  </a:lnTo>
                  <a:lnTo>
                    <a:pt x="5084446" y="0"/>
                  </a:lnTo>
                  <a:lnTo>
                    <a:pt x="0" y="0"/>
                  </a:lnTo>
                  <a:close/>
                </a:path>
              </a:pathLst>
            </a:custGeom>
            <a:solidFill>
              <a:srgbClr val="000000">
                <a:alpha val="0"/>
              </a:srgbClr>
            </a:solidFill>
          </p:spPr>
        </p:sp>
        <p:sp>
          <p:nvSpPr>
            <p:cNvPr name="Freeform 62" id="62"/>
            <p:cNvSpPr/>
            <p:nvPr/>
          </p:nvSpPr>
          <p:spPr>
            <a:xfrm flipH="false" flipV="false" rot="0">
              <a:off x="859028" y="296672"/>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sp>
        <p:nvSpPr>
          <p:cNvPr name="TextBox 63" id="63"/>
          <p:cNvSpPr txBox="true"/>
          <p:nvPr/>
        </p:nvSpPr>
        <p:spPr>
          <a:xfrm rot="0">
            <a:off x="822960" y="9673876"/>
            <a:ext cx="2720912"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AI Patient Risk Assessment System</a:t>
            </a:r>
          </a:p>
        </p:txBody>
      </p:sp>
      <p:sp>
        <p:nvSpPr>
          <p:cNvPr name="TextBox 64" id="64"/>
          <p:cNvSpPr txBox="true"/>
          <p:nvPr/>
        </p:nvSpPr>
        <p:spPr>
          <a:xfrm rot="0">
            <a:off x="17272397" y="9624346"/>
            <a:ext cx="98479"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2</a:t>
            </a:r>
          </a:p>
        </p:txBody>
      </p:sp>
      <p:sp>
        <p:nvSpPr>
          <p:cNvPr name="TextBox 65" id="65"/>
          <p:cNvSpPr txBox="true"/>
          <p:nvPr/>
        </p:nvSpPr>
        <p:spPr>
          <a:xfrm rot="0">
            <a:off x="822960" y="598456"/>
            <a:ext cx="6206385" cy="832085"/>
          </a:xfrm>
          <a:prstGeom prst="rect">
            <a:avLst/>
          </a:prstGeom>
        </p:spPr>
        <p:txBody>
          <a:bodyPr anchor="t" rtlCol="false" tIns="0" lIns="0" bIns="0" rIns="0">
            <a:spAutoFit/>
          </a:bodyPr>
          <a:lstStyle/>
          <a:p>
            <a:pPr algn="l">
              <a:lnSpc>
                <a:spcPts val="6719"/>
              </a:lnSpc>
            </a:pPr>
            <a:r>
              <a:rPr lang="en-US" b="true" sz="4800">
                <a:solidFill>
                  <a:srgbClr val="0B2545"/>
                </a:solidFill>
                <a:latin typeface="Cambria Bold"/>
                <a:ea typeface="Cambria Bold"/>
                <a:cs typeface="Cambria Bold"/>
                <a:sym typeface="Cambria Bold"/>
              </a:rPr>
              <a:t>Problem and Solution</a:t>
            </a:r>
          </a:p>
        </p:txBody>
      </p:sp>
      <p:sp>
        <p:nvSpPr>
          <p:cNvPr name="TextBox 66" id="66"/>
          <p:cNvSpPr txBox="true"/>
          <p:nvPr/>
        </p:nvSpPr>
        <p:spPr>
          <a:xfrm rot="0">
            <a:off x="2194560" y="2350008"/>
            <a:ext cx="2876007" cy="467678"/>
          </a:xfrm>
          <a:prstGeom prst="rect">
            <a:avLst/>
          </a:prstGeom>
        </p:spPr>
        <p:txBody>
          <a:bodyPr anchor="t" rtlCol="false" tIns="0" lIns="0" bIns="0" rIns="0">
            <a:spAutoFit/>
          </a:bodyPr>
          <a:lstStyle/>
          <a:p>
            <a:pPr algn="l">
              <a:lnSpc>
                <a:spcPts val="3569"/>
              </a:lnSpc>
            </a:pPr>
            <a:r>
              <a:rPr lang="en-US" b="true" sz="2550">
                <a:solidFill>
                  <a:srgbClr val="0B2545"/>
                </a:solidFill>
                <a:latin typeface="Calibri (MS) Bold"/>
                <a:ea typeface="Calibri (MS) Bold"/>
                <a:cs typeface="Calibri (MS) Bold"/>
                <a:sym typeface="Calibri (MS) Bold"/>
              </a:rPr>
              <a:t>The Existing Problem</a:t>
            </a:r>
          </a:p>
        </p:txBody>
      </p:sp>
      <p:sp>
        <p:nvSpPr>
          <p:cNvPr name="TextBox 67" id="67"/>
          <p:cNvSpPr txBox="true"/>
          <p:nvPr/>
        </p:nvSpPr>
        <p:spPr>
          <a:xfrm rot="0">
            <a:off x="7818120" y="2350008"/>
            <a:ext cx="3111008" cy="467678"/>
          </a:xfrm>
          <a:prstGeom prst="rect">
            <a:avLst/>
          </a:prstGeom>
        </p:spPr>
        <p:txBody>
          <a:bodyPr anchor="t" rtlCol="false" tIns="0" lIns="0" bIns="0" rIns="0">
            <a:spAutoFit/>
          </a:bodyPr>
          <a:lstStyle/>
          <a:p>
            <a:pPr algn="l">
              <a:lnSpc>
                <a:spcPts val="3569"/>
              </a:lnSpc>
            </a:pPr>
            <a:r>
              <a:rPr lang="en-US" b="true" sz="2550">
                <a:solidFill>
                  <a:srgbClr val="0B2545"/>
                </a:solidFill>
                <a:latin typeface="Calibri (MS) Bold"/>
                <a:ea typeface="Calibri (MS) Bold"/>
                <a:cs typeface="Calibri (MS) Bold"/>
                <a:sym typeface="Calibri (MS) Bold"/>
              </a:rPr>
              <a:t>Our Proposed Solution</a:t>
            </a:r>
          </a:p>
        </p:txBody>
      </p:sp>
      <p:sp>
        <p:nvSpPr>
          <p:cNvPr name="TextBox 68" id="68"/>
          <p:cNvSpPr txBox="true"/>
          <p:nvPr/>
        </p:nvSpPr>
        <p:spPr>
          <a:xfrm rot="0">
            <a:off x="13441680" y="2350008"/>
            <a:ext cx="2156155" cy="467678"/>
          </a:xfrm>
          <a:prstGeom prst="rect">
            <a:avLst/>
          </a:prstGeom>
        </p:spPr>
        <p:txBody>
          <a:bodyPr anchor="t" rtlCol="false" tIns="0" lIns="0" bIns="0" rIns="0">
            <a:spAutoFit/>
          </a:bodyPr>
          <a:lstStyle/>
          <a:p>
            <a:pPr algn="l">
              <a:lnSpc>
                <a:spcPts val="3569"/>
              </a:lnSpc>
            </a:pPr>
            <a:r>
              <a:rPr lang="en-US" b="true" sz="2550">
                <a:solidFill>
                  <a:srgbClr val="0B2545"/>
                </a:solidFill>
                <a:latin typeface="Calibri (MS) Bold"/>
                <a:ea typeface="Calibri (MS) Bold"/>
                <a:cs typeface="Calibri (MS) Bold"/>
                <a:sym typeface="Calibri (MS) Bold"/>
              </a:rPr>
              <a:t>Why It Is Useful</a:t>
            </a:r>
          </a:p>
        </p:txBody>
      </p:sp>
      <p:sp>
        <p:nvSpPr>
          <p:cNvPr name="TextBox 69" id="69"/>
          <p:cNvSpPr txBox="true"/>
          <p:nvPr/>
        </p:nvSpPr>
        <p:spPr>
          <a:xfrm rot="0">
            <a:off x="1614402" y="3338036"/>
            <a:ext cx="4302738" cy="2230755"/>
          </a:xfrm>
          <a:prstGeom prst="rect">
            <a:avLst/>
          </a:prstGeom>
        </p:spPr>
        <p:txBody>
          <a:bodyPr anchor="t" rtlCol="false" tIns="0" lIns="0" bIns="0" rIns="0">
            <a:spAutoFit/>
          </a:bodyPr>
          <a:lstStyle/>
          <a:p>
            <a:pPr algn="l">
              <a:lnSpc>
                <a:spcPts val="2475"/>
              </a:lnSpc>
            </a:pPr>
            <a:r>
              <a:rPr lang="en-US" sz="2100">
                <a:solidFill>
                  <a:srgbClr val="0B2545"/>
                </a:solidFill>
                <a:latin typeface="Calibri (MS)"/>
                <a:ea typeface="Calibri (MS)"/>
                <a:cs typeface="Calibri (MS)"/>
                <a:sym typeface="Calibri (MS)"/>
              </a:rPr>
              <a:t>A patient can have more than one condition at the same time, such as diabetes with high blood pressure. Checking every combination by hand is slow, tiring and easy to get wrong. Health records are large, so hidden patterns are easy to miss.</a:t>
            </a:r>
          </a:p>
        </p:txBody>
      </p:sp>
      <p:sp>
        <p:nvSpPr>
          <p:cNvPr name="TextBox 70" id="70"/>
          <p:cNvSpPr txBox="true"/>
          <p:nvPr/>
        </p:nvSpPr>
        <p:spPr>
          <a:xfrm rot="0">
            <a:off x="7237962" y="3338036"/>
            <a:ext cx="4337399" cy="2230755"/>
          </a:xfrm>
          <a:prstGeom prst="rect">
            <a:avLst/>
          </a:prstGeom>
        </p:spPr>
        <p:txBody>
          <a:bodyPr anchor="t" rtlCol="false" tIns="0" lIns="0" bIns="0" rIns="0">
            <a:spAutoFit/>
          </a:bodyPr>
          <a:lstStyle/>
          <a:p>
            <a:pPr algn="l">
              <a:lnSpc>
                <a:spcPts val="2475"/>
              </a:lnSpc>
            </a:pPr>
            <a:r>
              <a:rPr lang="en-US" sz="2100">
                <a:solidFill>
                  <a:srgbClr val="0B2545"/>
                </a:solidFill>
                <a:latin typeface="Calibri (MS)"/>
                <a:ea typeface="Calibri (MS)"/>
                <a:cs typeface="Calibri (MS)"/>
                <a:sym typeface="Calibri (MS)"/>
              </a:rPr>
              <a:t>A machine learning model learns patterns from past health records.</a:t>
            </a:r>
          </a:p>
          <a:p>
            <a:pPr algn="l">
              <a:lnSpc>
                <a:spcPts val="2475"/>
              </a:lnSpc>
            </a:pPr>
            <a:r>
              <a:rPr lang="en-US" sz="2100">
                <a:solidFill>
                  <a:srgbClr val="0B2545"/>
                </a:solidFill>
                <a:latin typeface="Calibri (MS)"/>
                <a:ea typeface="Calibri (MS)"/>
                <a:cs typeface="Calibri (MS)"/>
                <a:sym typeface="Calibri (MS)"/>
              </a:rPr>
              <a:t>For new measurements, it predicts 1 of 8 classes: normal, one disease, or a combination.</a:t>
            </a:r>
          </a:p>
          <a:p>
            <a:pPr algn="l">
              <a:lnSpc>
                <a:spcPts val="2475"/>
              </a:lnSpc>
            </a:pPr>
            <a:r>
              <a:rPr lang="en-US" sz="2100">
                <a:solidFill>
                  <a:srgbClr val="0B2545"/>
                </a:solidFill>
                <a:latin typeface="Calibri (MS)"/>
                <a:ea typeface="Calibri (MS)"/>
                <a:cs typeface="Calibri (MS)"/>
                <a:sym typeface="Calibri (MS)"/>
              </a:rPr>
              <a:t>A simple interface makes the result easy to read.</a:t>
            </a:r>
          </a:p>
        </p:txBody>
      </p:sp>
      <p:sp>
        <p:nvSpPr>
          <p:cNvPr name="TextBox 71" id="71"/>
          <p:cNvSpPr txBox="true"/>
          <p:nvPr/>
        </p:nvSpPr>
        <p:spPr>
          <a:xfrm rot="0">
            <a:off x="12861522" y="3338036"/>
            <a:ext cx="4069490" cy="1916430"/>
          </a:xfrm>
          <a:prstGeom prst="rect">
            <a:avLst/>
          </a:prstGeom>
        </p:spPr>
        <p:txBody>
          <a:bodyPr anchor="t" rtlCol="false" tIns="0" lIns="0" bIns="0" rIns="0">
            <a:spAutoFit/>
          </a:bodyPr>
          <a:lstStyle/>
          <a:p>
            <a:pPr algn="l">
              <a:lnSpc>
                <a:spcPts val="2475"/>
              </a:lnSpc>
            </a:pPr>
            <a:r>
              <a:rPr lang="en-US" sz="2100">
                <a:solidFill>
                  <a:srgbClr val="0B2545"/>
                </a:solidFill>
                <a:latin typeface="Calibri (MS)"/>
                <a:ea typeface="Calibri (MS)"/>
                <a:cs typeface="Calibri (MS)"/>
                <a:sym typeface="Calibri (MS)"/>
              </a:rPr>
              <a:t>Gives a quick and consistent first assessment.</a:t>
            </a:r>
          </a:p>
          <a:p>
            <a:pPr algn="l">
              <a:lnSpc>
                <a:spcPts val="2475"/>
              </a:lnSpc>
            </a:pPr>
            <a:r>
              <a:rPr lang="en-US" sz="2100">
                <a:solidFill>
                  <a:srgbClr val="0B2545"/>
                </a:solidFill>
                <a:latin typeface="Calibri (MS)"/>
                <a:ea typeface="Calibri (MS)"/>
                <a:cs typeface="Calibri (MS)"/>
                <a:sym typeface="Calibri (MS)"/>
              </a:rPr>
              <a:t>Looks at several conditions together, not one at a time.</a:t>
            </a:r>
          </a:p>
          <a:p>
            <a:pPr algn="l">
              <a:lnSpc>
                <a:spcPts val="2475"/>
              </a:lnSpc>
            </a:pPr>
            <a:r>
              <a:rPr lang="en-US" sz="2100">
                <a:solidFill>
                  <a:srgbClr val="0B2545"/>
                </a:solidFill>
                <a:latin typeface="Calibri (MS)"/>
                <a:ea typeface="Calibri (MS)"/>
                <a:cs typeface="Calibri (MS)"/>
                <a:sym typeface="Calibri (MS)"/>
              </a:rPr>
              <a:t>Can highlight cases that may need a doctor's attention.</a:t>
            </a:r>
          </a:p>
        </p:txBody>
      </p:sp>
      <p:sp>
        <p:nvSpPr>
          <p:cNvPr name="TextBox 72" id="72"/>
          <p:cNvSpPr txBox="true"/>
          <p:nvPr/>
        </p:nvSpPr>
        <p:spPr>
          <a:xfrm rot="0">
            <a:off x="2125980" y="7073322"/>
            <a:ext cx="927745" cy="423862"/>
          </a:xfrm>
          <a:prstGeom prst="rect">
            <a:avLst/>
          </a:prstGeom>
        </p:spPr>
        <p:txBody>
          <a:bodyPr anchor="t" rtlCol="false" tIns="0" lIns="0" bIns="0" rIns="0">
            <a:spAutoFit/>
          </a:bodyPr>
          <a:lstStyle/>
          <a:p>
            <a:pPr algn="l">
              <a:lnSpc>
                <a:spcPts val="3149"/>
              </a:lnSpc>
            </a:pPr>
            <a:r>
              <a:rPr lang="en-US" b="true" sz="2250">
                <a:solidFill>
                  <a:srgbClr val="0B2545"/>
                </a:solidFill>
                <a:latin typeface="Calibri (MS) Bold"/>
                <a:ea typeface="Calibri (MS) Bold"/>
                <a:cs typeface="Calibri (MS) Bold"/>
                <a:sym typeface="Calibri (MS) Bold"/>
              </a:rPr>
              <a:t>1 Input</a:t>
            </a:r>
          </a:p>
        </p:txBody>
      </p:sp>
      <p:sp>
        <p:nvSpPr>
          <p:cNvPr name="TextBox 73" id="73"/>
          <p:cNvSpPr txBox="true"/>
          <p:nvPr/>
        </p:nvSpPr>
        <p:spPr>
          <a:xfrm rot="0">
            <a:off x="2793025" y="7420756"/>
            <a:ext cx="52711" cy="339090"/>
          </a:xfrm>
          <a:prstGeom prst="rect">
            <a:avLst/>
          </a:prstGeom>
        </p:spPr>
        <p:txBody>
          <a:bodyPr anchor="t" rtlCol="false" tIns="0" lIns="0" bIns="0" rIns="0">
            <a:spAutoFit/>
          </a:bodyPr>
          <a:lstStyle/>
          <a:p>
            <a:pPr algn="l">
              <a:lnSpc>
                <a:spcPts val="2520"/>
              </a:lnSpc>
            </a:pPr>
            <a:r>
              <a:rPr lang="en-US" sz="1800">
                <a:solidFill>
                  <a:srgbClr val="0B2545"/>
                </a:solidFill>
                <a:latin typeface="Calibri (MS)"/>
                <a:ea typeface="Calibri (MS)"/>
                <a:cs typeface="Calibri (MS)"/>
                <a:sym typeface="Calibri (MS)"/>
              </a:rPr>
              <a:t> </a:t>
            </a:r>
          </a:p>
        </p:txBody>
      </p:sp>
      <p:sp>
        <p:nvSpPr>
          <p:cNvPr name="TextBox 74" id="74"/>
          <p:cNvSpPr txBox="true"/>
          <p:nvPr/>
        </p:nvSpPr>
        <p:spPr>
          <a:xfrm rot="0">
            <a:off x="7886700" y="7073322"/>
            <a:ext cx="1065933" cy="423862"/>
          </a:xfrm>
          <a:prstGeom prst="rect">
            <a:avLst/>
          </a:prstGeom>
        </p:spPr>
        <p:txBody>
          <a:bodyPr anchor="t" rtlCol="false" tIns="0" lIns="0" bIns="0" rIns="0">
            <a:spAutoFit/>
          </a:bodyPr>
          <a:lstStyle/>
          <a:p>
            <a:pPr algn="l">
              <a:lnSpc>
                <a:spcPts val="3149"/>
              </a:lnSpc>
            </a:pPr>
            <a:r>
              <a:rPr lang="en-US" b="true" sz="2250">
                <a:solidFill>
                  <a:srgbClr val="0B2545"/>
                </a:solidFill>
                <a:latin typeface="Calibri (MS) Bold"/>
                <a:ea typeface="Calibri (MS) Bold"/>
                <a:cs typeface="Calibri (MS) Bold"/>
                <a:sym typeface="Calibri (MS) Bold"/>
              </a:rPr>
              <a:t>2 Model</a:t>
            </a:r>
          </a:p>
        </p:txBody>
      </p:sp>
      <p:sp>
        <p:nvSpPr>
          <p:cNvPr name="TextBox 75" id="75"/>
          <p:cNvSpPr txBox="true"/>
          <p:nvPr/>
        </p:nvSpPr>
        <p:spPr>
          <a:xfrm rot="0">
            <a:off x="8663692" y="7420756"/>
            <a:ext cx="52711" cy="339090"/>
          </a:xfrm>
          <a:prstGeom prst="rect">
            <a:avLst/>
          </a:prstGeom>
        </p:spPr>
        <p:txBody>
          <a:bodyPr anchor="t" rtlCol="false" tIns="0" lIns="0" bIns="0" rIns="0">
            <a:spAutoFit/>
          </a:bodyPr>
          <a:lstStyle/>
          <a:p>
            <a:pPr algn="l">
              <a:lnSpc>
                <a:spcPts val="2520"/>
              </a:lnSpc>
            </a:pPr>
            <a:r>
              <a:rPr lang="en-US" sz="1800">
                <a:solidFill>
                  <a:srgbClr val="0B2545"/>
                </a:solidFill>
                <a:latin typeface="Calibri (MS)"/>
                <a:ea typeface="Calibri (MS)"/>
                <a:cs typeface="Calibri (MS)"/>
                <a:sym typeface="Calibri (MS)"/>
              </a:rPr>
              <a:t> </a:t>
            </a:r>
          </a:p>
        </p:txBody>
      </p:sp>
      <p:sp>
        <p:nvSpPr>
          <p:cNvPr name="TextBox 76" id="76"/>
          <p:cNvSpPr txBox="true"/>
          <p:nvPr/>
        </p:nvSpPr>
        <p:spPr>
          <a:xfrm rot="0">
            <a:off x="1234440" y="8665131"/>
            <a:ext cx="13391750" cy="434330"/>
          </a:xfrm>
          <a:prstGeom prst="rect">
            <a:avLst/>
          </a:prstGeom>
        </p:spPr>
        <p:txBody>
          <a:bodyPr anchor="t" rtlCol="false" tIns="0" lIns="0" bIns="0" rIns="0">
            <a:spAutoFit/>
          </a:bodyPr>
          <a:lstStyle/>
          <a:p>
            <a:pPr algn="l">
              <a:lnSpc>
                <a:spcPts val="3149"/>
              </a:lnSpc>
            </a:pPr>
            <a:r>
              <a:rPr lang="en-US" b="true" sz="2250">
                <a:solidFill>
                  <a:srgbClr val="F2A541"/>
                </a:solidFill>
                <a:latin typeface="Calibri (MS) Bold"/>
                <a:ea typeface="Calibri (MS) Bold"/>
                <a:cs typeface="Calibri (MS) Bold"/>
                <a:sym typeface="Calibri (MS) Bold"/>
              </a:rPr>
              <a:t>Important: </a:t>
            </a:r>
            <a:r>
              <a:rPr lang="en-US" sz="2250">
                <a:solidFill>
                  <a:srgbClr val="FFFFFF"/>
                </a:solidFill>
                <a:latin typeface="Calibri (MS)"/>
                <a:ea typeface="Calibri (MS)"/>
                <a:cs typeface="Calibri (MS)"/>
                <a:sym typeface="Calibri (MS)"/>
              </a:rPr>
              <a:t>this system supports health assessment. It is not a replacement for a doctor or a confirmed diagnosis.</a:t>
            </a:r>
          </a:p>
        </p:txBody>
      </p:sp>
      <p:sp>
        <p:nvSpPr>
          <p:cNvPr name="TextBox 77" id="77"/>
          <p:cNvSpPr txBox="true"/>
          <p:nvPr/>
        </p:nvSpPr>
        <p:spPr>
          <a:xfrm rot="0">
            <a:off x="13647420" y="7073322"/>
            <a:ext cx="1148191" cy="423862"/>
          </a:xfrm>
          <a:prstGeom prst="rect">
            <a:avLst/>
          </a:prstGeom>
        </p:spPr>
        <p:txBody>
          <a:bodyPr anchor="t" rtlCol="false" tIns="0" lIns="0" bIns="0" rIns="0">
            <a:spAutoFit/>
          </a:bodyPr>
          <a:lstStyle/>
          <a:p>
            <a:pPr algn="l">
              <a:lnSpc>
                <a:spcPts val="3149"/>
              </a:lnSpc>
            </a:pPr>
            <a:r>
              <a:rPr lang="en-US" b="true" sz="2250">
                <a:solidFill>
                  <a:srgbClr val="0B2545"/>
                </a:solidFill>
                <a:latin typeface="Calibri (MS) Bold"/>
                <a:ea typeface="Calibri (MS) Bold"/>
                <a:cs typeface="Calibri (MS) Bold"/>
                <a:sym typeface="Calibri (MS) Bold"/>
              </a:rPr>
              <a:t>3 Output</a:t>
            </a:r>
          </a:p>
        </p:txBody>
      </p:sp>
      <p:sp>
        <p:nvSpPr>
          <p:cNvPr name="TextBox 78" id="78"/>
          <p:cNvSpPr txBox="true"/>
          <p:nvPr/>
        </p:nvSpPr>
        <p:spPr>
          <a:xfrm rot="0">
            <a:off x="14032621" y="7420756"/>
            <a:ext cx="52711" cy="339090"/>
          </a:xfrm>
          <a:prstGeom prst="rect">
            <a:avLst/>
          </a:prstGeom>
        </p:spPr>
        <p:txBody>
          <a:bodyPr anchor="t" rtlCol="false" tIns="0" lIns="0" bIns="0" rIns="0">
            <a:spAutoFit/>
          </a:bodyPr>
          <a:lstStyle/>
          <a:p>
            <a:pPr algn="l">
              <a:lnSpc>
                <a:spcPts val="2520"/>
              </a:lnSpc>
            </a:pPr>
            <a:r>
              <a:rPr lang="en-US" sz="1800">
                <a:solidFill>
                  <a:srgbClr val="0B2545"/>
                </a:solidFill>
                <a:latin typeface="Calibri (MS)"/>
                <a:ea typeface="Calibri (MS)"/>
                <a:cs typeface="Calibri (MS)"/>
                <a:sym typeface="Calibri (MS)"/>
              </a:rPr>
              <a:t> </a:t>
            </a:r>
          </a:p>
        </p:txBody>
      </p:sp>
      <p:sp>
        <p:nvSpPr>
          <p:cNvPr name="TextBox 79" id="79"/>
          <p:cNvSpPr txBox="true"/>
          <p:nvPr/>
        </p:nvSpPr>
        <p:spPr>
          <a:xfrm rot="0">
            <a:off x="2125980" y="7420756"/>
            <a:ext cx="3319062" cy="339090"/>
          </a:xfrm>
          <a:prstGeom prst="rect">
            <a:avLst/>
          </a:prstGeom>
        </p:spPr>
        <p:txBody>
          <a:bodyPr anchor="t" rtlCol="false" tIns="0" lIns="0" bIns="0" rIns="0">
            <a:spAutoFit/>
          </a:bodyPr>
          <a:lstStyle/>
          <a:p>
            <a:pPr algn="l">
              <a:lnSpc>
                <a:spcPts val="2520"/>
              </a:lnSpc>
            </a:pPr>
            <a:r>
              <a:rPr lang="en-US" sz="1800">
                <a:solidFill>
                  <a:srgbClr val="0B2545"/>
                </a:solidFill>
                <a:latin typeface="Calibri (MS)"/>
                <a:ea typeface="Calibri (MS)"/>
                <a:cs typeface="Calibri (MS)"/>
                <a:sym typeface="Calibri (MS)"/>
              </a:rPr>
              <a:t>Patientmeasurements are entered</a:t>
            </a:r>
          </a:p>
        </p:txBody>
      </p:sp>
      <p:sp>
        <p:nvSpPr>
          <p:cNvPr name="TextBox 80" id="80"/>
          <p:cNvSpPr txBox="true"/>
          <p:nvPr/>
        </p:nvSpPr>
        <p:spPr>
          <a:xfrm rot="0">
            <a:off x="7886700" y="7420756"/>
            <a:ext cx="3087824" cy="339090"/>
          </a:xfrm>
          <a:prstGeom prst="rect">
            <a:avLst/>
          </a:prstGeom>
        </p:spPr>
        <p:txBody>
          <a:bodyPr anchor="t" rtlCol="false" tIns="0" lIns="0" bIns="0" rIns="0">
            <a:spAutoFit/>
          </a:bodyPr>
          <a:lstStyle/>
          <a:p>
            <a:pPr algn="l">
              <a:lnSpc>
                <a:spcPts val="2520"/>
              </a:lnSpc>
            </a:pPr>
            <a:r>
              <a:rPr lang="en-US" sz="1800">
                <a:solidFill>
                  <a:srgbClr val="0B2545"/>
                </a:solidFill>
                <a:latin typeface="Calibri (MS)"/>
                <a:ea typeface="Calibri (MS)"/>
                <a:cs typeface="Calibri (MS)"/>
                <a:sym typeface="Calibri (MS)"/>
              </a:rPr>
              <a:t>RandomForest finds the pattern</a:t>
            </a:r>
          </a:p>
        </p:txBody>
      </p:sp>
      <p:sp>
        <p:nvSpPr>
          <p:cNvPr name="TextBox 81" id="81"/>
          <p:cNvSpPr txBox="true"/>
          <p:nvPr/>
        </p:nvSpPr>
        <p:spPr>
          <a:xfrm rot="0">
            <a:off x="13647420" y="7420756"/>
            <a:ext cx="3538109" cy="339090"/>
          </a:xfrm>
          <a:prstGeom prst="rect">
            <a:avLst/>
          </a:prstGeom>
        </p:spPr>
        <p:txBody>
          <a:bodyPr anchor="t" rtlCol="false" tIns="0" lIns="0" bIns="0" rIns="0">
            <a:spAutoFit/>
          </a:bodyPr>
          <a:lstStyle/>
          <a:p>
            <a:pPr algn="l">
              <a:lnSpc>
                <a:spcPts val="2520"/>
              </a:lnSpc>
            </a:pPr>
            <a:r>
              <a:rPr lang="en-US" sz="1800">
                <a:solidFill>
                  <a:srgbClr val="0B2545"/>
                </a:solidFill>
                <a:latin typeface="Calibri (MS)"/>
                <a:ea typeface="Calibri (MS)"/>
                <a:cs typeface="Calibri (MS)"/>
                <a:sym typeface="Calibri (MS)"/>
              </a:rPr>
              <a:t>Oneof8disease-combination classes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4694" y="1920554"/>
            <a:ext cx="5487095" cy="2193922"/>
          </a:xfrm>
          <a:custGeom>
            <a:avLst/>
            <a:gdLst/>
            <a:ahLst/>
            <a:cxnLst/>
            <a:rect r="r" b="b" t="t" l="l"/>
            <a:pathLst>
              <a:path h="2193922" w="5487095">
                <a:moveTo>
                  <a:pt x="0" y="0"/>
                </a:moveTo>
                <a:lnTo>
                  <a:pt x="5487096" y="0"/>
                </a:lnTo>
                <a:lnTo>
                  <a:pt x="5487096" y="2193922"/>
                </a:lnTo>
                <a:lnTo>
                  <a:pt x="0" y="21939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4694" y="4320854"/>
            <a:ext cx="5487095" cy="2193922"/>
          </a:xfrm>
          <a:custGeom>
            <a:avLst/>
            <a:gdLst/>
            <a:ahLst/>
            <a:cxnLst/>
            <a:rect r="r" b="b" t="t" l="l"/>
            <a:pathLst>
              <a:path h="2193922" w="5487095">
                <a:moveTo>
                  <a:pt x="0" y="0"/>
                </a:moveTo>
                <a:lnTo>
                  <a:pt x="5487096" y="0"/>
                </a:lnTo>
                <a:lnTo>
                  <a:pt x="5487096" y="2193922"/>
                </a:lnTo>
                <a:lnTo>
                  <a:pt x="0" y="21939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54694" y="6721154"/>
            <a:ext cx="5487095" cy="2193922"/>
          </a:xfrm>
          <a:custGeom>
            <a:avLst/>
            <a:gdLst/>
            <a:ahLst/>
            <a:cxnLst/>
            <a:rect r="r" b="b" t="t" l="l"/>
            <a:pathLst>
              <a:path h="2193922" w="5487095">
                <a:moveTo>
                  <a:pt x="0" y="0"/>
                </a:moveTo>
                <a:lnTo>
                  <a:pt x="5487096" y="0"/>
                </a:lnTo>
                <a:lnTo>
                  <a:pt x="5487096" y="2193922"/>
                </a:lnTo>
                <a:lnTo>
                  <a:pt x="0" y="21939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378254" y="1920554"/>
            <a:ext cx="5487095" cy="2193922"/>
          </a:xfrm>
          <a:custGeom>
            <a:avLst/>
            <a:gdLst/>
            <a:ahLst/>
            <a:cxnLst/>
            <a:rect r="r" b="b" t="t" l="l"/>
            <a:pathLst>
              <a:path h="2193922" w="5487095">
                <a:moveTo>
                  <a:pt x="0" y="0"/>
                </a:moveTo>
                <a:lnTo>
                  <a:pt x="5487096" y="0"/>
                </a:lnTo>
                <a:lnTo>
                  <a:pt x="5487096" y="2193922"/>
                </a:lnTo>
                <a:lnTo>
                  <a:pt x="0" y="21939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6378254" y="4320854"/>
            <a:ext cx="5487095" cy="2193922"/>
          </a:xfrm>
          <a:custGeom>
            <a:avLst/>
            <a:gdLst/>
            <a:ahLst/>
            <a:cxnLst/>
            <a:rect r="r" b="b" t="t" l="l"/>
            <a:pathLst>
              <a:path h="2193922" w="5487095">
                <a:moveTo>
                  <a:pt x="0" y="0"/>
                </a:moveTo>
                <a:lnTo>
                  <a:pt x="5487096" y="0"/>
                </a:lnTo>
                <a:lnTo>
                  <a:pt x="5487096" y="2193922"/>
                </a:lnTo>
                <a:lnTo>
                  <a:pt x="0" y="21939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378254" y="6721154"/>
            <a:ext cx="5487095" cy="2193922"/>
          </a:xfrm>
          <a:custGeom>
            <a:avLst/>
            <a:gdLst/>
            <a:ahLst/>
            <a:cxnLst/>
            <a:rect r="r" b="b" t="t" l="l"/>
            <a:pathLst>
              <a:path h="2193922" w="5487095">
                <a:moveTo>
                  <a:pt x="0" y="0"/>
                </a:moveTo>
                <a:lnTo>
                  <a:pt x="5487096" y="0"/>
                </a:lnTo>
                <a:lnTo>
                  <a:pt x="5487096" y="2193922"/>
                </a:lnTo>
                <a:lnTo>
                  <a:pt x="0" y="21939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2001814" y="1920554"/>
            <a:ext cx="5487095" cy="2193922"/>
          </a:xfrm>
          <a:custGeom>
            <a:avLst/>
            <a:gdLst/>
            <a:ahLst/>
            <a:cxnLst/>
            <a:rect r="r" b="b" t="t" l="l"/>
            <a:pathLst>
              <a:path h="2193922" w="5487095">
                <a:moveTo>
                  <a:pt x="0" y="0"/>
                </a:moveTo>
                <a:lnTo>
                  <a:pt x="5487096" y="0"/>
                </a:lnTo>
                <a:lnTo>
                  <a:pt x="5487096" y="2193922"/>
                </a:lnTo>
                <a:lnTo>
                  <a:pt x="0" y="2193922"/>
                </a:lnTo>
                <a:lnTo>
                  <a:pt x="0" y="0"/>
                </a:lnTo>
                <a:close/>
              </a:path>
            </a:pathLst>
          </a:custGeom>
          <a:blipFill>
            <a:blip r:embed="rId2">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2001814" y="4320854"/>
            <a:ext cx="5487095" cy="2193922"/>
          </a:xfrm>
          <a:custGeom>
            <a:avLst/>
            <a:gdLst/>
            <a:ahLst/>
            <a:cxnLst/>
            <a:rect r="r" b="b" t="t" l="l"/>
            <a:pathLst>
              <a:path h="2193922" w="5487095">
                <a:moveTo>
                  <a:pt x="0" y="0"/>
                </a:moveTo>
                <a:lnTo>
                  <a:pt x="5487096" y="0"/>
                </a:lnTo>
                <a:lnTo>
                  <a:pt x="5487096" y="2193922"/>
                </a:lnTo>
                <a:lnTo>
                  <a:pt x="0" y="2193922"/>
                </a:lnTo>
                <a:lnTo>
                  <a:pt x="0" y="0"/>
                </a:lnTo>
                <a:close/>
              </a:path>
            </a:pathLst>
          </a:custGeom>
          <a:blipFill>
            <a:blip r:embed="rId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12001814" y="6721154"/>
            <a:ext cx="5487095" cy="2193922"/>
          </a:xfrm>
          <a:custGeom>
            <a:avLst/>
            <a:gdLst/>
            <a:ahLst/>
            <a:cxnLst/>
            <a:rect r="r" b="b" t="t" l="l"/>
            <a:pathLst>
              <a:path h="2193922" w="5487095">
                <a:moveTo>
                  <a:pt x="0" y="0"/>
                </a:moveTo>
                <a:lnTo>
                  <a:pt x="5487096" y="0"/>
                </a:lnTo>
                <a:lnTo>
                  <a:pt x="5487096" y="2193922"/>
                </a:lnTo>
                <a:lnTo>
                  <a:pt x="0" y="2193922"/>
                </a:lnTo>
                <a:lnTo>
                  <a:pt x="0" y="0"/>
                </a:lnTo>
                <a:close/>
              </a:path>
            </a:pathLst>
          </a:custGeom>
          <a:blipFill>
            <a:blip r:embed="rId6">
              <a:extLst>
                <a:ext uri="{96DAC541-7B7A-43D3-8B79-37D633B846F1}">
                  <asvg:svgBlip xmlns:asvg="http://schemas.microsoft.com/office/drawing/2016/SVG/main" r:embed="rId16"/>
                </a:ext>
              </a:extLst>
            </a:blip>
            <a:stretch>
              <a:fillRect l="0" t="0" r="0" b="0"/>
            </a:stretch>
          </a:blipFill>
        </p:spPr>
      </p:sp>
      <p:grpSp>
        <p:nvGrpSpPr>
          <p:cNvPr name="Group 11" id="11"/>
          <p:cNvGrpSpPr/>
          <p:nvPr/>
        </p:nvGrpSpPr>
        <p:grpSpPr>
          <a:xfrm rot="0">
            <a:off x="15784954" y="200911"/>
            <a:ext cx="2179863" cy="828675"/>
            <a:chOff x="0" y="0"/>
            <a:chExt cx="2906484" cy="1104900"/>
          </a:xfrm>
        </p:grpSpPr>
        <p:sp>
          <p:nvSpPr>
            <p:cNvPr name="Freeform 12" id="12"/>
            <p:cNvSpPr/>
            <p:nvPr/>
          </p:nvSpPr>
          <p:spPr>
            <a:xfrm flipH="false" flipV="false" rot="0">
              <a:off x="0" y="0"/>
              <a:ext cx="2906522" cy="1104900"/>
            </a:xfrm>
            <a:custGeom>
              <a:avLst/>
              <a:gdLst/>
              <a:ahLst/>
              <a:cxnLst/>
              <a:rect r="r" b="b" t="t" l="l"/>
              <a:pathLst>
                <a:path h="1104900" w="2906522">
                  <a:moveTo>
                    <a:pt x="0" y="0"/>
                  </a:moveTo>
                  <a:lnTo>
                    <a:pt x="2906522" y="0"/>
                  </a:lnTo>
                  <a:lnTo>
                    <a:pt x="2906522" y="1104900"/>
                  </a:lnTo>
                  <a:lnTo>
                    <a:pt x="0" y="1104900"/>
                  </a:lnTo>
                  <a:lnTo>
                    <a:pt x="0" y="0"/>
                  </a:lnTo>
                  <a:close/>
                </a:path>
              </a:pathLst>
            </a:custGeom>
            <a:blipFill>
              <a:blip r:embed="rId17"/>
              <a:stretch>
                <a:fillRect l="-3558" t="-4895" r="1" b="-4300"/>
              </a:stretch>
            </a:blipFill>
          </p:spPr>
        </p:sp>
      </p:grpSp>
      <p:grpSp>
        <p:nvGrpSpPr>
          <p:cNvPr name="Group 13" id="13"/>
          <p:cNvGrpSpPr/>
          <p:nvPr/>
        </p:nvGrpSpPr>
        <p:grpSpPr>
          <a:xfrm rot="0">
            <a:off x="754694" y="1920554"/>
            <a:ext cx="5485762" cy="2193922"/>
            <a:chOff x="0" y="0"/>
            <a:chExt cx="5485765" cy="2193925"/>
          </a:xfrm>
        </p:grpSpPr>
        <p:sp>
          <p:nvSpPr>
            <p:cNvPr name="Freeform 14" id="14"/>
            <p:cNvSpPr/>
            <p:nvPr/>
          </p:nvSpPr>
          <p:spPr>
            <a:xfrm flipH="false" flipV="false" rot="0">
              <a:off x="63500" y="63500"/>
              <a:ext cx="5358765" cy="2066925"/>
            </a:xfrm>
            <a:custGeom>
              <a:avLst/>
              <a:gdLst/>
              <a:ahLst/>
              <a:cxnLst/>
              <a:rect r="r" b="b" t="t" l="l"/>
              <a:pathLst>
                <a:path h="2066925" w="5358765">
                  <a:moveTo>
                    <a:pt x="0" y="2066925"/>
                  </a:moveTo>
                  <a:lnTo>
                    <a:pt x="5358765" y="2066925"/>
                  </a:lnTo>
                  <a:lnTo>
                    <a:pt x="5358765" y="0"/>
                  </a:lnTo>
                  <a:lnTo>
                    <a:pt x="0" y="0"/>
                  </a:lnTo>
                  <a:close/>
                </a:path>
              </a:pathLst>
            </a:custGeom>
            <a:solidFill>
              <a:srgbClr val="000000">
                <a:alpha val="0"/>
              </a:srgbClr>
            </a:solidFill>
          </p:spPr>
        </p:sp>
        <p:sp>
          <p:nvSpPr>
            <p:cNvPr name="Freeform 15" id="15"/>
            <p:cNvSpPr/>
            <p:nvPr/>
          </p:nvSpPr>
          <p:spPr>
            <a:xfrm flipH="false" flipV="false" rot="0">
              <a:off x="406400" y="365252"/>
              <a:ext cx="626745" cy="626745"/>
            </a:xfrm>
            <a:custGeom>
              <a:avLst/>
              <a:gdLst/>
              <a:ahLst/>
              <a:cxnLst/>
              <a:rect r="r" b="b" t="t" l="l"/>
              <a:pathLst>
                <a:path h="626745" w="626745">
                  <a:moveTo>
                    <a:pt x="0" y="626745"/>
                  </a:moveTo>
                  <a:lnTo>
                    <a:pt x="626745" y="626745"/>
                  </a:lnTo>
                  <a:lnTo>
                    <a:pt x="626745" y="0"/>
                  </a:lnTo>
                  <a:lnTo>
                    <a:pt x="0" y="0"/>
                  </a:lnTo>
                  <a:close/>
                </a:path>
              </a:pathLst>
            </a:custGeom>
            <a:solidFill>
              <a:srgbClr val="000000">
                <a:alpha val="0"/>
              </a:srgbClr>
            </a:solidFill>
          </p:spPr>
        </p:sp>
        <p:sp>
          <p:nvSpPr>
            <p:cNvPr name="Freeform 16" id="16"/>
            <p:cNvSpPr/>
            <p:nvPr/>
          </p:nvSpPr>
          <p:spPr>
            <a:xfrm flipH="false" flipV="false" rot="0">
              <a:off x="1297940" y="1435100"/>
              <a:ext cx="1861185" cy="448437"/>
            </a:xfrm>
            <a:custGeom>
              <a:avLst/>
              <a:gdLst/>
              <a:ahLst/>
              <a:cxnLst/>
              <a:rect r="r" b="b" t="t" l="l"/>
              <a:pathLst>
                <a:path h="448437" w="1861185">
                  <a:moveTo>
                    <a:pt x="0" y="448437"/>
                  </a:moveTo>
                  <a:lnTo>
                    <a:pt x="1861185" y="448437"/>
                  </a:lnTo>
                  <a:lnTo>
                    <a:pt x="1861185" y="0"/>
                  </a:lnTo>
                  <a:lnTo>
                    <a:pt x="0" y="0"/>
                  </a:lnTo>
                  <a:close/>
                </a:path>
              </a:pathLst>
            </a:custGeom>
            <a:solidFill>
              <a:srgbClr val="000000">
                <a:alpha val="0"/>
              </a:srgbClr>
            </a:solidFill>
          </p:spPr>
        </p:sp>
      </p:grpSp>
      <p:grpSp>
        <p:nvGrpSpPr>
          <p:cNvPr name="Group 17" id="17"/>
          <p:cNvGrpSpPr/>
          <p:nvPr/>
        </p:nvGrpSpPr>
        <p:grpSpPr>
          <a:xfrm rot="0">
            <a:off x="754694" y="4320854"/>
            <a:ext cx="5485762" cy="2193922"/>
            <a:chOff x="0" y="0"/>
            <a:chExt cx="5485765" cy="2193925"/>
          </a:xfrm>
        </p:grpSpPr>
        <p:sp>
          <p:nvSpPr>
            <p:cNvPr name="Freeform 18" id="18"/>
            <p:cNvSpPr/>
            <p:nvPr/>
          </p:nvSpPr>
          <p:spPr>
            <a:xfrm flipH="false" flipV="false" rot="0">
              <a:off x="63500" y="63500"/>
              <a:ext cx="5358765" cy="2066925"/>
            </a:xfrm>
            <a:custGeom>
              <a:avLst/>
              <a:gdLst/>
              <a:ahLst/>
              <a:cxnLst/>
              <a:rect r="r" b="b" t="t" l="l"/>
              <a:pathLst>
                <a:path h="2066925" w="5358765">
                  <a:moveTo>
                    <a:pt x="0" y="2066925"/>
                  </a:moveTo>
                  <a:lnTo>
                    <a:pt x="5358765" y="2066925"/>
                  </a:lnTo>
                  <a:lnTo>
                    <a:pt x="5358765" y="0"/>
                  </a:lnTo>
                  <a:lnTo>
                    <a:pt x="0" y="0"/>
                  </a:lnTo>
                  <a:close/>
                </a:path>
              </a:pathLst>
            </a:custGeom>
            <a:solidFill>
              <a:srgbClr val="000000">
                <a:alpha val="0"/>
              </a:srgbClr>
            </a:solidFill>
          </p:spPr>
        </p:sp>
        <p:sp>
          <p:nvSpPr>
            <p:cNvPr name="Freeform 19" id="19"/>
            <p:cNvSpPr/>
            <p:nvPr/>
          </p:nvSpPr>
          <p:spPr>
            <a:xfrm flipH="false" flipV="false" rot="0">
              <a:off x="406400" y="365252"/>
              <a:ext cx="626745" cy="626745"/>
            </a:xfrm>
            <a:custGeom>
              <a:avLst/>
              <a:gdLst/>
              <a:ahLst/>
              <a:cxnLst/>
              <a:rect r="r" b="b" t="t" l="l"/>
              <a:pathLst>
                <a:path h="626745" w="626745">
                  <a:moveTo>
                    <a:pt x="0" y="626745"/>
                  </a:moveTo>
                  <a:lnTo>
                    <a:pt x="626745" y="626745"/>
                  </a:lnTo>
                  <a:lnTo>
                    <a:pt x="626745" y="0"/>
                  </a:lnTo>
                  <a:lnTo>
                    <a:pt x="0" y="0"/>
                  </a:lnTo>
                  <a:close/>
                </a:path>
              </a:pathLst>
            </a:custGeom>
            <a:solidFill>
              <a:srgbClr val="000000">
                <a:alpha val="0"/>
              </a:srgbClr>
            </a:solidFill>
          </p:spPr>
        </p:sp>
        <p:sp>
          <p:nvSpPr>
            <p:cNvPr name="Freeform 20" id="20"/>
            <p:cNvSpPr/>
            <p:nvPr/>
          </p:nvSpPr>
          <p:spPr>
            <a:xfrm flipH="false" flipV="false" rot="0">
              <a:off x="1297940" y="1435100"/>
              <a:ext cx="1861185" cy="448437"/>
            </a:xfrm>
            <a:custGeom>
              <a:avLst/>
              <a:gdLst/>
              <a:ahLst/>
              <a:cxnLst/>
              <a:rect r="r" b="b" t="t" l="l"/>
              <a:pathLst>
                <a:path h="448437" w="1861185">
                  <a:moveTo>
                    <a:pt x="0" y="448437"/>
                  </a:moveTo>
                  <a:lnTo>
                    <a:pt x="1861185" y="448437"/>
                  </a:lnTo>
                  <a:lnTo>
                    <a:pt x="1861185" y="0"/>
                  </a:lnTo>
                  <a:lnTo>
                    <a:pt x="0" y="0"/>
                  </a:lnTo>
                  <a:close/>
                </a:path>
              </a:pathLst>
            </a:custGeom>
            <a:solidFill>
              <a:srgbClr val="000000">
                <a:alpha val="0"/>
              </a:srgbClr>
            </a:solidFill>
          </p:spPr>
        </p:sp>
      </p:grpSp>
      <p:grpSp>
        <p:nvGrpSpPr>
          <p:cNvPr name="Group 21" id="21"/>
          <p:cNvGrpSpPr/>
          <p:nvPr/>
        </p:nvGrpSpPr>
        <p:grpSpPr>
          <a:xfrm rot="0">
            <a:off x="754694" y="6721154"/>
            <a:ext cx="5485762" cy="2193922"/>
            <a:chOff x="0" y="0"/>
            <a:chExt cx="5485765" cy="2193925"/>
          </a:xfrm>
        </p:grpSpPr>
        <p:sp>
          <p:nvSpPr>
            <p:cNvPr name="Freeform 22" id="22"/>
            <p:cNvSpPr/>
            <p:nvPr/>
          </p:nvSpPr>
          <p:spPr>
            <a:xfrm flipH="false" flipV="false" rot="0">
              <a:off x="63500" y="63500"/>
              <a:ext cx="5358765" cy="2066925"/>
            </a:xfrm>
            <a:custGeom>
              <a:avLst/>
              <a:gdLst/>
              <a:ahLst/>
              <a:cxnLst/>
              <a:rect r="r" b="b" t="t" l="l"/>
              <a:pathLst>
                <a:path h="2066925" w="5358765">
                  <a:moveTo>
                    <a:pt x="0" y="2066925"/>
                  </a:moveTo>
                  <a:lnTo>
                    <a:pt x="5358765" y="2066925"/>
                  </a:lnTo>
                  <a:lnTo>
                    <a:pt x="5358765" y="0"/>
                  </a:lnTo>
                  <a:lnTo>
                    <a:pt x="0" y="0"/>
                  </a:lnTo>
                  <a:close/>
                </a:path>
              </a:pathLst>
            </a:custGeom>
            <a:solidFill>
              <a:srgbClr val="000000">
                <a:alpha val="0"/>
              </a:srgbClr>
            </a:solidFill>
          </p:spPr>
        </p:sp>
        <p:sp>
          <p:nvSpPr>
            <p:cNvPr name="Freeform 23" id="23"/>
            <p:cNvSpPr/>
            <p:nvPr/>
          </p:nvSpPr>
          <p:spPr>
            <a:xfrm flipH="false" flipV="false" rot="0">
              <a:off x="406400" y="365252"/>
              <a:ext cx="626745" cy="626745"/>
            </a:xfrm>
            <a:custGeom>
              <a:avLst/>
              <a:gdLst/>
              <a:ahLst/>
              <a:cxnLst/>
              <a:rect r="r" b="b" t="t" l="l"/>
              <a:pathLst>
                <a:path h="626745" w="626745">
                  <a:moveTo>
                    <a:pt x="0" y="626745"/>
                  </a:moveTo>
                  <a:lnTo>
                    <a:pt x="626745" y="626745"/>
                  </a:lnTo>
                  <a:lnTo>
                    <a:pt x="626745" y="0"/>
                  </a:lnTo>
                  <a:lnTo>
                    <a:pt x="0" y="0"/>
                  </a:lnTo>
                  <a:close/>
                </a:path>
              </a:pathLst>
            </a:custGeom>
            <a:solidFill>
              <a:srgbClr val="000000">
                <a:alpha val="0"/>
              </a:srgbClr>
            </a:solidFill>
          </p:spPr>
        </p:sp>
        <p:sp>
          <p:nvSpPr>
            <p:cNvPr name="Freeform 24" id="24"/>
            <p:cNvSpPr/>
            <p:nvPr/>
          </p:nvSpPr>
          <p:spPr>
            <a:xfrm flipH="false" flipV="false" rot="0">
              <a:off x="1297940" y="1435100"/>
              <a:ext cx="1861185" cy="448437"/>
            </a:xfrm>
            <a:custGeom>
              <a:avLst/>
              <a:gdLst/>
              <a:ahLst/>
              <a:cxnLst/>
              <a:rect r="r" b="b" t="t" l="l"/>
              <a:pathLst>
                <a:path h="448437" w="1861185">
                  <a:moveTo>
                    <a:pt x="0" y="448437"/>
                  </a:moveTo>
                  <a:lnTo>
                    <a:pt x="1861185" y="448437"/>
                  </a:lnTo>
                  <a:lnTo>
                    <a:pt x="1861185" y="0"/>
                  </a:lnTo>
                  <a:lnTo>
                    <a:pt x="0" y="0"/>
                  </a:lnTo>
                  <a:close/>
                </a:path>
              </a:pathLst>
            </a:custGeom>
            <a:solidFill>
              <a:srgbClr val="000000">
                <a:alpha val="0"/>
              </a:srgbClr>
            </a:solidFill>
          </p:spPr>
        </p:sp>
      </p:grpSp>
      <p:grpSp>
        <p:nvGrpSpPr>
          <p:cNvPr name="Group 25" id="25"/>
          <p:cNvGrpSpPr/>
          <p:nvPr/>
        </p:nvGrpSpPr>
        <p:grpSpPr>
          <a:xfrm rot="0">
            <a:off x="6378254" y="1920554"/>
            <a:ext cx="5485762" cy="2193922"/>
            <a:chOff x="0" y="0"/>
            <a:chExt cx="5485765" cy="2193925"/>
          </a:xfrm>
        </p:grpSpPr>
        <p:sp>
          <p:nvSpPr>
            <p:cNvPr name="Freeform 26" id="26"/>
            <p:cNvSpPr/>
            <p:nvPr/>
          </p:nvSpPr>
          <p:spPr>
            <a:xfrm flipH="false" flipV="false" rot="0">
              <a:off x="63500" y="63500"/>
              <a:ext cx="5358765" cy="2066925"/>
            </a:xfrm>
            <a:custGeom>
              <a:avLst/>
              <a:gdLst/>
              <a:ahLst/>
              <a:cxnLst/>
              <a:rect r="r" b="b" t="t" l="l"/>
              <a:pathLst>
                <a:path h="2066925" w="5358765">
                  <a:moveTo>
                    <a:pt x="0" y="2066925"/>
                  </a:moveTo>
                  <a:lnTo>
                    <a:pt x="5358765" y="2066925"/>
                  </a:lnTo>
                  <a:lnTo>
                    <a:pt x="5358765" y="0"/>
                  </a:lnTo>
                  <a:lnTo>
                    <a:pt x="0" y="0"/>
                  </a:lnTo>
                  <a:close/>
                </a:path>
              </a:pathLst>
            </a:custGeom>
            <a:solidFill>
              <a:srgbClr val="000000">
                <a:alpha val="0"/>
              </a:srgbClr>
            </a:solidFill>
          </p:spPr>
        </p:sp>
        <p:sp>
          <p:nvSpPr>
            <p:cNvPr name="Freeform 27" id="27"/>
            <p:cNvSpPr/>
            <p:nvPr/>
          </p:nvSpPr>
          <p:spPr>
            <a:xfrm flipH="false" flipV="false" rot="0">
              <a:off x="406400" y="365252"/>
              <a:ext cx="626745" cy="626745"/>
            </a:xfrm>
            <a:custGeom>
              <a:avLst/>
              <a:gdLst/>
              <a:ahLst/>
              <a:cxnLst/>
              <a:rect r="r" b="b" t="t" l="l"/>
              <a:pathLst>
                <a:path h="626745" w="626745">
                  <a:moveTo>
                    <a:pt x="0" y="626745"/>
                  </a:moveTo>
                  <a:lnTo>
                    <a:pt x="626745" y="626745"/>
                  </a:lnTo>
                  <a:lnTo>
                    <a:pt x="626745" y="0"/>
                  </a:lnTo>
                  <a:lnTo>
                    <a:pt x="0" y="0"/>
                  </a:lnTo>
                  <a:close/>
                </a:path>
              </a:pathLst>
            </a:custGeom>
            <a:solidFill>
              <a:srgbClr val="000000">
                <a:alpha val="0"/>
              </a:srgbClr>
            </a:solidFill>
          </p:spPr>
        </p:sp>
        <p:sp>
          <p:nvSpPr>
            <p:cNvPr name="Freeform 28" id="28"/>
            <p:cNvSpPr/>
            <p:nvPr/>
          </p:nvSpPr>
          <p:spPr>
            <a:xfrm flipH="false" flipV="false" rot="0">
              <a:off x="1297940" y="1435100"/>
              <a:ext cx="1861185" cy="448437"/>
            </a:xfrm>
            <a:custGeom>
              <a:avLst/>
              <a:gdLst/>
              <a:ahLst/>
              <a:cxnLst/>
              <a:rect r="r" b="b" t="t" l="l"/>
              <a:pathLst>
                <a:path h="448437" w="1861185">
                  <a:moveTo>
                    <a:pt x="0" y="448437"/>
                  </a:moveTo>
                  <a:lnTo>
                    <a:pt x="1861185" y="448437"/>
                  </a:lnTo>
                  <a:lnTo>
                    <a:pt x="1861185" y="0"/>
                  </a:lnTo>
                  <a:lnTo>
                    <a:pt x="0" y="0"/>
                  </a:lnTo>
                  <a:close/>
                </a:path>
              </a:pathLst>
            </a:custGeom>
            <a:solidFill>
              <a:srgbClr val="000000">
                <a:alpha val="0"/>
              </a:srgbClr>
            </a:solidFill>
          </p:spPr>
        </p:sp>
      </p:grpSp>
      <p:grpSp>
        <p:nvGrpSpPr>
          <p:cNvPr name="Group 29" id="29"/>
          <p:cNvGrpSpPr/>
          <p:nvPr/>
        </p:nvGrpSpPr>
        <p:grpSpPr>
          <a:xfrm rot="0">
            <a:off x="6378254" y="4320854"/>
            <a:ext cx="5485762" cy="2193922"/>
            <a:chOff x="0" y="0"/>
            <a:chExt cx="5485765" cy="2193925"/>
          </a:xfrm>
        </p:grpSpPr>
        <p:sp>
          <p:nvSpPr>
            <p:cNvPr name="Freeform 30" id="30"/>
            <p:cNvSpPr/>
            <p:nvPr/>
          </p:nvSpPr>
          <p:spPr>
            <a:xfrm flipH="false" flipV="false" rot="0">
              <a:off x="63500" y="63500"/>
              <a:ext cx="5358765" cy="2066925"/>
            </a:xfrm>
            <a:custGeom>
              <a:avLst/>
              <a:gdLst/>
              <a:ahLst/>
              <a:cxnLst/>
              <a:rect r="r" b="b" t="t" l="l"/>
              <a:pathLst>
                <a:path h="2066925" w="5358765">
                  <a:moveTo>
                    <a:pt x="0" y="2066925"/>
                  </a:moveTo>
                  <a:lnTo>
                    <a:pt x="5358765" y="2066925"/>
                  </a:lnTo>
                  <a:lnTo>
                    <a:pt x="5358765" y="0"/>
                  </a:lnTo>
                  <a:lnTo>
                    <a:pt x="0" y="0"/>
                  </a:lnTo>
                  <a:close/>
                </a:path>
              </a:pathLst>
            </a:custGeom>
            <a:solidFill>
              <a:srgbClr val="000000">
                <a:alpha val="0"/>
              </a:srgbClr>
            </a:solidFill>
          </p:spPr>
        </p:sp>
        <p:sp>
          <p:nvSpPr>
            <p:cNvPr name="Freeform 31" id="31"/>
            <p:cNvSpPr/>
            <p:nvPr/>
          </p:nvSpPr>
          <p:spPr>
            <a:xfrm flipH="false" flipV="false" rot="0">
              <a:off x="406400" y="365252"/>
              <a:ext cx="626745" cy="626745"/>
            </a:xfrm>
            <a:custGeom>
              <a:avLst/>
              <a:gdLst/>
              <a:ahLst/>
              <a:cxnLst/>
              <a:rect r="r" b="b" t="t" l="l"/>
              <a:pathLst>
                <a:path h="626745" w="626745">
                  <a:moveTo>
                    <a:pt x="0" y="626745"/>
                  </a:moveTo>
                  <a:lnTo>
                    <a:pt x="626745" y="626745"/>
                  </a:lnTo>
                  <a:lnTo>
                    <a:pt x="626745" y="0"/>
                  </a:lnTo>
                  <a:lnTo>
                    <a:pt x="0" y="0"/>
                  </a:lnTo>
                  <a:close/>
                </a:path>
              </a:pathLst>
            </a:custGeom>
            <a:solidFill>
              <a:srgbClr val="000000">
                <a:alpha val="0"/>
              </a:srgbClr>
            </a:solidFill>
          </p:spPr>
        </p:sp>
        <p:sp>
          <p:nvSpPr>
            <p:cNvPr name="Freeform 32" id="32"/>
            <p:cNvSpPr/>
            <p:nvPr/>
          </p:nvSpPr>
          <p:spPr>
            <a:xfrm flipH="false" flipV="false" rot="0">
              <a:off x="1297940" y="1435100"/>
              <a:ext cx="1861185" cy="448437"/>
            </a:xfrm>
            <a:custGeom>
              <a:avLst/>
              <a:gdLst/>
              <a:ahLst/>
              <a:cxnLst/>
              <a:rect r="r" b="b" t="t" l="l"/>
              <a:pathLst>
                <a:path h="448437" w="1861185">
                  <a:moveTo>
                    <a:pt x="0" y="448437"/>
                  </a:moveTo>
                  <a:lnTo>
                    <a:pt x="1861185" y="448437"/>
                  </a:lnTo>
                  <a:lnTo>
                    <a:pt x="1861185" y="0"/>
                  </a:lnTo>
                  <a:lnTo>
                    <a:pt x="0" y="0"/>
                  </a:lnTo>
                  <a:close/>
                </a:path>
              </a:pathLst>
            </a:custGeom>
            <a:solidFill>
              <a:srgbClr val="000000">
                <a:alpha val="0"/>
              </a:srgbClr>
            </a:solidFill>
          </p:spPr>
        </p:sp>
      </p:grpSp>
      <p:grpSp>
        <p:nvGrpSpPr>
          <p:cNvPr name="Group 33" id="33"/>
          <p:cNvGrpSpPr/>
          <p:nvPr/>
        </p:nvGrpSpPr>
        <p:grpSpPr>
          <a:xfrm rot="0">
            <a:off x="6378254" y="6721154"/>
            <a:ext cx="5485762" cy="2193922"/>
            <a:chOff x="0" y="0"/>
            <a:chExt cx="5485765" cy="2193925"/>
          </a:xfrm>
        </p:grpSpPr>
        <p:sp>
          <p:nvSpPr>
            <p:cNvPr name="Freeform 34" id="34"/>
            <p:cNvSpPr/>
            <p:nvPr/>
          </p:nvSpPr>
          <p:spPr>
            <a:xfrm flipH="false" flipV="false" rot="0">
              <a:off x="63500" y="63500"/>
              <a:ext cx="5358765" cy="2066925"/>
            </a:xfrm>
            <a:custGeom>
              <a:avLst/>
              <a:gdLst/>
              <a:ahLst/>
              <a:cxnLst/>
              <a:rect r="r" b="b" t="t" l="l"/>
              <a:pathLst>
                <a:path h="2066925" w="5358765">
                  <a:moveTo>
                    <a:pt x="0" y="2066925"/>
                  </a:moveTo>
                  <a:lnTo>
                    <a:pt x="5358765" y="2066925"/>
                  </a:lnTo>
                  <a:lnTo>
                    <a:pt x="5358765" y="0"/>
                  </a:lnTo>
                  <a:lnTo>
                    <a:pt x="0" y="0"/>
                  </a:lnTo>
                  <a:close/>
                </a:path>
              </a:pathLst>
            </a:custGeom>
            <a:solidFill>
              <a:srgbClr val="000000">
                <a:alpha val="0"/>
              </a:srgbClr>
            </a:solidFill>
          </p:spPr>
        </p:sp>
        <p:sp>
          <p:nvSpPr>
            <p:cNvPr name="Freeform 35" id="35"/>
            <p:cNvSpPr/>
            <p:nvPr/>
          </p:nvSpPr>
          <p:spPr>
            <a:xfrm flipH="false" flipV="false" rot="0">
              <a:off x="406400" y="365252"/>
              <a:ext cx="626745" cy="626745"/>
            </a:xfrm>
            <a:custGeom>
              <a:avLst/>
              <a:gdLst/>
              <a:ahLst/>
              <a:cxnLst/>
              <a:rect r="r" b="b" t="t" l="l"/>
              <a:pathLst>
                <a:path h="626745" w="626745">
                  <a:moveTo>
                    <a:pt x="0" y="626745"/>
                  </a:moveTo>
                  <a:lnTo>
                    <a:pt x="626745" y="626745"/>
                  </a:lnTo>
                  <a:lnTo>
                    <a:pt x="626745" y="0"/>
                  </a:lnTo>
                  <a:lnTo>
                    <a:pt x="0" y="0"/>
                  </a:lnTo>
                  <a:close/>
                </a:path>
              </a:pathLst>
            </a:custGeom>
            <a:solidFill>
              <a:srgbClr val="000000">
                <a:alpha val="0"/>
              </a:srgbClr>
            </a:solidFill>
          </p:spPr>
        </p:sp>
        <p:sp>
          <p:nvSpPr>
            <p:cNvPr name="Freeform 36" id="36"/>
            <p:cNvSpPr/>
            <p:nvPr/>
          </p:nvSpPr>
          <p:spPr>
            <a:xfrm flipH="false" flipV="false" rot="0">
              <a:off x="1297940" y="1435100"/>
              <a:ext cx="1861185" cy="448437"/>
            </a:xfrm>
            <a:custGeom>
              <a:avLst/>
              <a:gdLst/>
              <a:ahLst/>
              <a:cxnLst/>
              <a:rect r="r" b="b" t="t" l="l"/>
              <a:pathLst>
                <a:path h="448437" w="1861185">
                  <a:moveTo>
                    <a:pt x="0" y="448437"/>
                  </a:moveTo>
                  <a:lnTo>
                    <a:pt x="1861185" y="448437"/>
                  </a:lnTo>
                  <a:lnTo>
                    <a:pt x="1861185" y="0"/>
                  </a:lnTo>
                  <a:lnTo>
                    <a:pt x="0" y="0"/>
                  </a:lnTo>
                  <a:close/>
                </a:path>
              </a:pathLst>
            </a:custGeom>
            <a:solidFill>
              <a:srgbClr val="000000">
                <a:alpha val="0"/>
              </a:srgbClr>
            </a:solidFill>
          </p:spPr>
        </p:sp>
      </p:grpSp>
      <p:grpSp>
        <p:nvGrpSpPr>
          <p:cNvPr name="Group 37" id="37"/>
          <p:cNvGrpSpPr/>
          <p:nvPr/>
        </p:nvGrpSpPr>
        <p:grpSpPr>
          <a:xfrm rot="0">
            <a:off x="12001814" y="1920554"/>
            <a:ext cx="5485762" cy="2193922"/>
            <a:chOff x="0" y="0"/>
            <a:chExt cx="5485765" cy="2193925"/>
          </a:xfrm>
        </p:grpSpPr>
        <p:sp>
          <p:nvSpPr>
            <p:cNvPr name="Freeform 38" id="38"/>
            <p:cNvSpPr/>
            <p:nvPr/>
          </p:nvSpPr>
          <p:spPr>
            <a:xfrm flipH="false" flipV="false" rot="0">
              <a:off x="63500" y="63500"/>
              <a:ext cx="5358764" cy="2066925"/>
            </a:xfrm>
            <a:custGeom>
              <a:avLst/>
              <a:gdLst/>
              <a:ahLst/>
              <a:cxnLst/>
              <a:rect r="r" b="b" t="t" l="l"/>
              <a:pathLst>
                <a:path h="2066925" w="5358764">
                  <a:moveTo>
                    <a:pt x="0" y="2066925"/>
                  </a:moveTo>
                  <a:lnTo>
                    <a:pt x="5358764" y="2066925"/>
                  </a:lnTo>
                  <a:lnTo>
                    <a:pt x="5358764" y="0"/>
                  </a:lnTo>
                  <a:lnTo>
                    <a:pt x="0" y="0"/>
                  </a:lnTo>
                  <a:close/>
                </a:path>
              </a:pathLst>
            </a:custGeom>
            <a:solidFill>
              <a:srgbClr val="000000">
                <a:alpha val="0"/>
              </a:srgbClr>
            </a:solidFill>
          </p:spPr>
        </p:sp>
        <p:sp>
          <p:nvSpPr>
            <p:cNvPr name="Freeform 39" id="39"/>
            <p:cNvSpPr/>
            <p:nvPr/>
          </p:nvSpPr>
          <p:spPr>
            <a:xfrm flipH="false" flipV="false" rot="0">
              <a:off x="406400" y="365252"/>
              <a:ext cx="626745" cy="626745"/>
            </a:xfrm>
            <a:custGeom>
              <a:avLst/>
              <a:gdLst/>
              <a:ahLst/>
              <a:cxnLst/>
              <a:rect r="r" b="b" t="t" l="l"/>
              <a:pathLst>
                <a:path h="626745" w="626745">
                  <a:moveTo>
                    <a:pt x="0" y="626745"/>
                  </a:moveTo>
                  <a:lnTo>
                    <a:pt x="626745" y="626745"/>
                  </a:lnTo>
                  <a:lnTo>
                    <a:pt x="626745" y="0"/>
                  </a:lnTo>
                  <a:lnTo>
                    <a:pt x="0" y="0"/>
                  </a:lnTo>
                  <a:close/>
                </a:path>
              </a:pathLst>
            </a:custGeom>
            <a:solidFill>
              <a:srgbClr val="000000">
                <a:alpha val="0"/>
              </a:srgbClr>
            </a:solidFill>
          </p:spPr>
        </p:sp>
        <p:sp>
          <p:nvSpPr>
            <p:cNvPr name="Freeform 40" id="40"/>
            <p:cNvSpPr/>
            <p:nvPr/>
          </p:nvSpPr>
          <p:spPr>
            <a:xfrm flipH="false" flipV="false" rot="0">
              <a:off x="1297940" y="1435100"/>
              <a:ext cx="1861185" cy="448437"/>
            </a:xfrm>
            <a:custGeom>
              <a:avLst/>
              <a:gdLst/>
              <a:ahLst/>
              <a:cxnLst/>
              <a:rect r="r" b="b" t="t" l="l"/>
              <a:pathLst>
                <a:path h="448437" w="1861185">
                  <a:moveTo>
                    <a:pt x="0" y="448437"/>
                  </a:moveTo>
                  <a:lnTo>
                    <a:pt x="1861184" y="448437"/>
                  </a:lnTo>
                  <a:lnTo>
                    <a:pt x="1861184" y="0"/>
                  </a:lnTo>
                  <a:lnTo>
                    <a:pt x="0" y="0"/>
                  </a:lnTo>
                  <a:close/>
                </a:path>
              </a:pathLst>
            </a:custGeom>
            <a:solidFill>
              <a:srgbClr val="000000">
                <a:alpha val="0"/>
              </a:srgbClr>
            </a:solidFill>
          </p:spPr>
        </p:sp>
      </p:grpSp>
      <p:grpSp>
        <p:nvGrpSpPr>
          <p:cNvPr name="Group 41" id="41"/>
          <p:cNvGrpSpPr/>
          <p:nvPr/>
        </p:nvGrpSpPr>
        <p:grpSpPr>
          <a:xfrm rot="0">
            <a:off x="12001814" y="4320854"/>
            <a:ext cx="5485762" cy="2193922"/>
            <a:chOff x="0" y="0"/>
            <a:chExt cx="5485765" cy="2193925"/>
          </a:xfrm>
        </p:grpSpPr>
        <p:sp>
          <p:nvSpPr>
            <p:cNvPr name="Freeform 42" id="42"/>
            <p:cNvSpPr/>
            <p:nvPr/>
          </p:nvSpPr>
          <p:spPr>
            <a:xfrm flipH="false" flipV="false" rot="0">
              <a:off x="63500" y="63500"/>
              <a:ext cx="5358764" cy="2066925"/>
            </a:xfrm>
            <a:custGeom>
              <a:avLst/>
              <a:gdLst/>
              <a:ahLst/>
              <a:cxnLst/>
              <a:rect r="r" b="b" t="t" l="l"/>
              <a:pathLst>
                <a:path h="2066925" w="5358764">
                  <a:moveTo>
                    <a:pt x="0" y="2066925"/>
                  </a:moveTo>
                  <a:lnTo>
                    <a:pt x="5358764" y="2066925"/>
                  </a:lnTo>
                  <a:lnTo>
                    <a:pt x="5358764" y="0"/>
                  </a:lnTo>
                  <a:lnTo>
                    <a:pt x="0" y="0"/>
                  </a:lnTo>
                  <a:close/>
                </a:path>
              </a:pathLst>
            </a:custGeom>
            <a:solidFill>
              <a:srgbClr val="000000">
                <a:alpha val="0"/>
              </a:srgbClr>
            </a:solidFill>
          </p:spPr>
        </p:sp>
        <p:sp>
          <p:nvSpPr>
            <p:cNvPr name="Freeform 43" id="43"/>
            <p:cNvSpPr/>
            <p:nvPr/>
          </p:nvSpPr>
          <p:spPr>
            <a:xfrm flipH="false" flipV="false" rot="0">
              <a:off x="406400" y="365252"/>
              <a:ext cx="626745" cy="626745"/>
            </a:xfrm>
            <a:custGeom>
              <a:avLst/>
              <a:gdLst/>
              <a:ahLst/>
              <a:cxnLst/>
              <a:rect r="r" b="b" t="t" l="l"/>
              <a:pathLst>
                <a:path h="626745" w="626745">
                  <a:moveTo>
                    <a:pt x="0" y="626745"/>
                  </a:moveTo>
                  <a:lnTo>
                    <a:pt x="626745" y="626745"/>
                  </a:lnTo>
                  <a:lnTo>
                    <a:pt x="626745" y="0"/>
                  </a:lnTo>
                  <a:lnTo>
                    <a:pt x="0" y="0"/>
                  </a:lnTo>
                  <a:close/>
                </a:path>
              </a:pathLst>
            </a:custGeom>
            <a:solidFill>
              <a:srgbClr val="000000">
                <a:alpha val="0"/>
              </a:srgbClr>
            </a:solidFill>
          </p:spPr>
        </p:sp>
        <p:sp>
          <p:nvSpPr>
            <p:cNvPr name="Freeform 44" id="44"/>
            <p:cNvSpPr/>
            <p:nvPr/>
          </p:nvSpPr>
          <p:spPr>
            <a:xfrm flipH="false" flipV="false" rot="0">
              <a:off x="1297940" y="1435100"/>
              <a:ext cx="1861185" cy="448437"/>
            </a:xfrm>
            <a:custGeom>
              <a:avLst/>
              <a:gdLst/>
              <a:ahLst/>
              <a:cxnLst/>
              <a:rect r="r" b="b" t="t" l="l"/>
              <a:pathLst>
                <a:path h="448437" w="1861185">
                  <a:moveTo>
                    <a:pt x="0" y="448437"/>
                  </a:moveTo>
                  <a:lnTo>
                    <a:pt x="1861184" y="448437"/>
                  </a:lnTo>
                  <a:lnTo>
                    <a:pt x="1861184" y="0"/>
                  </a:lnTo>
                  <a:lnTo>
                    <a:pt x="0" y="0"/>
                  </a:lnTo>
                  <a:close/>
                </a:path>
              </a:pathLst>
            </a:custGeom>
            <a:solidFill>
              <a:srgbClr val="000000">
                <a:alpha val="0"/>
              </a:srgbClr>
            </a:solidFill>
          </p:spPr>
        </p:sp>
      </p:grpSp>
      <p:grpSp>
        <p:nvGrpSpPr>
          <p:cNvPr name="Group 45" id="45"/>
          <p:cNvGrpSpPr/>
          <p:nvPr/>
        </p:nvGrpSpPr>
        <p:grpSpPr>
          <a:xfrm rot="0">
            <a:off x="12001814" y="6721154"/>
            <a:ext cx="5485762" cy="2193922"/>
            <a:chOff x="0" y="0"/>
            <a:chExt cx="5485765" cy="2193925"/>
          </a:xfrm>
        </p:grpSpPr>
        <p:sp>
          <p:nvSpPr>
            <p:cNvPr name="Freeform 46" id="46"/>
            <p:cNvSpPr/>
            <p:nvPr/>
          </p:nvSpPr>
          <p:spPr>
            <a:xfrm flipH="false" flipV="false" rot="0">
              <a:off x="63500" y="63500"/>
              <a:ext cx="5358764" cy="2066925"/>
            </a:xfrm>
            <a:custGeom>
              <a:avLst/>
              <a:gdLst/>
              <a:ahLst/>
              <a:cxnLst/>
              <a:rect r="r" b="b" t="t" l="l"/>
              <a:pathLst>
                <a:path h="2066925" w="5358764">
                  <a:moveTo>
                    <a:pt x="0" y="2066925"/>
                  </a:moveTo>
                  <a:lnTo>
                    <a:pt x="5358764" y="2066925"/>
                  </a:lnTo>
                  <a:lnTo>
                    <a:pt x="5358764" y="0"/>
                  </a:lnTo>
                  <a:lnTo>
                    <a:pt x="0" y="0"/>
                  </a:lnTo>
                  <a:close/>
                </a:path>
              </a:pathLst>
            </a:custGeom>
            <a:solidFill>
              <a:srgbClr val="000000">
                <a:alpha val="0"/>
              </a:srgbClr>
            </a:solidFill>
          </p:spPr>
        </p:sp>
        <p:sp>
          <p:nvSpPr>
            <p:cNvPr name="Freeform 47" id="47"/>
            <p:cNvSpPr/>
            <p:nvPr/>
          </p:nvSpPr>
          <p:spPr>
            <a:xfrm flipH="false" flipV="false" rot="0">
              <a:off x="406400" y="365252"/>
              <a:ext cx="626745" cy="626745"/>
            </a:xfrm>
            <a:custGeom>
              <a:avLst/>
              <a:gdLst/>
              <a:ahLst/>
              <a:cxnLst/>
              <a:rect r="r" b="b" t="t" l="l"/>
              <a:pathLst>
                <a:path h="626745" w="626745">
                  <a:moveTo>
                    <a:pt x="0" y="626745"/>
                  </a:moveTo>
                  <a:lnTo>
                    <a:pt x="626745" y="626745"/>
                  </a:lnTo>
                  <a:lnTo>
                    <a:pt x="626745" y="0"/>
                  </a:lnTo>
                  <a:lnTo>
                    <a:pt x="0" y="0"/>
                  </a:lnTo>
                  <a:close/>
                </a:path>
              </a:pathLst>
            </a:custGeom>
            <a:solidFill>
              <a:srgbClr val="000000">
                <a:alpha val="0"/>
              </a:srgbClr>
            </a:solidFill>
          </p:spPr>
        </p:sp>
        <p:sp>
          <p:nvSpPr>
            <p:cNvPr name="Freeform 48" id="48"/>
            <p:cNvSpPr/>
            <p:nvPr/>
          </p:nvSpPr>
          <p:spPr>
            <a:xfrm flipH="false" flipV="false" rot="0">
              <a:off x="1297940" y="1435100"/>
              <a:ext cx="1861185" cy="448437"/>
            </a:xfrm>
            <a:custGeom>
              <a:avLst/>
              <a:gdLst/>
              <a:ahLst/>
              <a:cxnLst/>
              <a:rect r="r" b="b" t="t" l="l"/>
              <a:pathLst>
                <a:path h="448437" w="1861185">
                  <a:moveTo>
                    <a:pt x="0" y="448437"/>
                  </a:moveTo>
                  <a:lnTo>
                    <a:pt x="1861184" y="448437"/>
                  </a:lnTo>
                  <a:lnTo>
                    <a:pt x="1861184" y="0"/>
                  </a:lnTo>
                  <a:lnTo>
                    <a:pt x="0" y="0"/>
                  </a:lnTo>
                  <a:close/>
                </a:path>
              </a:pathLst>
            </a:custGeom>
            <a:solidFill>
              <a:srgbClr val="000000">
                <a:alpha val="0"/>
              </a:srgbClr>
            </a:solidFill>
          </p:spPr>
        </p:sp>
      </p:grpSp>
      <p:sp>
        <p:nvSpPr>
          <p:cNvPr name="TextBox 49" id="49"/>
          <p:cNvSpPr txBox="true"/>
          <p:nvPr/>
        </p:nvSpPr>
        <p:spPr>
          <a:xfrm rot="0">
            <a:off x="822960" y="9673876"/>
            <a:ext cx="2720912"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AI Patient Risk Assessment System</a:t>
            </a:r>
          </a:p>
        </p:txBody>
      </p:sp>
      <p:sp>
        <p:nvSpPr>
          <p:cNvPr name="TextBox 50" id="50"/>
          <p:cNvSpPr txBox="true"/>
          <p:nvPr/>
        </p:nvSpPr>
        <p:spPr>
          <a:xfrm rot="0">
            <a:off x="17272397" y="9624346"/>
            <a:ext cx="98479"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3</a:t>
            </a:r>
          </a:p>
        </p:txBody>
      </p:sp>
      <p:sp>
        <p:nvSpPr>
          <p:cNvPr name="TextBox 51" id="51"/>
          <p:cNvSpPr txBox="true"/>
          <p:nvPr/>
        </p:nvSpPr>
        <p:spPr>
          <a:xfrm rot="0">
            <a:off x="822960" y="598456"/>
            <a:ext cx="5173504" cy="832085"/>
          </a:xfrm>
          <a:prstGeom prst="rect">
            <a:avLst/>
          </a:prstGeom>
        </p:spPr>
        <p:txBody>
          <a:bodyPr anchor="t" rtlCol="false" tIns="0" lIns="0" bIns="0" rIns="0">
            <a:spAutoFit/>
          </a:bodyPr>
          <a:lstStyle/>
          <a:p>
            <a:pPr algn="l">
              <a:lnSpc>
                <a:spcPts val="6719"/>
              </a:lnSpc>
            </a:pPr>
            <a:r>
              <a:rPr lang="en-US" b="true" sz="4800">
                <a:solidFill>
                  <a:srgbClr val="0B2545"/>
                </a:solidFill>
                <a:latin typeface="Cambria Bold"/>
                <a:ea typeface="Cambria Bold"/>
                <a:cs typeface="Cambria Bold"/>
                <a:sym typeface="Cambria Bold"/>
              </a:rPr>
              <a:t>Project Objectives</a:t>
            </a:r>
          </a:p>
        </p:txBody>
      </p:sp>
      <p:sp>
        <p:nvSpPr>
          <p:cNvPr name="TextBox 52" id="52"/>
          <p:cNvSpPr txBox="true"/>
          <p:nvPr/>
        </p:nvSpPr>
        <p:spPr>
          <a:xfrm rot="0">
            <a:off x="1406814" y="2382726"/>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1</a:t>
            </a:r>
          </a:p>
        </p:txBody>
      </p:sp>
      <p:sp>
        <p:nvSpPr>
          <p:cNvPr name="TextBox 53" id="53"/>
          <p:cNvSpPr txBox="true"/>
          <p:nvPr/>
        </p:nvSpPr>
        <p:spPr>
          <a:xfrm rot="0">
            <a:off x="1406814" y="4783026"/>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4</a:t>
            </a:r>
          </a:p>
        </p:txBody>
      </p:sp>
      <p:sp>
        <p:nvSpPr>
          <p:cNvPr name="TextBox 54" id="54"/>
          <p:cNvSpPr txBox="true"/>
          <p:nvPr/>
        </p:nvSpPr>
        <p:spPr>
          <a:xfrm rot="0">
            <a:off x="1406814" y="7183326"/>
            <a:ext cx="137874"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7</a:t>
            </a:r>
          </a:p>
        </p:txBody>
      </p:sp>
      <p:sp>
        <p:nvSpPr>
          <p:cNvPr name="TextBox 55" id="55"/>
          <p:cNvSpPr txBox="true"/>
          <p:nvPr/>
        </p:nvSpPr>
        <p:spPr>
          <a:xfrm rot="0">
            <a:off x="7030374" y="2382726"/>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2</a:t>
            </a:r>
          </a:p>
        </p:txBody>
      </p:sp>
      <p:sp>
        <p:nvSpPr>
          <p:cNvPr name="TextBox 56" id="56"/>
          <p:cNvSpPr txBox="true"/>
          <p:nvPr/>
        </p:nvSpPr>
        <p:spPr>
          <a:xfrm rot="0">
            <a:off x="7030374" y="4783026"/>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5</a:t>
            </a:r>
          </a:p>
        </p:txBody>
      </p:sp>
      <p:sp>
        <p:nvSpPr>
          <p:cNvPr name="TextBox 57" id="57"/>
          <p:cNvSpPr txBox="true"/>
          <p:nvPr/>
        </p:nvSpPr>
        <p:spPr>
          <a:xfrm rot="0">
            <a:off x="7030374" y="7183326"/>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8</a:t>
            </a:r>
          </a:p>
        </p:txBody>
      </p:sp>
      <p:sp>
        <p:nvSpPr>
          <p:cNvPr name="TextBox 58" id="58"/>
          <p:cNvSpPr txBox="true"/>
          <p:nvPr/>
        </p:nvSpPr>
        <p:spPr>
          <a:xfrm rot="0">
            <a:off x="12653934" y="2382726"/>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3</a:t>
            </a:r>
          </a:p>
        </p:txBody>
      </p:sp>
      <p:sp>
        <p:nvSpPr>
          <p:cNvPr name="TextBox 59" id="59"/>
          <p:cNvSpPr txBox="true"/>
          <p:nvPr/>
        </p:nvSpPr>
        <p:spPr>
          <a:xfrm rot="0">
            <a:off x="12653934" y="4783026"/>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6</a:t>
            </a:r>
          </a:p>
        </p:txBody>
      </p:sp>
      <p:sp>
        <p:nvSpPr>
          <p:cNvPr name="TextBox 60" id="60"/>
          <p:cNvSpPr txBox="true"/>
          <p:nvPr/>
        </p:nvSpPr>
        <p:spPr>
          <a:xfrm rot="0">
            <a:off x="12653934" y="7183326"/>
            <a:ext cx="137874"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9</a:t>
            </a:r>
          </a:p>
        </p:txBody>
      </p:sp>
      <p:sp>
        <p:nvSpPr>
          <p:cNvPr name="TextBox 61" id="61"/>
          <p:cNvSpPr txBox="true"/>
          <p:nvPr/>
        </p:nvSpPr>
        <p:spPr>
          <a:xfrm rot="0">
            <a:off x="2057400" y="2339569"/>
            <a:ext cx="2655208" cy="728662"/>
          </a:xfrm>
          <a:prstGeom prst="rect">
            <a:avLst/>
          </a:prstGeom>
        </p:spPr>
        <p:txBody>
          <a:bodyPr anchor="t" rtlCol="false" tIns="0" lIns="0" bIns="0" rIns="0">
            <a:spAutoFit/>
          </a:bodyPr>
          <a:lstStyle/>
          <a:p>
            <a:pPr algn="l">
              <a:lnSpc>
                <a:spcPts val="2700"/>
              </a:lnSpc>
            </a:pPr>
            <a:r>
              <a:rPr lang="en-US" b="true" sz="2250">
                <a:solidFill>
                  <a:srgbClr val="0B2545"/>
                </a:solidFill>
                <a:latin typeface="Calibri (MS) Bold"/>
                <a:ea typeface="Calibri (MS) Bold"/>
                <a:cs typeface="Calibri (MS) Bold"/>
                <a:sym typeface="Calibri (MS) Bold"/>
              </a:rPr>
              <a:t>Prepare and clean the healthcare dataset</a:t>
            </a:r>
          </a:p>
        </p:txBody>
      </p:sp>
      <p:sp>
        <p:nvSpPr>
          <p:cNvPr name="TextBox 62" id="62"/>
          <p:cNvSpPr txBox="true"/>
          <p:nvPr/>
        </p:nvSpPr>
        <p:spPr>
          <a:xfrm rot="0">
            <a:off x="2057400" y="4739869"/>
            <a:ext cx="3429838" cy="728662"/>
          </a:xfrm>
          <a:prstGeom prst="rect">
            <a:avLst/>
          </a:prstGeom>
        </p:spPr>
        <p:txBody>
          <a:bodyPr anchor="t" rtlCol="false" tIns="0" lIns="0" bIns="0" rIns="0">
            <a:spAutoFit/>
          </a:bodyPr>
          <a:lstStyle/>
          <a:p>
            <a:pPr algn="l">
              <a:lnSpc>
                <a:spcPts val="2700"/>
              </a:lnSpc>
            </a:pPr>
            <a:r>
              <a:rPr lang="en-US" b="true" sz="2250">
                <a:solidFill>
                  <a:srgbClr val="0B2545"/>
                </a:solidFill>
                <a:latin typeface="Calibri (MS) Bold"/>
                <a:ea typeface="Calibri (MS) Bold"/>
                <a:cs typeface="Calibri (MS) Bold"/>
                <a:sym typeface="Calibri (MS) Bold"/>
              </a:rPr>
              <a:t>Predict one of eight disease- combination classes</a:t>
            </a:r>
          </a:p>
        </p:txBody>
      </p:sp>
      <p:sp>
        <p:nvSpPr>
          <p:cNvPr name="TextBox 63" id="63"/>
          <p:cNvSpPr txBox="true"/>
          <p:nvPr/>
        </p:nvSpPr>
        <p:spPr>
          <a:xfrm rot="0">
            <a:off x="2057400" y="7273519"/>
            <a:ext cx="3579266" cy="423862"/>
          </a:xfrm>
          <a:prstGeom prst="rect">
            <a:avLst/>
          </a:prstGeom>
        </p:spPr>
        <p:txBody>
          <a:bodyPr anchor="t" rtlCol="false" tIns="0" lIns="0" bIns="0" rIns="0">
            <a:spAutoFit/>
          </a:bodyPr>
          <a:lstStyle/>
          <a:p>
            <a:pPr algn="l">
              <a:lnSpc>
                <a:spcPts val="3149"/>
              </a:lnSpc>
            </a:pPr>
            <a:r>
              <a:rPr lang="en-US" b="true" sz="2250">
                <a:solidFill>
                  <a:srgbClr val="0B2545"/>
                </a:solidFill>
                <a:latin typeface="Calibri (MS) Bold"/>
                <a:ea typeface="Calibri (MS) Bold"/>
                <a:cs typeface="Calibri (MS) Bold"/>
                <a:sym typeface="Calibri (MS) Bold"/>
              </a:rPr>
              <a:t>Build a user-friendly frontend</a:t>
            </a:r>
          </a:p>
        </p:txBody>
      </p:sp>
      <p:sp>
        <p:nvSpPr>
          <p:cNvPr name="TextBox 64" id="64"/>
          <p:cNvSpPr txBox="true"/>
          <p:nvPr/>
        </p:nvSpPr>
        <p:spPr>
          <a:xfrm rot="0">
            <a:off x="7680960" y="4873219"/>
            <a:ext cx="3311852" cy="423862"/>
          </a:xfrm>
          <a:prstGeom prst="rect">
            <a:avLst/>
          </a:prstGeom>
        </p:spPr>
        <p:txBody>
          <a:bodyPr anchor="t" rtlCol="false" tIns="0" lIns="0" bIns="0" rIns="0">
            <a:spAutoFit/>
          </a:bodyPr>
          <a:lstStyle/>
          <a:p>
            <a:pPr algn="l">
              <a:lnSpc>
                <a:spcPts val="3149"/>
              </a:lnSpc>
            </a:pPr>
            <a:r>
              <a:rPr lang="en-US" b="true" sz="2250">
                <a:solidFill>
                  <a:srgbClr val="0B2545"/>
                </a:solidFill>
                <a:latin typeface="Calibri (MS) Bold"/>
                <a:ea typeface="Calibri (MS) Bold"/>
                <a:cs typeface="Calibri (MS) Bold"/>
                <a:sym typeface="Calibri (MS) Bold"/>
              </a:rPr>
              <a:t>Select useful input features</a:t>
            </a:r>
          </a:p>
        </p:txBody>
      </p:sp>
      <p:sp>
        <p:nvSpPr>
          <p:cNvPr name="TextBox 65" id="65"/>
          <p:cNvSpPr txBox="true"/>
          <p:nvPr/>
        </p:nvSpPr>
        <p:spPr>
          <a:xfrm rot="0">
            <a:off x="7680960" y="7140169"/>
            <a:ext cx="3426562" cy="728662"/>
          </a:xfrm>
          <a:prstGeom prst="rect">
            <a:avLst/>
          </a:prstGeom>
        </p:spPr>
        <p:txBody>
          <a:bodyPr anchor="t" rtlCol="false" tIns="0" lIns="0" bIns="0" rIns="0">
            <a:spAutoFit/>
          </a:bodyPr>
          <a:lstStyle/>
          <a:p>
            <a:pPr algn="l">
              <a:lnSpc>
                <a:spcPts val="2700"/>
              </a:lnSpc>
            </a:pPr>
            <a:r>
              <a:rPr lang="en-US" b="true" sz="2250">
                <a:solidFill>
                  <a:srgbClr val="0B2545"/>
                </a:solidFill>
                <a:latin typeface="Calibri (MS) Bold"/>
                <a:ea typeface="Calibri (MS) Bold"/>
                <a:cs typeface="Calibri (MS) Bold"/>
                <a:sym typeface="Calibri (MS) Bold"/>
              </a:rPr>
              <a:t>Plan a backend linked to the saved model</a:t>
            </a:r>
          </a:p>
        </p:txBody>
      </p:sp>
      <p:sp>
        <p:nvSpPr>
          <p:cNvPr name="TextBox 66" id="66"/>
          <p:cNvSpPr txBox="true"/>
          <p:nvPr/>
        </p:nvSpPr>
        <p:spPr>
          <a:xfrm rot="0">
            <a:off x="7680960" y="2339569"/>
            <a:ext cx="3485055" cy="728662"/>
          </a:xfrm>
          <a:prstGeom prst="rect">
            <a:avLst/>
          </a:prstGeom>
        </p:spPr>
        <p:txBody>
          <a:bodyPr anchor="t" rtlCol="false" tIns="0" lIns="0" bIns="0" rIns="0">
            <a:spAutoFit/>
          </a:bodyPr>
          <a:lstStyle/>
          <a:p>
            <a:pPr algn="l">
              <a:lnSpc>
                <a:spcPts val="2700"/>
              </a:lnSpc>
            </a:pPr>
            <a:r>
              <a:rPr lang="en-US" b="true" sz="2250">
                <a:solidFill>
                  <a:srgbClr val="0B2545"/>
                </a:solidFill>
                <a:latin typeface="Calibri (MS) Bold"/>
                <a:ea typeface="Calibri (MS) Bold"/>
                <a:cs typeface="Calibri (MS) Bold"/>
                <a:sym typeface="Calibri (MS) Bold"/>
              </a:rPr>
              <a:t>Explore the data with graphs and statistics</a:t>
            </a:r>
          </a:p>
        </p:txBody>
      </p:sp>
      <p:sp>
        <p:nvSpPr>
          <p:cNvPr name="TextBox 67" id="67"/>
          <p:cNvSpPr txBox="true"/>
          <p:nvPr/>
        </p:nvSpPr>
        <p:spPr>
          <a:xfrm rot="0">
            <a:off x="13304520" y="4739869"/>
            <a:ext cx="2960189" cy="728662"/>
          </a:xfrm>
          <a:prstGeom prst="rect">
            <a:avLst/>
          </a:prstGeom>
        </p:spPr>
        <p:txBody>
          <a:bodyPr anchor="t" rtlCol="false" tIns="0" lIns="0" bIns="0" rIns="0">
            <a:spAutoFit/>
          </a:bodyPr>
          <a:lstStyle/>
          <a:p>
            <a:pPr algn="l">
              <a:lnSpc>
                <a:spcPts val="2700"/>
              </a:lnSpc>
            </a:pPr>
            <a:r>
              <a:rPr lang="en-US" b="true" sz="2250">
                <a:solidFill>
                  <a:srgbClr val="0B2545"/>
                </a:solidFill>
                <a:latin typeface="Calibri (MS) Bold"/>
                <a:ea typeface="Calibri (MS) Bold"/>
                <a:cs typeface="Calibri (MS) Bold"/>
                <a:sym typeface="Calibri (MS) Bold"/>
              </a:rPr>
              <a:t>Evaluate the model with suitable metrics</a:t>
            </a:r>
          </a:p>
        </p:txBody>
      </p:sp>
      <p:sp>
        <p:nvSpPr>
          <p:cNvPr name="TextBox 68" id="68"/>
          <p:cNvSpPr txBox="true"/>
          <p:nvPr/>
        </p:nvSpPr>
        <p:spPr>
          <a:xfrm rot="0">
            <a:off x="13304520" y="7140169"/>
            <a:ext cx="3145203" cy="728662"/>
          </a:xfrm>
          <a:prstGeom prst="rect">
            <a:avLst/>
          </a:prstGeom>
        </p:spPr>
        <p:txBody>
          <a:bodyPr anchor="t" rtlCol="false" tIns="0" lIns="0" bIns="0" rIns="0">
            <a:spAutoFit/>
          </a:bodyPr>
          <a:lstStyle/>
          <a:p>
            <a:pPr algn="l">
              <a:lnSpc>
                <a:spcPts val="2700"/>
              </a:lnSpc>
            </a:pPr>
            <a:r>
              <a:rPr lang="en-US" b="true" sz="2250">
                <a:solidFill>
                  <a:srgbClr val="0B2545"/>
                </a:solidFill>
                <a:latin typeface="Calibri (MS) Bold"/>
                <a:ea typeface="Calibri (MS) Bold"/>
                <a:cs typeface="Calibri (MS) Bold"/>
                <a:sym typeface="Calibri (MS) Bold"/>
              </a:rPr>
              <a:t>Display results clearly and responsibly</a:t>
            </a:r>
          </a:p>
        </p:txBody>
      </p:sp>
      <p:sp>
        <p:nvSpPr>
          <p:cNvPr name="TextBox 69" id="69"/>
          <p:cNvSpPr txBox="true"/>
          <p:nvPr/>
        </p:nvSpPr>
        <p:spPr>
          <a:xfrm rot="0">
            <a:off x="13304520" y="2339569"/>
            <a:ext cx="3202696" cy="728662"/>
          </a:xfrm>
          <a:prstGeom prst="rect">
            <a:avLst/>
          </a:prstGeom>
        </p:spPr>
        <p:txBody>
          <a:bodyPr anchor="t" rtlCol="false" tIns="0" lIns="0" bIns="0" rIns="0">
            <a:spAutoFit/>
          </a:bodyPr>
          <a:lstStyle/>
          <a:p>
            <a:pPr algn="l">
              <a:lnSpc>
                <a:spcPts val="2700"/>
              </a:lnSpc>
            </a:pPr>
            <a:r>
              <a:rPr lang="en-US" b="true" sz="2250">
                <a:solidFill>
                  <a:srgbClr val="0B2545"/>
                </a:solidFill>
                <a:latin typeface="Calibri (MS) Bold"/>
                <a:ea typeface="Calibri (MS) Bold"/>
                <a:cs typeface="Calibri (MS) Bold"/>
                <a:sym typeface="Calibri (MS) Bold"/>
              </a:rPr>
              <a:t>Build a multiclass machine learning model</a:t>
            </a:r>
          </a:p>
        </p:txBody>
      </p:sp>
      <p:sp>
        <p:nvSpPr>
          <p:cNvPr name="TextBox 70" id="70"/>
          <p:cNvSpPr txBox="true"/>
          <p:nvPr/>
        </p:nvSpPr>
        <p:spPr>
          <a:xfrm rot="0">
            <a:off x="2506113" y="3408340"/>
            <a:ext cx="973103"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Completed</a:t>
            </a:r>
          </a:p>
        </p:txBody>
      </p:sp>
      <p:sp>
        <p:nvSpPr>
          <p:cNvPr name="TextBox 71" id="71"/>
          <p:cNvSpPr txBox="true"/>
          <p:nvPr/>
        </p:nvSpPr>
        <p:spPr>
          <a:xfrm rot="0">
            <a:off x="2506113" y="5808640"/>
            <a:ext cx="973103"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Completed</a:t>
            </a:r>
          </a:p>
        </p:txBody>
      </p:sp>
      <p:sp>
        <p:nvSpPr>
          <p:cNvPr name="TextBox 72" id="72"/>
          <p:cNvSpPr txBox="true"/>
          <p:nvPr/>
        </p:nvSpPr>
        <p:spPr>
          <a:xfrm rot="0">
            <a:off x="2502246" y="8208940"/>
            <a:ext cx="981037" cy="307658"/>
          </a:xfrm>
          <a:prstGeom prst="rect">
            <a:avLst/>
          </a:prstGeom>
        </p:spPr>
        <p:txBody>
          <a:bodyPr anchor="t" rtlCol="false" tIns="0" lIns="0" bIns="0" rIns="0">
            <a:spAutoFit/>
          </a:bodyPr>
          <a:lstStyle/>
          <a:p>
            <a:pPr algn="l">
              <a:lnSpc>
                <a:spcPts val="2310"/>
              </a:lnSpc>
            </a:pPr>
            <a:r>
              <a:rPr lang="en-US" b="true" sz="1650">
                <a:solidFill>
                  <a:srgbClr val="0B2545"/>
                </a:solidFill>
                <a:latin typeface="Calibri (MS) Bold"/>
                <a:ea typeface="Calibri (MS) Bold"/>
                <a:cs typeface="Calibri (MS) Bold"/>
                <a:sym typeface="Calibri (MS) Bold"/>
              </a:rPr>
              <a:t>In progress</a:t>
            </a:r>
          </a:p>
        </p:txBody>
      </p:sp>
      <p:sp>
        <p:nvSpPr>
          <p:cNvPr name="TextBox 73" id="73"/>
          <p:cNvSpPr txBox="true"/>
          <p:nvPr/>
        </p:nvSpPr>
        <p:spPr>
          <a:xfrm rot="0">
            <a:off x="8252012" y="8208940"/>
            <a:ext cx="723462"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Planned</a:t>
            </a:r>
          </a:p>
        </p:txBody>
      </p:sp>
      <p:sp>
        <p:nvSpPr>
          <p:cNvPr name="TextBox 74" id="74"/>
          <p:cNvSpPr txBox="true"/>
          <p:nvPr/>
        </p:nvSpPr>
        <p:spPr>
          <a:xfrm rot="0">
            <a:off x="8129673" y="3408340"/>
            <a:ext cx="973103"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Completed</a:t>
            </a:r>
          </a:p>
        </p:txBody>
      </p:sp>
      <p:sp>
        <p:nvSpPr>
          <p:cNvPr name="TextBox 75" id="75"/>
          <p:cNvSpPr txBox="true"/>
          <p:nvPr/>
        </p:nvSpPr>
        <p:spPr>
          <a:xfrm rot="0">
            <a:off x="8129673" y="5808640"/>
            <a:ext cx="973103"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Completed</a:t>
            </a:r>
          </a:p>
        </p:txBody>
      </p:sp>
      <p:sp>
        <p:nvSpPr>
          <p:cNvPr name="TextBox 76" id="76"/>
          <p:cNvSpPr txBox="true"/>
          <p:nvPr/>
        </p:nvSpPr>
        <p:spPr>
          <a:xfrm rot="0">
            <a:off x="13753233" y="3408340"/>
            <a:ext cx="973103"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Completed</a:t>
            </a:r>
          </a:p>
        </p:txBody>
      </p:sp>
      <p:sp>
        <p:nvSpPr>
          <p:cNvPr name="TextBox 77" id="77"/>
          <p:cNvSpPr txBox="true"/>
          <p:nvPr/>
        </p:nvSpPr>
        <p:spPr>
          <a:xfrm rot="0">
            <a:off x="13753233" y="5808640"/>
            <a:ext cx="973103"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Completed</a:t>
            </a:r>
          </a:p>
        </p:txBody>
      </p:sp>
      <p:sp>
        <p:nvSpPr>
          <p:cNvPr name="TextBox 78" id="78"/>
          <p:cNvSpPr txBox="true"/>
          <p:nvPr/>
        </p:nvSpPr>
        <p:spPr>
          <a:xfrm rot="0">
            <a:off x="13749366" y="8208940"/>
            <a:ext cx="981037" cy="307658"/>
          </a:xfrm>
          <a:prstGeom prst="rect">
            <a:avLst/>
          </a:prstGeom>
        </p:spPr>
        <p:txBody>
          <a:bodyPr anchor="t" rtlCol="false" tIns="0" lIns="0" bIns="0" rIns="0">
            <a:spAutoFit/>
          </a:bodyPr>
          <a:lstStyle/>
          <a:p>
            <a:pPr algn="l">
              <a:lnSpc>
                <a:spcPts val="2310"/>
              </a:lnSpc>
            </a:pPr>
            <a:r>
              <a:rPr lang="en-US" b="true" sz="1650">
                <a:solidFill>
                  <a:srgbClr val="0B2545"/>
                </a:solidFill>
                <a:latin typeface="Calibri (MS) Bold"/>
                <a:ea typeface="Calibri (MS) Bold"/>
                <a:cs typeface="Calibri (MS) Bold"/>
                <a:sym typeface="Calibri (MS) Bold"/>
              </a:rPr>
              <a:t>In progress</a:t>
            </a:r>
          </a:p>
        </p:txBody>
      </p:sp>
      <p:sp>
        <p:nvSpPr>
          <p:cNvPr name="TextBox 79" id="79"/>
          <p:cNvSpPr txBox="true"/>
          <p:nvPr/>
        </p:nvSpPr>
        <p:spPr>
          <a:xfrm rot="0">
            <a:off x="822960" y="9097280"/>
            <a:ext cx="11404873" cy="370522"/>
          </a:xfrm>
          <a:prstGeom prst="rect">
            <a:avLst/>
          </a:prstGeom>
        </p:spPr>
        <p:txBody>
          <a:bodyPr anchor="t" rtlCol="false" tIns="0" lIns="0" bIns="0" rIns="0">
            <a:spAutoFit/>
          </a:bodyPr>
          <a:lstStyle/>
          <a:p>
            <a:pPr algn="l">
              <a:lnSpc>
                <a:spcPts val="2729"/>
              </a:lnSpc>
            </a:pPr>
            <a:r>
              <a:rPr lang="en-US" sz="1950">
                <a:solidFill>
                  <a:srgbClr val="5A6B82"/>
                </a:solidFill>
                <a:latin typeface="Calibri (MS)"/>
                <a:ea typeface="Calibri (MS)"/>
                <a:cs typeface="Calibri (MS)"/>
                <a:sym typeface="Calibri (MS)"/>
              </a:rPr>
              <a:t>The six machine learning objectives are completed. The three application objectives are in progress or planned.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4694" y="1920554"/>
            <a:ext cx="1990096" cy="1576702"/>
          </a:xfrm>
          <a:custGeom>
            <a:avLst/>
            <a:gdLst/>
            <a:ahLst/>
            <a:cxnLst/>
            <a:rect r="r" b="b" t="t" l="l"/>
            <a:pathLst>
              <a:path h="1576702" w="1990096">
                <a:moveTo>
                  <a:pt x="0" y="0"/>
                </a:moveTo>
                <a:lnTo>
                  <a:pt x="1990097" y="0"/>
                </a:lnTo>
                <a:lnTo>
                  <a:pt x="1990097" y="1576702"/>
                </a:lnTo>
                <a:lnTo>
                  <a:pt x="0" y="1576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4694" y="3566474"/>
            <a:ext cx="1990096" cy="1576702"/>
          </a:xfrm>
          <a:custGeom>
            <a:avLst/>
            <a:gdLst/>
            <a:ahLst/>
            <a:cxnLst/>
            <a:rect r="r" b="b" t="t" l="l"/>
            <a:pathLst>
              <a:path h="1576702" w="1990096">
                <a:moveTo>
                  <a:pt x="0" y="0"/>
                </a:moveTo>
                <a:lnTo>
                  <a:pt x="1990097" y="0"/>
                </a:lnTo>
                <a:lnTo>
                  <a:pt x="1990097" y="1576702"/>
                </a:lnTo>
                <a:lnTo>
                  <a:pt x="0" y="15767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812094" y="1920554"/>
            <a:ext cx="1990096" cy="1576702"/>
          </a:xfrm>
          <a:custGeom>
            <a:avLst/>
            <a:gdLst/>
            <a:ahLst/>
            <a:cxnLst/>
            <a:rect r="r" b="b" t="t" l="l"/>
            <a:pathLst>
              <a:path h="1576702" w="1990096">
                <a:moveTo>
                  <a:pt x="0" y="0"/>
                </a:moveTo>
                <a:lnTo>
                  <a:pt x="1990097" y="0"/>
                </a:lnTo>
                <a:lnTo>
                  <a:pt x="1990097" y="1576702"/>
                </a:lnTo>
                <a:lnTo>
                  <a:pt x="0" y="15767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812094" y="3566474"/>
            <a:ext cx="1990096" cy="1576702"/>
          </a:xfrm>
          <a:custGeom>
            <a:avLst/>
            <a:gdLst/>
            <a:ahLst/>
            <a:cxnLst/>
            <a:rect r="r" b="b" t="t" l="l"/>
            <a:pathLst>
              <a:path h="1576702" w="1990096">
                <a:moveTo>
                  <a:pt x="0" y="0"/>
                </a:moveTo>
                <a:lnTo>
                  <a:pt x="1990097" y="0"/>
                </a:lnTo>
                <a:lnTo>
                  <a:pt x="1990097" y="1576702"/>
                </a:lnTo>
                <a:lnTo>
                  <a:pt x="0" y="15767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869494" y="1920554"/>
            <a:ext cx="1990096" cy="1576702"/>
          </a:xfrm>
          <a:custGeom>
            <a:avLst/>
            <a:gdLst/>
            <a:ahLst/>
            <a:cxnLst/>
            <a:rect r="r" b="b" t="t" l="l"/>
            <a:pathLst>
              <a:path h="1576702" w="1990096">
                <a:moveTo>
                  <a:pt x="0" y="0"/>
                </a:moveTo>
                <a:lnTo>
                  <a:pt x="1990097" y="0"/>
                </a:lnTo>
                <a:lnTo>
                  <a:pt x="1990097" y="1576702"/>
                </a:lnTo>
                <a:lnTo>
                  <a:pt x="0" y="1576702"/>
                </a:lnTo>
                <a:lnTo>
                  <a:pt x="0" y="0"/>
                </a:lnTo>
                <a:close/>
              </a:path>
            </a:pathLst>
          </a:custGeom>
          <a:blipFill>
            <a:blip r:embed="rId6">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4869494" y="3566474"/>
            <a:ext cx="1990096" cy="1576702"/>
          </a:xfrm>
          <a:custGeom>
            <a:avLst/>
            <a:gdLst/>
            <a:ahLst/>
            <a:cxnLst/>
            <a:rect r="r" b="b" t="t" l="l"/>
            <a:pathLst>
              <a:path h="1576702" w="1990096">
                <a:moveTo>
                  <a:pt x="0" y="0"/>
                </a:moveTo>
                <a:lnTo>
                  <a:pt x="1990097" y="0"/>
                </a:lnTo>
                <a:lnTo>
                  <a:pt x="1990097" y="1576702"/>
                </a:lnTo>
                <a:lnTo>
                  <a:pt x="0" y="1576702"/>
                </a:lnTo>
                <a:lnTo>
                  <a:pt x="0" y="0"/>
                </a:lnTo>
                <a:close/>
              </a:path>
            </a:pathLst>
          </a:custGeom>
          <a:blipFill>
            <a:blip r:embed="rId8">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754694" y="5898194"/>
            <a:ext cx="8230114" cy="3428362"/>
          </a:xfrm>
          <a:custGeom>
            <a:avLst/>
            <a:gdLst/>
            <a:ahLst/>
            <a:cxnLst/>
            <a:rect r="r" b="b" t="t" l="l"/>
            <a:pathLst>
              <a:path h="3428362" w="8230114">
                <a:moveTo>
                  <a:pt x="0" y="0"/>
                </a:moveTo>
                <a:lnTo>
                  <a:pt x="8230115" y="0"/>
                </a:lnTo>
                <a:lnTo>
                  <a:pt x="8230115" y="3428362"/>
                </a:lnTo>
                <a:lnTo>
                  <a:pt x="0" y="342836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6926894" y="1920554"/>
            <a:ext cx="1990096" cy="1576702"/>
          </a:xfrm>
          <a:custGeom>
            <a:avLst/>
            <a:gdLst/>
            <a:ahLst/>
            <a:cxnLst/>
            <a:rect r="r" b="b" t="t" l="l"/>
            <a:pathLst>
              <a:path h="1576702" w="1990096">
                <a:moveTo>
                  <a:pt x="0" y="0"/>
                </a:moveTo>
                <a:lnTo>
                  <a:pt x="1990097" y="0"/>
                </a:lnTo>
                <a:lnTo>
                  <a:pt x="1990097" y="1576702"/>
                </a:lnTo>
                <a:lnTo>
                  <a:pt x="0" y="1576702"/>
                </a:lnTo>
                <a:lnTo>
                  <a:pt x="0" y="0"/>
                </a:lnTo>
                <a:close/>
              </a:path>
            </a:pathLst>
          </a:custGeom>
          <a:blipFill>
            <a:blip r:embed="rId6">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6926894" y="3566474"/>
            <a:ext cx="1990096" cy="1576702"/>
          </a:xfrm>
          <a:custGeom>
            <a:avLst/>
            <a:gdLst/>
            <a:ahLst/>
            <a:cxnLst/>
            <a:rect r="r" b="b" t="t" l="l"/>
            <a:pathLst>
              <a:path h="1576702" w="1990096">
                <a:moveTo>
                  <a:pt x="0" y="0"/>
                </a:moveTo>
                <a:lnTo>
                  <a:pt x="1990097" y="0"/>
                </a:lnTo>
                <a:lnTo>
                  <a:pt x="1990097" y="1576702"/>
                </a:lnTo>
                <a:lnTo>
                  <a:pt x="0" y="1576702"/>
                </a:lnTo>
                <a:lnTo>
                  <a:pt x="0" y="0"/>
                </a:lnTo>
                <a:close/>
              </a:path>
            </a:pathLst>
          </a:custGeom>
          <a:blipFill>
            <a:blip r:embed="rId8">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9464354" y="8435654"/>
            <a:ext cx="8022965" cy="1028062"/>
          </a:xfrm>
          <a:custGeom>
            <a:avLst/>
            <a:gdLst/>
            <a:ahLst/>
            <a:cxnLst/>
            <a:rect r="r" b="b" t="t" l="l"/>
            <a:pathLst>
              <a:path h="1028062" w="8022965">
                <a:moveTo>
                  <a:pt x="0" y="0"/>
                </a:moveTo>
                <a:lnTo>
                  <a:pt x="8022965" y="0"/>
                </a:lnTo>
                <a:lnTo>
                  <a:pt x="8022965" y="1028062"/>
                </a:lnTo>
                <a:lnTo>
                  <a:pt x="0" y="102806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9464354" y="2606354"/>
            <a:ext cx="8024127" cy="5787514"/>
          </a:xfrm>
          <a:custGeom>
            <a:avLst/>
            <a:gdLst/>
            <a:ahLst/>
            <a:cxnLst/>
            <a:rect r="r" b="b" t="t" l="l"/>
            <a:pathLst>
              <a:path h="5787514" w="8024127">
                <a:moveTo>
                  <a:pt x="0" y="0"/>
                </a:moveTo>
                <a:lnTo>
                  <a:pt x="8024127" y="0"/>
                </a:lnTo>
                <a:lnTo>
                  <a:pt x="8024127" y="5787514"/>
                </a:lnTo>
                <a:lnTo>
                  <a:pt x="0" y="578751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3" id="13"/>
          <p:cNvGrpSpPr/>
          <p:nvPr/>
        </p:nvGrpSpPr>
        <p:grpSpPr>
          <a:xfrm rot="0">
            <a:off x="15784954" y="200911"/>
            <a:ext cx="2179863" cy="828675"/>
            <a:chOff x="0" y="0"/>
            <a:chExt cx="2906484" cy="1104900"/>
          </a:xfrm>
        </p:grpSpPr>
        <p:sp>
          <p:nvSpPr>
            <p:cNvPr name="Freeform 14" id="14"/>
            <p:cNvSpPr/>
            <p:nvPr/>
          </p:nvSpPr>
          <p:spPr>
            <a:xfrm flipH="false" flipV="false" rot="0">
              <a:off x="0" y="0"/>
              <a:ext cx="2906522" cy="1104900"/>
            </a:xfrm>
            <a:custGeom>
              <a:avLst/>
              <a:gdLst/>
              <a:ahLst/>
              <a:cxnLst/>
              <a:rect r="r" b="b" t="t" l="l"/>
              <a:pathLst>
                <a:path h="1104900" w="2906522">
                  <a:moveTo>
                    <a:pt x="0" y="0"/>
                  </a:moveTo>
                  <a:lnTo>
                    <a:pt x="2906522" y="0"/>
                  </a:lnTo>
                  <a:lnTo>
                    <a:pt x="2906522" y="1104900"/>
                  </a:lnTo>
                  <a:lnTo>
                    <a:pt x="0" y="1104900"/>
                  </a:lnTo>
                  <a:lnTo>
                    <a:pt x="0" y="0"/>
                  </a:lnTo>
                  <a:close/>
                </a:path>
              </a:pathLst>
            </a:custGeom>
            <a:blipFill>
              <a:blip r:embed="rId20"/>
              <a:stretch>
                <a:fillRect l="-3558" t="-4895" r="1" b="-4300"/>
              </a:stretch>
            </a:blipFill>
          </p:spPr>
        </p:sp>
      </p:grpSp>
      <p:grpSp>
        <p:nvGrpSpPr>
          <p:cNvPr name="Group 15" id="15"/>
          <p:cNvGrpSpPr/>
          <p:nvPr/>
        </p:nvGrpSpPr>
        <p:grpSpPr>
          <a:xfrm rot="0">
            <a:off x="818198" y="1984058"/>
            <a:ext cx="1861185" cy="1449705"/>
            <a:chOff x="0" y="0"/>
            <a:chExt cx="1861185" cy="1449705"/>
          </a:xfrm>
        </p:grpSpPr>
        <p:sp>
          <p:nvSpPr>
            <p:cNvPr name="Freeform 16" id="16"/>
            <p:cNvSpPr/>
            <p:nvPr/>
          </p:nvSpPr>
          <p:spPr>
            <a:xfrm flipH="false" flipV="false" rot="0">
              <a:off x="0" y="0"/>
              <a:ext cx="1861185" cy="1449705"/>
            </a:xfrm>
            <a:custGeom>
              <a:avLst/>
              <a:gdLst/>
              <a:ahLst/>
              <a:cxnLst/>
              <a:rect r="r" b="b" t="t" l="l"/>
              <a:pathLst>
                <a:path h="1449705" w="1861185">
                  <a:moveTo>
                    <a:pt x="0" y="1449705"/>
                  </a:moveTo>
                  <a:lnTo>
                    <a:pt x="1861185" y="1449705"/>
                  </a:lnTo>
                  <a:lnTo>
                    <a:pt x="1861185" y="0"/>
                  </a:lnTo>
                  <a:lnTo>
                    <a:pt x="0" y="0"/>
                  </a:lnTo>
                  <a:close/>
                </a:path>
              </a:pathLst>
            </a:custGeom>
            <a:solidFill>
              <a:srgbClr val="000000">
                <a:alpha val="0"/>
              </a:srgbClr>
            </a:solidFill>
          </p:spPr>
        </p:sp>
      </p:grpSp>
      <p:grpSp>
        <p:nvGrpSpPr>
          <p:cNvPr name="Group 17" id="17"/>
          <p:cNvGrpSpPr/>
          <p:nvPr/>
        </p:nvGrpSpPr>
        <p:grpSpPr>
          <a:xfrm rot="0">
            <a:off x="818198" y="3629978"/>
            <a:ext cx="1861185" cy="1449705"/>
            <a:chOff x="0" y="0"/>
            <a:chExt cx="1861185" cy="1449705"/>
          </a:xfrm>
        </p:grpSpPr>
        <p:sp>
          <p:nvSpPr>
            <p:cNvPr name="Freeform 18" id="18"/>
            <p:cNvSpPr/>
            <p:nvPr/>
          </p:nvSpPr>
          <p:spPr>
            <a:xfrm flipH="false" flipV="false" rot="0">
              <a:off x="0" y="0"/>
              <a:ext cx="1861185" cy="1449705"/>
            </a:xfrm>
            <a:custGeom>
              <a:avLst/>
              <a:gdLst/>
              <a:ahLst/>
              <a:cxnLst/>
              <a:rect r="r" b="b" t="t" l="l"/>
              <a:pathLst>
                <a:path h="1449705" w="1861185">
                  <a:moveTo>
                    <a:pt x="0" y="1449705"/>
                  </a:moveTo>
                  <a:lnTo>
                    <a:pt x="1861185" y="1449705"/>
                  </a:lnTo>
                  <a:lnTo>
                    <a:pt x="1861185" y="0"/>
                  </a:lnTo>
                  <a:lnTo>
                    <a:pt x="0" y="0"/>
                  </a:lnTo>
                  <a:close/>
                </a:path>
              </a:pathLst>
            </a:custGeom>
            <a:solidFill>
              <a:srgbClr val="000000">
                <a:alpha val="0"/>
              </a:srgbClr>
            </a:solidFill>
          </p:spPr>
        </p:sp>
      </p:grpSp>
      <p:grpSp>
        <p:nvGrpSpPr>
          <p:cNvPr name="Group 19" id="19"/>
          <p:cNvGrpSpPr/>
          <p:nvPr/>
        </p:nvGrpSpPr>
        <p:grpSpPr>
          <a:xfrm rot="0">
            <a:off x="754694" y="5898194"/>
            <a:ext cx="4114162" cy="3428362"/>
            <a:chOff x="0" y="0"/>
            <a:chExt cx="4114165" cy="3428365"/>
          </a:xfrm>
        </p:grpSpPr>
        <p:sp>
          <p:nvSpPr>
            <p:cNvPr name="Freeform 20" id="20"/>
            <p:cNvSpPr/>
            <p:nvPr/>
          </p:nvSpPr>
          <p:spPr>
            <a:xfrm flipH="false" flipV="false" rot="0">
              <a:off x="63500" y="63500"/>
              <a:ext cx="3987165" cy="750189"/>
            </a:xfrm>
            <a:custGeom>
              <a:avLst/>
              <a:gdLst/>
              <a:ahLst/>
              <a:cxnLst/>
              <a:rect r="r" b="b" t="t" l="l"/>
              <a:pathLst>
                <a:path h="750189" w="3987165">
                  <a:moveTo>
                    <a:pt x="0" y="750189"/>
                  </a:moveTo>
                  <a:lnTo>
                    <a:pt x="3987165" y="750189"/>
                  </a:lnTo>
                  <a:lnTo>
                    <a:pt x="3987165" y="0"/>
                  </a:lnTo>
                  <a:lnTo>
                    <a:pt x="0" y="0"/>
                  </a:lnTo>
                  <a:close/>
                </a:path>
              </a:pathLst>
            </a:custGeom>
            <a:solidFill>
              <a:srgbClr val="000000">
                <a:alpha val="0"/>
              </a:srgbClr>
            </a:solidFill>
          </p:spPr>
        </p:sp>
        <p:sp>
          <p:nvSpPr>
            <p:cNvPr name="Freeform 21" id="21"/>
            <p:cNvSpPr/>
            <p:nvPr/>
          </p:nvSpPr>
          <p:spPr>
            <a:xfrm flipH="false" flipV="false" rot="0">
              <a:off x="63500" y="913892"/>
              <a:ext cx="3987165" cy="750189"/>
            </a:xfrm>
            <a:custGeom>
              <a:avLst/>
              <a:gdLst/>
              <a:ahLst/>
              <a:cxnLst/>
              <a:rect r="r" b="b" t="t" l="l"/>
              <a:pathLst>
                <a:path h="750189" w="3987165">
                  <a:moveTo>
                    <a:pt x="0" y="750189"/>
                  </a:moveTo>
                  <a:lnTo>
                    <a:pt x="3987165" y="750189"/>
                  </a:lnTo>
                  <a:lnTo>
                    <a:pt x="3987165" y="0"/>
                  </a:lnTo>
                  <a:lnTo>
                    <a:pt x="0" y="0"/>
                  </a:lnTo>
                  <a:close/>
                </a:path>
              </a:pathLst>
            </a:custGeom>
            <a:solidFill>
              <a:srgbClr val="000000">
                <a:alpha val="0"/>
              </a:srgbClr>
            </a:solidFill>
          </p:spPr>
        </p:sp>
        <p:sp>
          <p:nvSpPr>
            <p:cNvPr name="Freeform 22" id="22"/>
            <p:cNvSpPr/>
            <p:nvPr/>
          </p:nvSpPr>
          <p:spPr>
            <a:xfrm flipH="false" flipV="false" rot="0">
              <a:off x="63500" y="1764284"/>
              <a:ext cx="3987165" cy="750189"/>
            </a:xfrm>
            <a:custGeom>
              <a:avLst/>
              <a:gdLst/>
              <a:ahLst/>
              <a:cxnLst/>
              <a:rect r="r" b="b" t="t" l="l"/>
              <a:pathLst>
                <a:path h="750189" w="3987165">
                  <a:moveTo>
                    <a:pt x="0" y="750189"/>
                  </a:moveTo>
                  <a:lnTo>
                    <a:pt x="3987165" y="750189"/>
                  </a:lnTo>
                  <a:lnTo>
                    <a:pt x="3987165" y="0"/>
                  </a:lnTo>
                  <a:lnTo>
                    <a:pt x="0" y="0"/>
                  </a:lnTo>
                  <a:close/>
                </a:path>
              </a:pathLst>
            </a:custGeom>
            <a:solidFill>
              <a:srgbClr val="000000">
                <a:alpha val="0"/>
              </a:srgbClr>
            </a:solidFill>
          </p:spPr>
        </p:sp>
        <p:sp>
          <p:nvSpPr>
            <p:cNvPr name="Freeform 23" id="23"/>
            <p:cNvSpPr/>
            <p:nvPr/>
          </p:nvSpPr>
          <p:spPr>
            <a:xfrm flipH="false" flipV="false" rot="0">
              <a:off x="63500" y="2614676"/>
              <a:ext cx="3987165" cy="750189"/>
            </a:xfrm>
            <a:custGeom>
              <a:avLst/>
              <a:gdLst/>
              <a:ahLst/>
              <a:cxnLst/>
              <a:rect r="r" b="b" t="t" l="l"/>
              <a:pathLst>
                <a:path h="750189" w="3987165">
                  <a:moveTo>
                    <a:pt x="0" y="750189"/>
                  </a:moveTo>
                  <a:lnTo>
                    <a:pt x="3987165" y="750189"/>
                  </a:lnTo>
                  <a:lnTo>
                    <a:pt x="3987165" y="0"/>
                  </a:lnTo>
                  <a:lnTo>
                    <a:pt x="0" y="0"/>
                  </a:lnTo>
                  <a:close/>
                </a:path>
              </a:pathLst>
            </a:custGeom>
            <a:solidFill>
              <a:srgbClr val="000000">
                <a:alpha val="0"/>
              </a:srgbClr>
            </a:solidFill>
          </p:spPr>
        </p:sp>
      </p:grpSp>
      <p:grpSp>
        <p:nvGrpSpPr>
          <p:cNvPr name="Group 24" id="24"/>
          <p:cNvGrpSpPr/>
          <p:nvPr/>
        </p:nvGrpSpPr>
        <p:grpSpPr>
          <a:xfrm rot="0">
            <a:off x="2875598" y="1984058"/>
            <a:ext cx="1861185" cy="1449705"/>
            <a:chOff x="0" y="0"/>
            <a:chExt cx="1861185" cy="1449705"/>
          </a:xfrm>
        </p:grpSpPr>
        <p:sp>
          <p:nvSpPr>
            <p:cNvPr name="Freeform 25" id="25"/>
            <p:cNvSpPr/>
            <p:nvPr/>
          </p:nvSpPr>
          <p:spPr>
            <a:xfrm flipH="false" flipV="false" rot="0">
              <a:off x="0" y="0"/>
              <a:ext cx="1861185" cy="1449705"/>
            </a:xfrm>
            <a:custGeom>
              <a:avLst/>
              <a:gdLst/>
              <a:ahLst/>
              <a:cxnLst/>
              <a:rect r="r" b="b" t="t" l="l"/>
              <a:pathLst>
                <a:path h="1449705" w="1861185">
                  <a:moveTo>
                    <a:pt x="0" y="1449705"/>
                  </a:moveTo>
                  <a:lnTo>
                    <a:pt x="1861185" y="1449705"/>
                  </a:lnTo>
                  <a:lnTo>
                    <a:pt x="1861185" y="0"/>
                  </a:lnTo>
                  <a:lnTo>
                    <a:pt x="0" y="0"/>
                  </a:lnTo>
                  <a:close/>
                </a:path>
              </a:pathLst>
            </a:custGeom>
            <a:solidFill>
              <a:srgbClr val="000000">
                <a:alpha val="0"/>
              </a:srgbClr>
            </a:solidFill>
          </p:spPr>
        </p:sp>
      </p:grpSp>
      <p:grpSp>
        <p:nvGrpSpPr>
          <p:cNvPr name="Group 26" id="26"/>
          <p:cNvGrpSpPr/>
          <p:nvPr/>
        </p:nvGrpSpPr>
        <p:grpSpPr>
          <a:xfrm rot="0">
            <a:off x="2875598" y="3629978"/>
            <a:ext cx="1861185" cy="1449705"/>
            <a:chOff x="0" y="0"/>
            <a:chExt cx="1861185" cy="1449705"/>
          </a:xfrm>
        </p:grpSpPr>
        <p:sp>
          <p:nvSpPr>
            <p:cNvPr name="Freeform 27" id="27"/>
            <p:cNvSpPr/>
            <p:nvPr/>
          </p:nvSpPr>
          <p:spPr>
            <a:xfrm flipH="false" flipV="false" rot="0">
              <a:off x="0" y="0"/>
              <a:ext cx="1861185" cy="1449705"/>
            </a:xfrm>
            <a:custGeom>
              <a:avLst/>
              <a:gdLst/>
              <a:ahLst/>
              <a:cxnLst/>
              <a:rect r="r" b="b" t="t" l="l"/>
              <a:pathLst>
                <a:path h="1449705" w="1861185">
                  <a:moveTo>
                    <a:pt x="0" y="1449705"/>
                  </a:moveTo>
                  <a:lnTo>
                    <a:pt x="1861185" y="1449705"/>
                  </a:lnTo>
                  <a:lnTo>
                    <a:pt x="1861185" y="0"/>
                  </a:lnTo>
                  <a:lnTo>
                    <a:pt x="0" y="0"/>
                  </a:lnTo>
                  <a:close/>
                </a:path>
              </a:pathLst>
            </a:custGeom>
            <a:solidFill>
              <a:srgbClr val="000000">
                <a:alpha val="0"/>
              </a:srgbClr>
            </a:solidFill>
          </p:spPr>
        </p:sp>
      </p:grpSp>
      <p:grpSp>
        <p:nvGrpSpPr>
          <p:cNvPr name="Group 28" id="28"/>
          <p:cNvGrpSpPr/>
          <p:nvPr/>
        </p:nvGrpSpPr>
        <p:grpSpPr>
          <a:xfrm rot="0">
            <a:off x="4932997" y="1984058"/>
            <a:ext cx="1861185" cy="1449705"/>
            <a:chOff x="0" y="0"/>
            <a:chExt cx="1861185" cy="1449705"/>
          </a:xfrm>
        </p:grpSpPr>
        <p:sp>
          <p:nvSpPr>
            <p:cNvPr name="Freeform 29" id="29"/>
            <p:cNvSpPr/>
            <p:nvPr/>
          </p:nvSpPr>
          <p:spPr>
            <a:xfrm flipH="false" flipV="false" rot="0">
              <a:off x="0" y="0"/>
              <a:ext cx="1861185" cy="1449705"/>
            </a:xfrm>
            <a:custGeom>
              <a:avLst/>
              <a:gdLst/>
              <a:ahLst/>
              <a:cxnLst/>
              <a:rect r="r" b="b" t="t" l="l"/>
              <a:pathLst>
                <a:path h="1449705" w="1861185">
                  <a:moveTo>
                    <a:pt x="0" y="1449705"/>
                  </a:moveTo>
                  <a:lnTo>
                    <a:pt x="1861185" y="1449705"/>
                  </a:lnTo>
                  <a:lnTo>
                    <a:pt x="1861185" y="0"/>
                  </a:lnTo>
                  <a:lnTo>
                    <a:pt x="0" y="0"/>
                  </a:lnTo>
                  <a:close/>
                </a:path>
              </a:pathLst>
            </a:custGeom>
            <a:solidFill>
              <a:srgbClr val="000000">
                <a:alpha val="0"/>
              </a:srgbClr>
            </a:solidFill>
          </p:spPr>
        </p:sp>
      </p:grpSp>
      <p:grpSp>
        <p:nvGrpSpPr>
          <p:cNvPr name="Group 30" id="30"/>
          <p:cNvGrpSpPr/>
          <p:nvPr/>
        </p:nvGrpSpPr>
        <p:grpSpPr>
          <a:xfrm rot="0">
            <a:off x="4932997" y="3629978"/>
            <a:ext cx="1861185" cy="1449705"/>
            <a:chOff x="0" y="0"/>
            <a:chExt cx="1861185" cy="1449705"/>
          </a:xfrm>
        </p:grpSpPr>
        <p:sp>
          <p:nvSpPr>
            <p:cNvPr name="Freeform 31" id="31"/>
            <p:cNvSpPr/>
            <p:nvPr/>
          </p:nvSpPr>
          <p:spPr>
            <a:xfrm flipH="false" flipV="false" rot="0">
              <a:off x="0" y="0"/>
              <a:ext cx="1861185" cy="1449705"/>
            </a:xfrm>
            <a:custGeom>
              <a:avLst/>
              <a:gdLst/>
              <a:ahLst/>
              <a:cxnLst/>
              <a:rect r="r" b="b" t="t" l="l"/>
              <a:pathLst>
                <a:path h="1449705" w="1861185">
                  <a:moveTo>
                    <a:pt x="0" y="1449705"/>
                  </a:moveTo>
                  <a:lnTo>
                    <a:pt x="1861185" y="1449705"/>
                  </a:lnTo>
                  <a:lnTo>
                    <a:pt x="1861185" y="0"/>
                  </a:lnTo>
                  <a:lnTo>
                    <a:pt x="0" y="0"/>
                  </a:lnTo>
                  <a:close/>
                </a:path>
              </a:pathLst>
            </a:custGeom>
            <a:solidFill>
              <a:srgbClr val="000000">
                <a:alpha val="0"/>
              </a:srgbClr>
            </a:solidFill>
          </p:spPr>
        </p:sp>
      </p:grpSp>
      <p:grpSp>
        <p:nvGrpSpPr>
          <p:cNvPr name="Group 32" id="32"/>
          <p:cNvGrpSpPr/>
          <p:nvPr/>
        </p:nvGrpSpPr>
        <p:grpSpPr>
          <a:xfrm rot="0">
            <a:off x="4869494" y="5898194"/>
            <a:ext cx="4114162" cy="3428362"/>
            <a:chOff x="0" y="0"/>
            <a:chExt cx="4114165" cy="3428365"/>
          </a:xfrm>
        </p:grpSpPr>
        <p:sp>
          <p:nvSpPr>
            <p:cNvPr name="Freeform 33" id="33"/>
            <p:cNvSpPr/>
            <p:nvPr/>
          </p:nvSpPr>
          <p:spPr>
            <a:xfrm flipH="false" flipV="false" rot="0">
              <a:off x="63500" y="63500"/>
              <a:ext cx="3987165" cy="750189"/>
            </a:xfrm>
            <a:custGeom>
              <a:avLst/>
              <a:gdLst/>
              <a:ahLst/>
              <a:cxnLst/>
              <a:rect r="r" b="b" t="t" l="l"/>
              <a:pathLst>
                <a:path h="750189" w="3987165">
                  <a:moveTo>
                    <a:pt x="0" y="750189"/>
                  </a:moveTo>
                  <a:lnTo>
                    <a:pt x="3987165" y="750189"/>
                  </a:lnTo>
                  <a:lnTo>
                    <a:pt x="3987165" y="0"/>
                  </a:lnTo>
                  <a:lnTo>
                    <a:pt x="0" y="0"/>
                  </a:lnTo>
                  <a:close/>
                </a:path>
              </a:pathLst>
            </a:custGeom>
            <a:solidFill>
              <a:srgbClr val="000000">
                <a:alpha val="0"/>
              </a:srgbClr>
            </a:solidFill>
          </p:spPr>
        </p:sp>
        <p:sp>
          <p:nvSpPr>
            <p:cNvPr name="Freeform 34" id="34"/>
            <p:cNvSpPr/>
            <p:nvPr/>
          </p:nvSpPr>
          <p:spPr>
            <a:xfrm flipH="false" flipV="false" rot="0">
              <a:off x="63500" y="913892"/>
              <a:ext cx="3987165" cy="750189"/>
            </a:xfrm>
            <a:custGeom>
              <a:avLst/>
              <a:gdLst/>
              <a:ahLst/>
              <a:cxnLst/>
              <a:rect r="r" b="b" t="t" l="l"/>
              <a:pathLst>
                <a:path h="750189" w="3987165">
                  <a:moveTo>
                    <a:pt x="0" y="750189"/>
                  </a:moveTo>
                  <a:lnTo>
                    <a:pt x="3987165" y="750189"/>
                  </a:lnTo>
                  <a:lnTo>
                    <a:pt x="3987165" y="0"/>
                  </a:lnTo>
                  <a:lnTo>
                    <a:pt x="0" y="0"/>
                  </a:lnTo>
                  <a:close/>
                </a:path>
              </a:pathLst>
            </a:custGeom>
            <a:solidFill>
              <a:srgbClr val="000000">
                <a:alpha val="0"/>
              </a:srgbClr>
            </a:solidFill>
          </p:spPr>
        </p:sp>
        <p:sp>
          <p:nvSpPr>
            <p:cNvPr name="Freeform 35" id="35"/>
            <p:cNvSpPr/>
            <p:nvPr/>
          </p:nvSpPr>
          <p:spPr>
            <a:xfrm flipH="false" flipV="false" rot="0">
              <a:off x="63500" y="1764284"/>
              <a:ext cx="3987165" cy="750189"/>
            </a:xfrm>
            <a:custGeom>
              <a:avLst/>
              <a:gdLst/>
              <a:ahLst/>
              <a:cxnLst/>
              <a:rect r="r" b="b" t="t" l="l"/>
              <a:pathLst>
                <a:path h="750189" w="3987165">
                  <a:moveTo>
                    <a:pt x="0" y="750189"/>
                  </a:moveTo>
                  <a:lnTo>
                    <a:pt x="3987165" y="750189"/>
                  </a:lnTo>
                  <a:lnTo>
                    <a:pt x="3987165" y="0"/>
                  </a:lnTo>
                  <a:lnTo>
                    <a:pt x="0" y="0"/>
                  </a:lnTo>
                  <a:close/>
                </a:path>
              </a:pathLst>
            </a:custGeom>
            <a:solidFill>
              <a:srgbClr val="000000">
                <a:alpha val="0"/>
              </a:srgbClr>
            </a:solidFill>
          </p:spPr>
        </p:sp>
        <p:sp>
          <p:nvSpPr>
            <p:cNvPr name="Freeform 36" id="36"/>
            <p:cNvSpPr/>
            <p:nvPr/>
          </p:nvSpPr>
          <p:spPr>
            <a:xfrm flipH="false" flipV="false" rot="0">
              <a:off x="63500" y="2614676"/>
              <a:ext cx="3987165" cy="750189"/>
            </a:xfrm>
            <a:custGeom>
              <a:avLst/>
              <a:gdLst/>
              <a:ahLst/>
              <a:cxnLst/>
              <a:rect r="r" b="b" t="t" l="l"/>
              <a:pathLst>
                <a:path h="750189" w="3987165">
                  <a:moveTo>
                    <a:pt x="0" y="750189"/>
                  </a:moveTo>
                  <a:lnTo>
                    <a:pt x="3987165" y="750189"/>
                  </a:lnTo>
                  <a:lnTo>
                    <a:pt x="3987165" y="0"/>
                  </a:lnTo>
                  <a:lnTo>
                    <a:pt x="0" y="0"/>
                  </a:lnTo>
                  <a:close/>
                </a:path>
              </a:pathLst>
            </a:custGeom>
            <a:solidFill>
              <a:srgbClr val="000000">
                <a:alpha val="0"/>
              </a:srgbClr>
            </a:solidFill>
          </p:spPr>
        </p:sp>
      </p:grpSp>
      <p:grpSp>
        <p:nvGrpSpPr>
          <p:cNvPr name="Group 37" id="37"/>
          <p:cNvGrpSpPr/>
          <p:nvPr/>
        </p:nvGrpSpPr>
        <p:grpSpPr>
          <a:xfrm rot="0">
            <a:off x="6990397" y="1984058"/>
            <a:ext cx="1861185" cy="1449705"/>
            <a:chOff x="0" y="0"/>
            <a:chExt cx="1861185" cy="1449705"/>
          </a:xfrm>
        </p:grpSpPr>
        <p:sp>
          <p:nvSpPr>
            <p:cNvPr name="Freeform 38" id="38"/>
            <p:cNvSpPr/>
            <p:nvPr/>
          </p:nvSpPr>
          <p:spPr>
            <a:xfrm flipH="false" flipV="false" rot="0">
              <a:off x="0" y="0"/>
              <a:ext cx="1861185" cy="1449705"/>
            </a:xfrm>
            <a:custGeom>
              <a:avLst/>
              <a:gdLst/>
              <a:ahLst/>
              <a:cxnLst/>
              <a:rect r="r" b="b" t="t" l="l"/>
              <a:pathLst>
                <a:path h="1449705" w="1861185">
                  <a:moveTo>
                    <a:pt x="0" y="1449705"/>
                  </a:moveTo>
                  <a:lnTo>
                    <a:pt x="1861185" y="1449705"/>
                  </a:lnTo>
                  <a:lnTo>
                    <a:pt x="1861185" y="0"/>
                  </a:lnTo>
                  <a:lnTo>
                    <a:pt x="0" y="0"/>
                  </a:lnTo>
                  <a:close/>
                </a:path>
              </a:pathLst>
            </a:custGeom>
            <a:solidFill>
              <a:srgbClr val="000000">
                <a:alpha val="0"/>
              </a:srgbClr>
            </a:solidFill>
          </p:spPr>
        </p:sp>
      </p:grpSp>
      <p:grpSp>
        <p:nvGrpSpPr>
          <p:cNvPr name="Group 39" id="39"/>
          <p:cNvGrpSpPr/>
          <p:nvPr/>
        </p:nvGrpSpPr>
        <p:grpSpPr>
          <a:xfrm rot="0">
            <a:off x="6990397" y="3629978"/>
            <a:ext cx="1861185" cy="1449705"/>
            <a:chOff x="0" y="0"/>
            <a:chExt cx="1861185" cy="1449705"/>
          </a:xfrm>
        </p:grpSpPr>
        <p:sp>
          <p:nvSpPr>
            <p:cNvPr name="Freeform 40" id="40"/>
            <p:cNvSpPr/>
            <p:nvPr/>
          </p:nvSpPr>
          <p:spPr>
            <a:xfrm flipH="false" flipV="false" rot="0">
              <a:off x="0" y="0"/>
              <a:ext cx="1861185" cy="1449705"/>
            </a:xfrm>
            <a:custGeom>
              <a:avLst/>
              <a:gdLst/>
              <a:ahLst/>
              <a:cxnLst/>
              <a:rect r="r" b="b" t="t" l="l"/>
              <a:pathLst>
                <a:path h="1449705" w="1861185">
                  <a:moveTo>
                    <a:pt x="0" y="1449705"/>
                  </a:moveTo>
                  <a:lnTo>
                    <a:pt x="1861185" y="1449705"/>
                  </a:lnTo>
                  <a:lnTo>
                    <a:pt x="1861185" y="0"/>
                  </a:lnTo>
                  <a:lnTo>
                    <a:pt x="0" y="0"/>
                  </a:lnTo>
                  <a:close/>
                </a:path>
              </a:pathLst>
            </a:custGeom>
            <a:solidFill>
              <a:srgbClr val="000000">
                <a:alpha val="0"/>
              </a:srgbClr>
            </a:solidFill>
          </p:spPr>
        </p:sp>
      </p:grpSp>
      <p:grpSp>
        <p:nvGrpSpPr>
          <p:cNvPr name="Group 41" id="41"/>
          <p:cNvGrpSpPr/>
          <p:nvPr/>
        </p:nvGrpSpPr>
        <p:grpSpPr>
          <a:xfrm rot="0">
            <a:off x="9527857" y="8499157"/>
            <a:ext cx="7896225" cy="901065"/>
            <a:chOff x="0" y="0"/>
            <a:chExt cx="7896225" cy="901065"/>
          </a:xfrm>
        </p:grpSpPr>
        <p:sp>
          <p:nvSpPr>
            <p:cNvPr name="Freeform 42" id="42"/>
            <p:cNvSpPr/>
            <p:nvPr/>
          </p:nvSpPr>
          <p:spPr>
            <a:xfrm flipH="false" flipV="false" rot="0">
              <a:off x="0" y="0"/>
              <a:ext cx="7896225" cy="901065"/>
            </a:xfrm>
            <a:custGeom>
              <a:avLst/>
              <a:gdLst/>
              <a:ahLst/>
              <a:cxnLst/>
              <a:rect r="r" b="b" t="t" l="l"/>
              <a:pathLst>
                <a:path h="901065" w="7896225">
                  <a:moveTo>
                    <a:pt x="0" y="901065"/>
                  </a:moveTo>
                  <a:lnTo>
                    <a:pt x="7896225" y="901065"/>
                  </a:lnTo>
                  <a:lnTo>
                    <a:pt x="7896225" y="0"/>
                  </a:lnTo>
                  <a:lnTo>
                    <a:pt x="0" y="0"/>
                  </a:lnTo>
                  <a:close/>
                </a:path>
              </a:pathLst>
            </a:custGeom>
            <a:solidFill>
              <a:srgbClr val="000000">
                <a:alpha val="0"/>
              </a:srgbClr>
            </a:solidFill>
          </p:spPr>
        </p:sp>
      </p:grpSp>
      <p:grpSp>
        <p:nvGrpSpPr>
          <p:cNvPr name="Group 43" id="43"/>
          <p:cNvGrpSpPr/>
          <p:nvPr/>
        </p:nvGrpSpPr>
        <p:grpSpPr>
          <a:xfrm rot="0">
            <a:off x="9464354" y="2606354"/>
            <a:ext cx="8023222" cy="5787514"/>
            <a:chOff x="0" y="0"/>
            <a:chExt cx="8023225" cy="5787517"/>
          </a:xfrm>
        </p:grpSpPr>
        <p:sp>
          <p:nvSpPr>
            <p:cNvPr name="Freeform 44" id="44"/>
            <p:cNvSpPr/>
            <p:nvPr/>
          </p:nvSpPr>
          <p:spPr>
            <a:xfrm flipH="false" flipV="false" rot="0">
              <a:off x="63500" y="63500"/>
              <a:ext cx="7896225" cy="859917"/>
            </a:xfrm>
            <a:custGeom>
              <a:avLst/>
              <a:gdLst/>
              <a:ahLst/>
              <a:cxnLst/>
              <a:rect r="r" b="b" t="t" l="l"/>
              <a:pathLst>
                <a:path h="859917" w="7896225">
                  <a:moveTo>
                    <a:pt x="0" y="859917"/>
                  </a:moveTo>
                  <a:lnTo>
                    <a:pt x="7896225" y="859917"/>
                  </a:lnTo>
                  <a:lnTo>
                    <a:pt x="7896225" y="0"/>
                  </a:lnTo>
                  <a:lnTo>
                    <a:pt x="0" y="0"/>
                  </a:lnTo>
                  <a:close/>
                </a:path>
              </a:pathLst>
            </a:custGeom>
            <a:solidFill>
              <a:srgbClr val="000000">
                <a:alpha val="0"/>
              </a:srgbClr>
            </a:solidFill>
          </p:spPr>
        </p:sp>
        <p:sp>
          <p:nvSpPr>
            <p:cNvPr name="Freeform 45" id="45"/>
            <p:cNvSpPr/>
            <p:nvPr/>
          </p:nvSpPr>
          <p:spPr>
            <a:xfrm flipH="false" flipV="false" rot="0">
              <a:off x="228092" y="20066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sp>
          <p:nvSpPr>
            <p:cNvPr name="Freeform 46" id="46"/>
            <p:cNvSpPr/>
            <p:nvPr/>
          </p:nvSpPr>
          <p:spPr>
            <a:xfrm flipH="false" flipV="false" rot="0">
              <a:off x="63500" y="1023620"/>
              <a:ext cx="7896225" cy="859917"/>
            </a:xfrm>
            <a:custGeom>
              <a:avLst/>
              <a:gdLst/>
              <a:ahLst/>
              <a:cxnLst/>
              <a:rect r="r" b="b" t="t" l="l"/>
              <a:pathLst>
                <a:path h="859917" w="7896225">
                  <a:moveTo>
                    <a:pt x="0" y="859917"/>
                  </a:moveTo>
                  <a:lnTo>
                    <a:pt x="7896225" y="859917"/>
                  </a:lnTo>
                  <a:lnTo>
                    <a:pt x="7896225" y="0"/>
                  </a:lnTo>
                  <a:lnTo>
                    <a:pt x="0" y="0"/>
                  </a:lnTo>
                  <a:close/>
                </a:path>
              </a:pathLst>
            </a:custGeom>
            <a:solidFill>
              <a:srgbClr val="000000">
                <a:alpha val="0"/>
              </a:srgbClr>
            </a:solidFill>
          </p:spPr>
        </p:sp>
        <p:sp>
          <p:nvSpPr>
            <p:cNvPr name="Freeform 47" id="47"/>
            <p:cNvSpPr/>
            <p:nvPr/>
          </p:nvSpPr>
          <p:spPr>
            <a:xfrm flipH="false" flipV="false" rot="0">
              <a:off x="228092" y="116078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sp>
          <p:nvSpPr>
            <p:cNvPr name="Freeform 48" id="48"/>
            <p:cNvSpPr/>
            <p:nvPr/>
          </p:nvSpPr>
          <p:spPr>
            <a:xfrm flipH="false" flipV="false" rot="0">
              <a:off x="63500" y="1983740"/>
              <a:ext cx="7896225" cy="859917"/>
            </a:xfrm>
            <a:custGeom>
              <a:avLst/>
              <a:gdLst/>
              <a:ahLst/>
              <a:cxnLst/>
              <a:rect r="r" b="b" t="t" l="l"/>
              <a:pathLst>
                <a:path h="859917" w="7896225">
                  <a:moveTo>
                    <a:pt x="0" y="859917"/>
                  </a:moveTo>
                  <a:lnTo>
                    <a:pt x="7896225" y="859917"/>
                  </a:lnTo>
                  <a:lnTo>
                    <a:pt x="7896225" y="0"/>
                  </a:lnTo>
                  <a:lnTo>
                    <a:pt x="0" y="0"/>
                  </a:lnTo>
                  <a:close/>
                </a:path>
              </a:pathLst>
            </a:custGeom>
            <a:solidFill>
              <a:srgbClr val="000000">
                <a:alpha val="0"/>
              </a:srgbClr>
            </a:solidFill>
          </p:spPr>
        </p:sp>
        <p:sp>
          <p:nvSpPr>
            <p:cNvPr name="Freeform 49" id="49"/>
            <p:cNvSpPr/>
            <p:nvPr/>
          </p:nvSpPr>
          <p:spPr>
            <a:xfrm flipH="false" flipV="false" rot="0">
              <a:off x="228092" y="212090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sp>
          <p:nvSpPr>
            <p:cNvPr name="Freeform 50" id="50"/>
            <p:cNvSpPr/>
            <p:nvPr/>
          </p:nvSpPr>
          <p:spPr>
            <a:xfrm flipH="false" flipV="false" rot="0">
              <a:off x="63500" y="2943860"/>
              <a:ext cx="7896225" cy="859917"/>
            </a:xfrm>
            <a:custGeom>
              <a:avLst/>
              <a:gdLst/>
              <a:ahLst/>
              <a:cxnLst/>
              <a:rect r="r" b="b" t="t" l="l"/>
              <a:pathLst>
                <a:path h="859917" w="7896225">
                  <a:moveTo>
                    <a:pt x="0" y="859917"/>
                  </a:moveTo>
                  <a:lnTo>
                    <a:pt x="7896225" y="859917"/>
                  </a:lnTo>
                  <a:lnTo>
                    <a:pt x="7896225" y="0"/>
                  </a:lnTo>
                  <a:lnTo>
                    <a:pt x="0" y="0"/>
                  </a:lnTo>
                  <a:close/>
                </a:path>
              </a:pathLst>
            </a:custGeom>
            <a:solidFill>
              <a:srgbClr val="000000">
                <a:alpha val="0"/>
              </a:srgbClr>
            </a:solidFill>
          </p:spPr>
        </p:sp>
        <p:sp>
          <p:nvSpPr>
            <p:cNvPr name="Freeform 51" id="51"/>
            <p:cNvSpPr/>
            <p:nvPr/>
          </p:nvSpPr>
          <p:spPr>
            <a:xfrm flipH="false" flipV="false" rot="0">
              <a:off x="228092" y="308102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sp>
          <p:nvSpPr>
            <p:cNvPr name="Freeform 52" id="52"/>
            <p:cNvSpPr/>
            <p:nvPr/>
          </p:nvSpPr>
          <p:spPr>
            <a:xfrm flipH="false" flipV="false" rot="0">
              <a:off x="63500" y="3903980"/>
              <a:ext cx="7896225" cy="859917"/>
            </a:xfrm>
            <a:custGeom>
              <a:avLst/>
              <a:gdLst/>
              <a:ahLst/>
              <a:cxnLst/>
              <a:rect r="r" b="b" t="t" l="l"/>
              <a:pathLst>
                <a:path h="859917" w="7896225">
                  <a:moveTo>
                    <a:pt x="0" y="859917"/>
                  </a:moveTo>
                  <a:lnTo>
                    <a:pt x="7896225" y="859917"/>
                  </a:lnTo>
                  <a:lnTo>
                    <a:pt x="7896225" y="0"/>
                  </a:lnTo>
                  <a:lnTo>
                    <a:pt x="0" y="0"/>
                  </a:lnTo>
                  <a:close/>
                </a:path>
              </a:pathLst>
            </a:custGeom>
            <a:solidFill>
              <a:srgbClr val="000000">
                <a:alpha val="0"/>
              </a:srgbClr>
            </a:solidFill>
          </p:spPr>
        </p:sp>
        <p:sp>
          <p:nvSpPr>
            <p:cNvPr name="Freeform 53" id="53"/>
            <p:cNvSpPr/>
            <p:nvPr/>
          </p:nvSpPr>
          <p:spPr>
            <a:xfrm flipH="false" flipV="false" rot="0">
              <a:off x="228092" y="404114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sp>
          <p:nvSpPr>
            <p:cNvPr name="Freeform 54" id="54"/>
            <p:cNvSpPr/>
            <p:nvPr/>
          </p:nvSpPr>
          <p:spPr>
            <a:xfrm flipH="false" flipV="false" rot="0">
              <a:off x="63500" y="4864100"/>
              <a:ext cx="7896225" cy="859917"/>
            </a:xfrm>
            <a:custGeom>
              <a:avLst/>
              <a:gdLst/>
              <a:ahLst/>
              <a:cxnLst/>
              <a:rect r="r" b="b" t="t" l="l"/>
              <a:pathLst>
                <a:path h="859917" w="7896225">
                  <a:moveTo>
                    <a:pt x="0" y="859917"/>
                  </a:moveTo>
                  <a:lnTo>
                    <a:pt x="7896225" y="859917"/>
                  </a:lnTo>
                  <a:lnTo>
                    <a:pt x="7896225" y="0"/>
                  </a:lnTo>
                  <a:lnTo>
                    <a:pt x="0" y="0"/>
                  </a:lnTo>
                  <a:close/>
                </a:path>
              </a:pathLst>
            </a:custGeom>
            <a:solidFill>
              <a:srgbClr val="000000">
                <a:alpha val="0"/>
              </a:srgbClr>
            </a:solidFill>
          </p:spPr>
        </p:sp>
        <p:sp>
          <p:nvSpPr>
            <p:cNvPr name="Freeform 55" id="55"/>
            <p:cNvSpPr/>
            <p:nvPr/>
          </p:nvSpPr>
          <p:spPr>
            <a:xfrm flipH="false" flipV="false" rot="0">
              <a:off x="228092" y="500126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grpSp>
      <p:sp>
        <p:nvSpPr>
          <p:cNvPr name="TextBox 56" id="56"/>
          <p:cNvSpPr txBox="true"/>
          <p:nvPr/>
        </p:nvSpPr>
        <p:spPr>
          <a:xfrm rot="0">
            <a:off x="1203636" y="4367689"/>
            <a:ext cx="1111872" cy="485775"/>
          </a:xfrm>
          <a:prstGeom prst="rect">
            <a:avLst/>
          </a:prstGeom>
        </p:spPr>
        <p:txBody>
          <a:bodyPr anchor="t" rtlCol="false" tIns="0" lIns="0" bIns="0" rIns="0">
            <a:spAutoFit/>
          </a:bodyPr>
          <a:lstStyle/>
          <a:p>
            <a:pPr algn="ctr">
              <a:lnSpc>
                <a:spcPts val="1800"/>
              </a:lnSpc>
            </a:pPr>
            <a:r>
              <a:rPr lang="en-US" sz="1500">
                <a:solidFill>
                  <a:srgbClr val="5A6B82"/>
                </a:solidFill>
                <a:latin typeface="Calibri (MS)"/>
                <a:ea typeface="Calibri (MS)"/>
                <a:cs typeface="Calibri (MS)"/>
                <a:sym typeface="Calibri (MS)"/>
              </a:rPr>
              <a:t>Columns after encoding</a:t>
            </a:r>
          </a:p>
        </p:txBody>
      </p:sp>
      <p:sp>
        <p:nvSpPr>
          <p:cNvPr name="TextBox 57" id="57"/>
          <p:cNvSpPr txBox="true"/>
          <p:nvPr/>
        </p:nvSpPr>
        <p:spPr>
          <a:xfrm rot="0">
            <a:off x="952109" y="2721769"/>
            <a:ext cx="1625070" cy="485775"/>
          </a:xfrm>
          <a:prstGeom prst="rect">
            <a:avLst/>
          </a:prstGeom>
        </p:spPr>
        <p:txBody>
          <a:bodyPr anchor="t" rtlCol="false" tIns="0" lIns="0" bIns="0" rIns="0">
            <a:spAutoFit/>
          </a:bodyPr>
          <a:lstStyle/>
          <a:p>
            <a:pPr algn="ctr">
              <a:lnSpc>
                <a:spcPts val="1800"/>
              </a:lnSpc>
            </a:pPr>
            <a:r>
              <a:rPr lang="en-US" sz="1500">
                <a:solidFill>
                  <a:srgbClr val="5A6B82"/>
                </a:solidFill>
                <a:latin typeface="Calibri (MS)"/>
                <a:ea typeface="Calibri (MS)"/>
                <a:cs typeface="Calibri (MS)"/>
                <a:sym typeface="Calibri (MS)"/>
              </a:rPr>
              <a:t>Rows after duplicate removal</a:t>
            </a:r>
          </a:p>
        </p:txBody>
      </p:sp>
      <p:sp>
        <p:nvSpPr>
          <p:cNvPr name="TextBox 58" id="58"/>
          <p:cNvSpPr txBox="true"/>
          <p:nvPr/>
        </p:nvSpPr>
        <p:spPr>
          <a:xfrm rot="0">
            <a:off x="822960" y="9673876"/>
            <a:ext cx="2720912"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AI Patient Risk Assessment System</a:t>
            </a:r>
          </a:p>
        </p:txBody>
      </p:sp>
      <p:sp>
        <p:nvSpPr>
          <p:cNvPr name="TextBox 59" id="59"/>
          <p:cNvSpPr txBox="true"/>
          <p:nvPr/>
        </p:nvSpPr>
        <p:spPr>
          <a:xfrm rot="0">
            <a:off x="3277848" y="4367689"/>
            <a:ext cx="1077525" cy="485775"/>
          </a:xfrm>
          <a:prstGeom prst="rect">
            <a:avLst/>
          </a:prstGeom>
        </p:spPr>
        <p:txBody>
          <a:bodyPr anchor="t" rtlCol="false" tIns="0" lIns="0" bIns="0" rIns="0">
            <a:spAutoFit/>
          </a:bodyPr>
          <a:lstStyle/>
          <a:p>
            <a:pPr algn="ctr">
              <a:lnSpc>
                <a:spcPts val="1800"/>
              </a:lnSpc>
            </a:pPr>
            <a:r>
              <a:rPr lang="en-US" sz="1500">
                <a:solidFill>
                  <a:srgbClr val="5A6B82"/>
                </a:solidFill>
                <a:latin typeface="Calibri (MS)"/>
                <a:ea typeface="Calibri (MS)"/>
                <a:cs typeface="Calibri (MS)"/>
                <a:sym typeface="Calibri (MS)"/>
              </a:rPr>
              <a:t>Final selected features</a:t>
            </a:r>
          </a:p>
        </p:txBody>
      </p:sp>
      <p:sp>
        <p:nvSpPr>
          <p:cNvPr name="TextBox 60" id="60"/>
          <p:cNvSpPr txBox="true"/>
          <p:nvPr/>
        </p:nvSpPr>
        <p:spPr>
          <a:xfrm rot="0">
            <a:off x="3156404" y="2693194"/>
            <a:ext cx="1325347"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Original columns</a:t>
            </a:r>
          </a:p>
        </p:txBody>
      </p:sp>
      <p:sp>
        <p:nvSpPr>
          <p:cNvPr name="TextBox 61" id="61"/>
          <p:cNvSpPr txBox="true"/>
          <p:nvPr/>
        </p:nvSpPr>
        <p:spPr>
          <a:xfrm rot="0">
            <a:off x="5253542" y="4367689"/>
            <a:ext cx="1244232" cy="485775"/>
          </a:xfrm>
          <a:prstGeom prst="rect">
            <a:avLst/>
          </a:prstGeom>
        </p:spPr>
        <p:txBody>
          <a:bodyPr anchor="t" rtlCol="false" tIns="0" lIns="0" bIns="0" rIns="0">
            <a:spAutoFit/>
          </a:bodyPr>
          <a:lstStyle/>
          <a:p>
            <a:pPr algn="ctr">
              <a:lnSpc>
                <a:spcPts val="1800"/>
              </a:lnSpc>
            </a:pPr>
            <a:r>
              <a:rPr lang="en-US" sz="1500">
                <a:solidFill>
                  <a:srgbClr val="5A6B82"/>
                </a:solidFill>
                <a:latin typeface="Calibri (MS)"/>
                <a:ea typeface="Calibri (MS)"/>
                <a:cs typeface="Calibri (MS)"/>
                <a:sym typeface="Calibri (MS)"/>
              </a:rPr>
              <a:t>Train / test split (stratified)</a:t>
            </a:r>
          </a:p>
        </p:txBody>
      </p:sp>
      <p:sp>
        <p:nvSpPr>
          <p:cNvPr name="TextBox 62" id="62"/>
          <p:cNvSpPr txBox="true"/>
          <p:nvPr/>
        </p:nvSpPr>
        <p:spPr>
          <a:xfrm rot="0">
            <a:off x="5089684" y="2693194"/>
            <a:ext cx="1578483"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Duplicates removed</a:t>
            </a:r>
          </a:p>
        </p:txBody>
      </p:sp>
      <p:sp>
        <p:nvSpPr>
          <p:cNvPr name="TextBox 63" id="63"/>
          <p:cNvSpPr txBox="true"/>
          <p:nvPr/>
        </p:nvSpPr>
        <p:spPr>
          <a:xfrm rot="0">
            <a:off x="7374198" y="4339114"/>
            <a:ext cx="1115387"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random_state</a:t>
            </a:r>
          </a:p>
        </p:txBody>
      </p:sp>
      <p:sp>
        <p:nvSpPr>
          <p:cNvPr name="TextBox 64" id="64"/>
          <p:cNvSpPr txBox="true"/>
          <p:nvPr/>
        </p:nvSpPr>
        <p:spPr>
          <a:xfrm rot="0">
            <a:off x="7359615" y="2693194"/>
            <a:ext cx="1144991"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Missing values</a:t>
            </a:r>
          </a:p>
        </p:txBody>
      </p:sp>
      <p:sp>
        <p:nvSpPr>
          <p:cNvPr name="TextBox 65" id="65"/>
          <p:cNvSpPr txBox="true"/>
          <p:nvPr/>
        </p:nvSpPr>
        <p:spPr>
          <a:xfrm rot="0">
            <a:off x="17272397" y="9624346"/>
            <a:ext cx="98479"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4</a:t>
            </a:r>
          </a:p>
        </p:txBody>
      </p:sp>
      <p:sp>
        <p:nvSpPr>
          <p:cNvPr name="TextBox 66" id="66"/>
          <p:cNvSpPr txBox="true"/>
          <p:nvPr/>
        </p:nvSpPr>
        <p:spPr>
          <a:xfrm rot="0">
            <a:off x="822960" y="598456"/>
            <a:ext cx="8468268" cy="832085"/>
          </a:xfrm>
          <a:prstGeom prst="rect">
            <a:avLst/>
          </a:prstGeom>
        </p:spPr>
        <p:txBody>
          <a:bodyPr anchor="t" rtlCol="false" tIns="0" lIns="0" bIns="0" rIns="0">
            <a:spAutoFit/>
          </a:bodyPr>
          <a:lstStyle/>
          <a:p>
            <a:pPr algn="l">
              <a:lnSpc>
                <a:spcPts val="6719"/>
              </a:lnSpc>
            </a:pPr>
            <a:r>
              <a:rPr lang="en-US" b="true" sz="4800">
                <a:solidFill>
                  <a:srgbClr val="0B2545"/>
                </a:solidFill>
                <a:latin typeface="Cambria Bold"/>
                <a:ea typeface="Cambria Bold"/>
                <a:cs typeface="Cambria Bold"/>
                <a:sym typeface="Cambria Bold"/>
              </a:rPr>
              <a:t>Dataset and Data Preparation</a:t>
            </a:r>
          </a:p>
        </p:txBody>
      </p:sp>
      <p:sp>
        <p:nvSpPr>
          <p:cNvPr name="TextBox 67" id="67"/>
          <p:cNvSpPr txBox="true"/>
          <p:nvPr/>
        </p:nvSpPr>
        <p:spPr>
          <a:xfrm rot="0">
            <a:off x="1545965" y="3720779"/>
            <a:ext cx="413633" cy="593407"/>
          </a:xfrm>
          <a:prstGeom prst="rect">
            <a:avLst/>
          </a:prstGeom>
        </p:spPr>
        <p:txBody>
          <a:bodyPr anchor="t" rtlCol="false" tIns="0" lIns="0" bIns="0" rIns="0">
            <a:spAutoFit/>
          </a:bodyPr>
          <a:lstStyle/>
          <a:p>
            <a:pPr algn="ctr">
              <a:lnSpc>
                <a:spcPts val="4409"/>
              </a:lnSpc>
            </a:pPr>
            <a:r>
              <a:rPr lang="en-US" b="true" sz="3150">
                <a:solidFill>
                  <a:srgbClr val="0E8F8A"/>
                </a:solidFill>
                <a:latin typeface="Calibri (MS) Bold"/>
                <a:ea typeface="Calibri (MS) Bold"/>
                <a:cs typeface="Calibri (MS) Bold"/>
                <a:sym typeface="Calibri (MS) Bold"/>
              </a:rPr>
              <a:t>41</a:t>
            </a:r>
          </a:p>
        </p:txBody>
      </p:sp>
      <p:sp>
        <p:nvSpPr>
          <p:cNvPr name="TextBox 68" id="68"/>
          <p:cNvSpPr txBox="true"/>
          <p:nvPr/>
        </p:nvSpPr>
        <p:spPr>
          <a:xfrm rot="0">
            <a:off x="1088765" y="2074859"/>
            <a:ext cx="1346092" cy="593407"/>
          </a:xfrm>
          <a:prstGeom prst="rect">
            <a:avLst/>
          </a:prstGeom>
        </p:spPr>
        <p:txBody>
          <a:bodyPr anchor="t" rtlCol="false" tIns="0" lIns="0" bIns="0" rIns="0">
            <a:spAutoFit/>
          </a:bodyPr>
          <a:lstStyle/>
          <a:p>
            <a:pPr algn="ctr">
              <a:lnSpc>
                <a:spcPts val="4409"/>
              </a:lnSpc>
            </a:pPr>
            <a:r>
              <a:rPr lang="en-US" b="true" sz="3150">
                <a:solidFill>
                  <a:srgbClr val="0E8F8A"/>
                </a:solidFill>
                <a:latin typeface="Calibri (MS) Bold"/>
                <a:ea typeface="Calibri (MS) Bold"/>
                <a:cs typeface="Calibri (MS) Bold"/>
                <a:sym typeface="Calibri (MS) Bold"/>
              </a:rPr>
              <a:t>278,701</a:t>
            </a:r>
          </a:p>
        </p:txBody>
      </p:sp>
      <p:sp>
        <p:nvSpPr>
          <p:cNvPr name="TextBox 69" id="69"/>
          <p:cNvSpPr txBox="true"/>
          <p:nvPr/>
        </p:nvSpPr>
        <p:spPr>
          <a:xfrm rot="0">
            <a:off x="3603365" y="2074859"/>
            <a:ext cx="413633" cy="593407"/>
          </a:xfrm>
          <a:prstGeom prst="rect">
            <a:avLst/>
          </a:prstGeom>
        </p:spPr>
        <p:txBody>
          <a:bodyPr anchor="t" rtlCol="false" tIns="0" lIns="0" bIns="0" rIns="0">
            <a:spAutoFit/>
          </a:bodyPr>
          <a:lstStyle/>
          <a:p>
            <a:pPr algn="ctr">
              <a:lnSpc>
                <a:spcPts val="4409"/>
              </a:lnSpc>
            </a:pPr>
            <a:r>
              <a:rPr lang="en-US" b="true" sz="3150">
                <a:solidFill>
                  <a:srgbClr val="0E8F8A"/>
                </a:solidFill>
                <a:latin typeface="Calibri (MS) Bold"/>
                <a:ea typeface="Calibri (MS) Bold"/>
                <a:cs typeface="Calibri (MS) Bold"/>
                <a:sym typeface="Calibri (MS) Bold"/>
              </a:rPr>
              <a:t>39</a:t>
            </a:r>
          </a:p>
        </p:txBody>
      </p:sp>
      <p:sp>
        <p:nvSpPr>
          <p:cNvPr name="TextBox 70" id="70"/>
          <p:cNvSpPr txBox="true"/>
          <p:nvPr/>
        </p:nvSpPr>
        <p:spPr>
          <a:xfrm rot="0">
            <a:off x="3603365" y="3720779"/>
            <a:ext cx="413633" cy="593407"/>
          </a:xfrm>
          <a:prstGeom prst="rect">
            <a:avLst/>
          </a:prstGeom>
        </p:spPr>
        <p:txBody>
          <a:bodyPr anchor="t" rtlCol="false" tIns="0" lIns="0" bIns="0" rIns="0">
            <a:spAutoFit/>
          </a:bodyPr>
          <a:lstStyle/>
          <a:p>
            <a:pPr algn="ctr">
              <a:lnSpc>
                <a:spcPts val="4409"/>
              </a:lnSpc>
            </a:pPr>
            <a:r>
              <a:rPr lang="en-US" b="true" sz="3150">
                <a:solidFill>
                  <a:srgbClr val="0E8F8A"/>
                </a:solidFill>
                <a:latin typeface="Calibri (MS) Bold"/>
                <a:ea typeface="Calibri (MS) Bold"/>
                <a:cs typeface="Calibri (MS) Bold"/>
                <a:sym typeface="Calibri (MS) Bold"/>
              </a:rPr>
              <a:t>15</a:t>
            </a:r>
          </a:p>
        </p:txBody>
      </p:sp>
      <p:sp>
        <p:nvSpPr>
          <p:cNvPr name="TextBox 71" id="71"/>
          <p:cNvSpPr txBox="true"/>
          <p:nvPr/>
        </p:nvSpPr>
        <p:spPr>
          <a:xfrm rot="0">
            <a:off x="5406419" y="2074859"/>
            <a:ext cx="932459" cy="593407"/>
          </a:xfrm>
          <a:prstGeom prst="rect">
            <a:avLst/>
          </a:prstGeom>
        </p:spPr>
        <p:txBody>
          <a:bodyPr anchor="t" rtlCol="false" tIns="0" lIns="0" bIns="0" rIns="0">
            <a:spAutoFit/>
          </a:bodyPr>
          <a:lstStyle/>
          <a:p>
            <a:pPr algn="ctr">
              <a:lnSpc>
                <a:spcPts val="4409"/>
              </a:lnSpc>
            </a:pPr>
            <a:r>
              <a:rPr lang="en-US" b="true" sz="3150">
                <a:solidFill>
                  <a:srgbClr val="0E8F8A"/>
                </a:solidFill>
                <a:latin typeface="Calibri (MS) Bold"/>
                <a:ea typeface="Calibri (MS) Bold"/>
                <a:cs typeface="Calibri (MS) Bold"/>
                <a:sym typeface="Calibri (MS) Bold"/>
              </a:rPr>
              <a:t>2,284</a:t>
            </a:r>
          </a:p>
        </p:txBody>
      </p:sp>
      <p:sp>
        <p:nvSpPr>
          <p:cNvPr name="TextBox 72" id="72"/>
          <p:cNvSpPr txBox="true"/>
          <p:nvPr/>
        </p:nvSpPr>
        <p:spPr>
          <a:xfrm rot="0">
            <a:off x="5281555" y="3720779"/>
            <a:ext cx="1187091" cy="593407"/>
          </a:xfrm>
          <a:prstGeom prst="rect">
            <a:avLst/>
          </a:prstGeom>
        </p:spPr>
        <p:txBody>
          <a:bodyPr anchor="t" rtlCol="false" tIns="0" lIns="0" bIns="0" rIns="0">
            <a:spAutoFit/>
          </a:bodyPr>
          <a:lstStyle/>
          <a:p>
            <a:pPr algn="ctr">
              <a:lnSpc>
                <a:spcPts val="4409"/>
              </a:lnSpc>
            </a:pPr>
            <a:r>
              <a:rPr lang="en-US" b="true" sz="3150">
                <a:solidFill>
                  <a:srgbClr val="0E8F8A"/>
                </a:solidFill>
                <a:latin typeface="Calibri (MS) Bold"/>
                <a:ea typeface="Calibri (MS) Bold"/>
                <a:cs typeface="Calibri (MS) Bold"/>
                <a:sym typeface="Calibri (MS) Bold"/>
              </a:rPr>
              <a:t>80 / 20</a:t>
            </a:r>
          </a:p>
        </p:txBody>
      </p:sp>
      <p:sp>
        <p:nvSpPr>
          <p:cNvPr name="TextBox 73" id="73"/>
          <p:cNvSpPr txBox="true"/>
          <p:nvPr/>
        </p:nvSpPr>
        <p:spPr>
          <a:xfrm rot="0">
            <a:off x="7819520" y="2074859"/>
            <a:ext cx="206816" cy="593407"/>
          </a:xfrm>
          <a:prstGeom prst="rect">
            <a:avLst/>
          </a:prstGeom>
        </p:spPr>
        <p:txBody>
          <a:bodyPr anchor="t" rtlCol="false" tIns="0" lIns="0" bIns="0" rIns="0">
            <a:spAutoFit/>
          </a:bodyPr>
          <a:lstStyle/>
          <a:p>
            <a:pPr algn="ctr">
              <a:lnSpc>
                <a:spcPts val="4409"/>
              </a:lnSpc>
            </a:pPr>
            <a:r>
              <a:rPr lang="en-US" b="true" sz="3150">
                <a:solidFill>
                  <a:srgbClr val="0E8F8A"/>
                </a:solidFill>
                <a:latin typeface="Calibri (MS) Bold"/>
                <a:ea typeface="Calibri (MS) Bold"/>
                <a:cs typeface="Calibri (MS) Bold"/>
                <a:sym typeface="Calibri (MS) Bold"/>
              </a:rPr>
              <a:t>0</a:t>
            </a:r>
          </a:p>
        </p:txBody>
      </p:sp>
      <p:sp>
        <p:nvSpPr>
          <p:cNvPr name="TextBox 74" id="74"/>
          <p:cNvSpPr txBox="true"/>
          <p:nvPr/>
        </p:nvSpPr>
        <p:spPr>
          <a:xfrm rot="0">
            <a:off x="7718165" y="3720779"/>
            <a:ext cx="413633" cy="593407"/>
          </a:xfrm>
          <a:prstGeom prst="rect">
            <a:avLst/>
          </a:prstGeom>
        </p:spPr>
        <p:txBody>
          <a:bodyPr anchor="t" rtlCol="false" tIns="0" lIns="0" bIns="0" rIns="0">
            <a:spAutoFit/>
          </a:bodyPr>
          <a:lstStyle/>
          <a:p>
            <a:pPr algn="ctr">
              <a:lnSpc>
                <a:spcPts val="4409"/>
              </a:lnSpc>
            </a:pPr>
            <a:r>
              <a:rPr lang="en-US" b="true" sz="3150">
                <a:solidFill>
                  <a:srgbClr val="0E8F8A"/>
                </a:solidFill>
                <a:latin typeface="Calibri (MS) Bold"/>
                <a:ea typeface="Calibri (MS) Bold"/>
                <a:cs typeface="Calibri (MS) Bold"/>
                <a:sym typeface="Calibri (MS) Bold"/>
              </a:rPr>
              <a:t>42</a:t>
            </a:r>
          </a:p>
        </p:txBody>
      </p:sp>
      <p:sp>
        <p:nvSpPr>
          <p:cNvPr name="TextBox 75" id="75"/>
          <p:cNvSpPr txBox="true"/>
          <p:nvPr/>
        </p:nvSpPr>
        <p:spPr>
          <a:xfrm rot="0">
            <a:off x="822960" y="5353279"/>
            <a:ext cx="4203478" cy="423862"/>
          </a:xfrm>
          <a:prstGeom prst="rect">
            <a:avLst/>
          </a:prstGeom>
        </p:spPr>
        <p:txBody>
          <a:bodyPr anchor="t" rtlCol="false" tIns="0" lIns="0" bIns="0" rIns="0">
            <a:spAutoFit/>
          </a:bodyPr>
          <a:lstStyle/>
          <a:p>
            <a:pPr algn="l">
              <a:lnSpc>
                <a:spcPts val="3149"/>
              </a:lnSpc>
            </a:pPr>
            <a:r>
              <a:rPr lang="en-US" b="true" sz="2250">
                <a:solidFill>
                  <a:srgbClr val="0B2545"/>
                </a:solidFill>
                <a:latin typeface="Calibri (MS) Bold"/>
                <a:ea typeface="Calibri (MS) Bold"/>
                <a:cs typeface="Calibri (MS) Bold"/>
                <a:sym typeface="Calibri (MS) Bold"/>
              </a:rPr>
              <a:t>Target column: </a:t>
            </a:r>
            <a:r>
              <a:rPr lang="en-US" b="true" sz="2250">
                <a:solidFill>
                  <a:srgbClr val="0E8F8A"/>
                </a:solidFill>
                <a:latin typeface="Calibri (MS) Bold"/>
                <a:ea typeface="Calibri (MS) Bold"/>
                <a:cs typeface="Calibri (MS) Bold"/>
                <a:sym typeface="Calibri (MS) Bold"/>
              </a:rPr>
              <a:t>sublabel (8 classes)</a:t>
            </a:r>
          </a:p>
        </p:txBody>
      </p:sp>
      <p:sp>
        <p:nvSpPr>
          <p:cNvPr name="TextBox 76" id="76"/>
          <p:cNvSpPr txBox="true"/>
          <p:nvPr/>
        </p:nvSpPr>
        <p:spPr>
          <a:xfrm rot="0">
            <a:off x="960120" y="6142320"/>
            <a:ext cx="925163" cy="336156"/>
          </a:xfrm>
          <a:prstGeom prst="rect">
            <a:avLst/>
          </a:prstGeom>
        </p:spPr>
        <p:txBody>
          <a:bodyPr anchor="t" rtlCol="false" tIns="0" lIns="0" bIns="0" rIns="0">
            <a:spAutoFit/>
          </a:bodyPr>
          <a:lstStyle/>
          <a:p>
            <a:pPr algn="l">
              <a:lnSpc>
                <a:spcPts val="2415"/>
              </a:lnSpc>
            </a:pPr>
            <a:r>
              <a:rPr lang="en-US" b="true" sz="1725">
                <a:solidFill>
                  <a:srgbClr val="0F6E73"/>
                </a:solidFill>
                <a:latin typeface="Calibri (MS) Bold"/>
                <a:ea typeface="Calibri (MS) Bold"/>
                <a:cs typeface="Calibri (MS) Bold"/>
                <a:sym typeface="Calibri (MS) Bold"/>
              </a:rPr>
              <a:t>N </a:t>
            </a:r>
            <a:r>
              <a:rPr lang="en-US" sz="1725">
                <a:solidFill>
                  <a:srgbClr val="0B2545"/>
                </a:solidFill>
                <a:latin typeface="Calibri (MS)"/>
                <a:ea typeface="Calibri (MS)"/>
                <a:cs typeface="Calibri (MS)"/>
                <a:sym typeface="Calibri (MS)"/>
              </a:rPr>
              <a:t>Normal</a:t>
            </a:r>
          </a:p>
        </p:txBody>
      </p:sp>
      <p:sp>
        <p:nvSpPr>
          <p:cNvPr name="TextBox 77" id="77"/>
          <p:cNvSpPr txBox="true"/>
          <p:nvPr/>
        </p:nvSpPr>
        <p:spPr>
          <a:xfrm rot="0">
            <a:off x="960120" y="6992712"/>
            <a:ext cx="1099442" cy="336156"/>
          </a:xfrm>
          <a:prstGeom prst="rect">
            <a:avLst/>
          </a:prstGeom>
        </p:spPr>
        <p:txBody>
          <a:bodyPr anchor="t" rtlCol="false" tIns="0" lIns="0" bIns="0" rIns="0">
            <a:spAutoFit/>
          </a:bodyPr>
          <a:lstStyle/>
          <a:p>
            <a:pPr algn="l">
              <a:lnSpc>
                <a:spcPts val="2415"/>
              </a:lnSpc>
            </a:pPr>
            <a:r>
              <a:rPr lang="en-US" b="true" sz="1725">
                <a:solidFill>
                  <a:srgbClr val="0F6E73"/>
                </a:solidFill>
                <a:latin typeface="Calibri (MS) Bold"/>
                <a:ea typeface="Calibri (MS) Bold"/>
                <a:cs typeface="Calibri (MS) Bold"/>
                <a:sym typeface="Calibri (MS) Bold"/>
              </a:rPr>
              <a:t>DI </a:t>
            </a:r>
            <a:r>
              <a:rPr lang="en-US" sz="1725">
                <a:solidFill>
                  <a:srgbClr val="0B2545"/>
                </a:solidFill>
                <a:latin typeface="Calibri (MS)"/>
                <a:ea typeface="Calibri (MS)"/>
                <a:cs typeface="Calibri (MS)"/>
                <a:sym typeface="Calibri (MS)"/>
              </a:rPr>
              <a:t>Diabetes</a:t>
            </a:r>
          </a:p>
        </p:txBody>
      </p:sp>
      <p:sp>
        <p:nvSpPr>
          <p:cNvPr name="TextBox 78" id="78"/>
          <p:cNvSpPr txBox="true"/>
          <p:nvPr/>
        </p:nvSpPr>
        <p:spPr>
          <a:xfrm rot="0">
            <a:off x="960120" y="7843104"/>
            <a:ext cx="1582464" cy="336156"/>
          </a:xfrm>
          <a:prstGeom prst="rect">
            <a:avLst/>
          </a:prstGeom>
        </p:spPr>
        <p:txBody>
          <a:bodyPr anchor="t" rtlCol="false" tIns="0" lIns="0" bIns="0" rIns="0">
            <a:spAutoFit/>
          </a:bodyPr>
          <a:lstStyle/>
          <a:p>
            <a:pPr algn="l">
              <a:lnSpc>
                <a:spcPts val="2415"/>
              </a:lnSpc>
            </a:pPr>
            <a:r>
              <a:rPr lang="en-US" b="true" sz="1725">
                <a:solidFill>
                  <a:srgbClr val="0F6E73"/>
                </a:solidFill>
                <a:latin typeface="Calibri (MS) Bold"/>
                <a:ea typeface="Calibri (MS) Bold"/>
                <a:cs typeface="Calibri (MS) Bold"/>
                <a:sym typeface="Calibri (MS) Bold"/>
              </a:rPr>
              <a:t>HY </a:t>
            </a:r>
            <a:r>
              <a:rPr lang="en-US" sz="1725">
                <a:solidFill>
                  <a:srgbClr val="0B2545"/>
                </a:solidFill>
                <a:latin typeface="Calibri (MS)"/>
                <a:ea typeface="Calibri (MS)"/>
                <a:cs typeface="Calibri (MS)"/>
                <a:sym typeface="Calibri (MS)"/>
              </a:rPr>
              <a:t>Hypertension</a:t>
            </a:r>
          </a:p>
        </p:txBody>
      </p:sp>
      <p:sp>
        <p:nvSpPr>
          <p:cNvPr name="TextBox 79" id="79"/>
          <p:cNvSpPr txBox="true"/>
          <p:nvPr/>
        </p:nvSpPr>
        <p:spPr>
          <a:xfrm rot="0">
            <a:off x="960120" y="8693496"/>
            <a:ext cx="1586389" cy="336156"/>
          </a:xfrm>
          <a:prstGeom prst="rect">
            <a:avLst/>
          </a:prstGeom>
        </p:spPr>
        <p:txBody>
          <a:bodyPr anchor="t" rtlCol="false" tIns="0" lIns="0" bIns="0" rIns="0">
            <a:spAutoFit/>
          </a:bodyPr>
          <a:lstStyle/>
          <a:p>
            <a:pPr algn="l">
              <a:lnSpc>
                <a:spcPts val="2415"/>
              </a:lnSpc>
            </a:pPr>
            <a:r>
              <a:rPr lang="en-US" b="true" sz="1725">
                <a:solidFill>
                  <a:srgbClr val="0F6E73"/>
                </a:solidFill>
                <a:latin typeface="Calibri (MS) Bold"/>
                <a:ea typeface="Calibri (MS) Bold"/>
                <a:cs typeface="Calibri (MS) Bold"/>
                <a:sym typeface="Calibri (MS) Bold"/>
              </a:rPr>
              <a:t>HT </a:t>
            </a:r>
            <a:r>
              <a:rPr lang="en-US" sz="1725">
                <a:solidFill>
                  <a:srgbClr val="0B2545"/>
                </a:solidFill>
                <a:latin typeface="Calibri (MS)"/>
                <a:ea typeface="Calibri (MS)"/>
                <a:cs typeface="Calibri (MS)"/>
                <a:sym typeface="Calibri (MS)"/>
              </a:rPr>
              <a:t>Heart disease</a:t>
            </a:r>
          </a:p>
        </p:txBody>
      </p:sp>
      <p:sp>
        <p:nvSpPr>
          <p:cNvPr name="TextBox 80" id="80"/>
          <p:cNvSpPr txBox="true"/>
          <p:nvPr/>
        </p:nvSpPr>
        <p:spPr>
          <a:xfrm rot="0">
            <a:off x="5074920" y="6142320"/>
            <a:ext cx="2882436" cy="336156"/>
          </a:xfrm>
          <a:prstGeom prst="rect">
            <a:avLst/>
          </a:prstGeom>
        </p:spPr>
        <p:txBody>
          <a:bodyPr anchor="t" rtlCol="false" tIns="0" lIns="0" bIns="0" rIns="0">
            <a:spAutoFit/>
          </a:bodyPr>
          <a:lstStyle/>
          <a:p>
            <a:pPr algn="l">
              <a:lnSpc>
                <a:spcPts val="2415"/>
              </a:lnSpc>
            </a:pPr>
            <a:r>
              <a:rPr lang="en-US" b="true" sz="1725">
                <a:solidFill>
                  <a:srgbClr val="0F6E73"/>
                </a:solidFill>
                <a:latin typeface="Calibri (MS) Bold"/>
                <a:ea typeface="Calibri (MS) Bold"/>
                <a:cs typeface="Calibri (MS) Bold"/>
                <a:sym typeface="Calibri (MS) Bold"/>
              </a:rPr>
              <a:t>DI_HY </a:t>
            </a:r>
            <a:r>
              <a:rPr lang="en-US" sz="1725">
                <a:solidFill>
                  <a:srgbClr val="0B2545"/>
                </a:solidFill>
                <a:latin typeface="Calibri (MS)"/>
                <a:ea typeface="Calibri (MS)"/>
                <a:cs typeface="Calibri (MS)"/>
                <a:sym typeface="Calibri (MS)"/>
              </a:rPr>
              <a:t>Diabetes + hypertension</a:t>
            </a:r>
          </a:p>
        </p:txBody>
      </p:sp>
      <p:sp>
        <p:nvSpPr>
          <p:cNvPr name="TextBox 81" id="81"/>
          <p:cNvSpPr txBox="true"/>
          <p:nvPr/>
        </p:nvSpPr>
        <p:spPr>
          <a:xfrm rot="0">
            <a:off x="5074920" y="6992712"/>
            <a:ext cx="2886361" cy="336156"/>
          </a:xfrm>
          <a:prstGeom prst="rect">
            <a:avLst/>
          </a:prstGeom>
        </p:spPr>
        <p:txBody>
          <a:bodyPr anchor="t" rtlCol="false" tIns="0" lIns="0" bIns="0" rIns="0">
            <a:spAutoFit/>
          </a:bodyPr>
          <a:lstStyle/>
          <a:p>
            <a:pPr algn="l">
              <a:lnSpc>
                <a:spcPts val="2415"/>
              </a:lnSpc>
            </a:pPr>
            <a:r>
              <a:rPr lang="en-US" b="true" sz="1725">
                <a:solidFill>
                  <a:srgbClr val="0F6E73"/>
                </a:solidFill>
                <a:latin typeface="Calibri (MS) Bold"/>
                <a:ea typeface="Calibri (MS) Bold"/>
                <a:cs typeface="Calibri (MS) Bold"/>
                <a:sym typeface="Calibri (MS) Bold"/>
              </a:rPr>
              <a:t>DI_HT </a:t>
            </a:r>
            <a:r>
              <a:rPr lang="en-US" sz="1725">
                <a:solidFill>
                  <a:srgbClr val="0B2545"/>
                </a:solidFill>
                <a:latin typeface="Calibri (MS)"/>
                <a:ea typeface="Calibri (MS)"/>
                <a:cs typeface="Calibri (MS)"/>
                <a:sym typeface="Calibri (MS)"/>
              </a:rPr>
              <a:t>Diabetes + heart disease</a:t>
            </a:r>
          </a:p>
        </p:txBody>
      </p:sp>
      <p:sp>
        <p:nvSpPr>
          <p:cNvPr name="TextBox 82" id="82"/>
          <p:cNvSpPr txBox="true"/>
          <p:nvPr/>
        </p:nvSpPr>
        <p:spPr>
          <a:xfrm rot="0">
            <a:off x="5074920" y="7843104"/>
            <a:ext cx="3369383" cy="336156"/>
          </a:xfrm>
          <a:prstGeom prst="rect">
            <a:avLst/>
          </a:prstGeom>
        </p:spPr>
        <p:txBody>
          <a:bodyPr anchor="t" rtlCol="false" tIns="0" lIns="0" bIns="0" rIns="0">
            <a:spAutoFit/>
          </a:bodyPr>
          <a:lstStyle/>
          <a:p>
            <a:pPr algn="l">
              <a:lnSpc>
                <a:spcPts val="2415"/>
              </a:lnSpc>
            </a:pPr>
            <a:r>
              <a:rPr lang="en-US" b="true" sz="1725">
                <a:solidFill>
                  <a:srgbClr val="0F6E73"/>
                </a:solidFill>
                <a:latin typeface="Calibri (MS) Bold"/>
                <a:ea typeface="Calibri (MS) Bold"/>
                <a:cs typeface="Calibri (MS) Bold"/>
                <a:sym typeface="Calibri (MS) Bold"/>
              </a:rPr>
              <a:t>HT_HY </a:t>
            </a:r>
            <a:r>
              <a:rPr lang="en-US" sz="1725">
                <a:solidFill>
                  <a:srgbClr val="0B2545"/>
                </a:solidFill>
                <a:latin typeface="Calibri (MS)"/>
                <a:ea typeface="Calibri (MS)"/>
                <a:cs typeface="Calibri (MS)"/>
                <a:sym typeface="Calibri (MS)"/>
              </a:rPr>
              <a:t>Heart disease + hypertension</a:t>
            </a:r>
          </a:p>
        </p:txBody>
      </p:sp>
      <p:sp>
        <p:nvSpPr>
          <p:cNvPr name="TextBox 83" id="83"/>
          <p:cNvSpPr txBox="true"/>
          <p:nvPr/>
        </p:nvSpPr>
        <p:spPr>
          <a:xfrm rot="0">
            <a:off x="5074920" y="8607771"/>
            <a:ext cx="3416598" cy="547211"/>
          </a:xfrm>
          <a:prstGeom prst="rect">
            <a:avLst/>
          </a:prstGeom>
        </p:spPr>
        <p:txBody>
          <a:bodyPr anchor="t" rtlCol="false" tIns="0" lIns="0" bIns="0" rIns="0">
            <a:spAutoFit/>
          </a:bodyPr>
          <a:lstStyle/>
          <a:p>
            <a:pPr algn="l">
              <a:lnSpc>
                <a:spcPts val="2025"/>
              </a:lnSpc>
            </a:pPr>
            <a:r>
              <a:rPr lang="en-US" b="true" sz="1725">
                <a:solidFill>
                  <a:srgbClr val="0F6E73"/>
                </a:solidFill>
                <a:latin typeface="Calibri (MS) Bold"/>
                <a:ea typeface="Calibri (MS) Bold"/>
                <a:cs typeface="Calibri (MS) Bold"/>
                <a:sym typeface="Calibri (MS) Bold"/>
              </a:rPr>
              <a:t>DI_HT_HY </a:t>
            </a:r>
            <a:r>
              <a:rPr lang="en-US" sz="1725">
                <a:solidFill>
                  <a:srgbClr val="0B2545"/>
                </a:solidFill>
                <a:latin typeface="Calibri (MS)"/>
                <a:ea typeface="Calibri (MS)"/>
                <a:cs typeface="Calibri (MS)"/>
                <a:sym typeface="Calibri (MS)"/>
              </a:rPr>
              <a:t>Diabetes + heart disease + hypertension</a:t>
            </a:r>
          </a:p>
        </p:txBody>
      </p:sp>
      <p:sp>
        <p:nvSpPr>
          <p:cNvPr name="TextBox 84" id="84"/>
          <p:cNvSpPr txBox="true"/>
          <p:nvPr/>
        </p:nvSpPr>
        <p:spPr>
          <a:xfrm rot="0">
            <a:off x="9532620" y="1920888"/>
            <a:ext cx="3283420" cy="499110"/>
          </a:xfrm>
          <a:prstGeom prst="rect">
            <a:avLst/>
          </a:prstGeom>
        </p:spPr>
        <p:txBody>
          <a:bodyPr anchor="t" rtlCol="false" tIns="0" lIns="0" bIns="0" rIns="0">
            <a:spAutoFit/>
          </a:bodyPr>
          <a:lstStyle/>
          <a:p>
            <a:pPr algn="l">
              <a:lnSpc>
                <a:spcPts val="3779"/>
              </a:lnSpc>
            </a:pPr>
            <a:r>
              <a:rPr lang="en-US" b="true" sz="2700">
                <a:solidFill>
                  <a:srgbClr val="0B2545"/>
                </a:solidFill>
                <a:latin typeface="Calibri (MS) Bold"/>
                <a:ea typeface="Calibri (MS) Bold"/>
                <a:cs typeface="Calibri (MS) Bold"/>
                <a:sym typeface="Calibri (MS) Bold"/>
              </a:rPr>
              <a:t>Data cleaning and EDA</a:t>
            </a:r>
          </a:p>
        </p:txBody>
      </p:sp>
      <p:sp>
        <p:nvSpPr>
          <p:cNvPr name="TextBox 85" id="85"/>
          <p:cNvSpPr txBox="true"/>
          <p:nvPr/>
        </p:nvSpPr>
        <p:spPr>
          <a:xfrm rot="0">
            <a:off x="9917478" y="288488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1</a:t>
            </a:r>
          </a:p>
        </p:txBody>
      </p:sp>
      <p:sp>
        <p:nvSpPr>
          <p:cNvPr name="TextBox 86" id="86"/>
          <p:cNvSpPr txBox="true"/>
          <p:nvPr/>
        </p:nvSpPr>
        <p:spPr>
          <a:xfrm rot="0">
            <a:off x="9917478" y="384500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2</a:t>
            </a:r>
          </a:p>
        </p:txBody>
      </p:sp>
      <p:sp>
        <p:nvSpPr>
          <p:cNvPr name="TextBox 87" id="87"/>
          <p:cNvSpPr txBox="true"/>
          <p:nvPr/>
        </p:nvSpPr>
        <p:spPr>
          <a:xfrm rot="0">
            <a:off x="9917478" y="480512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3</a:t>
            </a:r>
          </a:p>
        </p:txBody>
      </p:sp>
      <p:sp>
        <p:nvSpPr>
          <p:cNvPr name="TextBox 88" id="88"/>
          <p:cNvSpPr txBox="true"/>
          <p:nvPr/>
        </p:nvSpPr>
        <p:spPr>
          <a:xfrm rot="0">
            <a:off x="9917478" y="576524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4</a:t>
            </a:r>
          </a:p>
        </p:txBody>
      </p:sp>
      <p:sp>
        <p:nvSpPr>
          <p:cNvPr name="TextBox 89" id="89"/>
          <p:cNvSpPr txBox="true"/>
          <p:nvPr/>
        </p:nvSpPr>
        <p:spPr>
          <a:xfrm rot="0">
            <a:off x="9917478" y="672536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5</a:t>
            </a:r>
          </a:p>
        </p:txBody>
      </p:sp>
      <p:sp>
        <p:nvSpPr>
          <p:cNvPr name="TextBox 90" id="90"/>
          <p:cNvSpPr txBox="true"/>
          <p:nvPr/>
        </p:nvSpPr>
        <p:spPr>
          <a:xfrm rot="0">
            <a:off x="9917478" y="768548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6</a:t>
            </a:r>
          </a:p>
        </p:txBody>
      </p:sp>
      <p:sp>
        <p:nvSpPr>
          <p:cNvPr name="TextBox 91" id="91"/>
          <p:cNvSpPr txBox="true"/>
          <p:nvPr/>
        </p:nvSpPr>
        <p:spPr>
          <a:xfrm rot="0">
            <a:off x="10492740" y="5655135"/>
            <a:ext cx="1602200" cy="370522"/>
          </a:xfrm>
          <a:prstGeom prst="rect">
            <a:avLst/>
          </a:prstGeom>
        </p:spPr>
        <p:txBody>
          <a:bodyPr anchor="t" rtlCol="false" tIns="0" lIns="0" bIns="0" rIns="0">
            <a:spAutoFit/>
          </a:bodyPr>
          <a:lstStyle/>
          <a:p>
            <a:pPr algn="l">
              <a:lnSpc>
                <a:spcPts val="2729"/>
              </a:lnSpc>
            </a:pPr>
            <a:r>
              <a:rPr lang="en-US" b="true" sz="1950">
                <a:solidFill>
                  <a:srgbClr val="0B2545"/>
                </a:solidFill>
                <a:latin typeface="Calibri (MS) Bold"/>
                <a:ea typeface="Calibri (MS) Bold"/>
                <a:cs typeface="Calibri (MS) Bold"/>
                <a:sym typeface="Calibri (MS) Bold"/>
              </a:rPr>
              <a:t>Handle outliers</a:t>
            </a:r>
          </a:p>
        </p:txBody>
      </p:sp>
      <p:sp>
        <p:nvSpPr>
          <p:cNvPr name="TextBox 92" id="92"/>
          <p:cNvSpPr txBox="true"/>
          <p:nvPr/>
        </p:nvSpPr>
        <p:spPr>
          <a:xfrm rot="0">
            <a:off x="10857300" y="5951344"/>
            <a:ext cx="48320" cy="307658"/>
          </a:xfrm>
          <a:prstGeom prst="rect">
            <a:avLst/>
          </a:prstGeom>
        </p:spPr>
        <p:txBody>
          <a:bodyPr anchor="t" rtlCol="false" tIns="0" lIns="0" bIns="0" rIns="0">
            <a:spAutoFit/>
          </a:bodyPr>
          <a:lstStyle/>
          <a:p>
            <a:pPr algn="l">
              <a:lnSpc>
                <a:spcPts val="2310"/>
              </a:lnSpc>
            </a:pPr>
            <a:r>
              <a:rPr lang="en-US" sz="1650">
                <a:solidFill>
                  <a:srgbClr val="5A6B82"/>
                </a:solidFill>
                <a:latin typeface="Calibri (MS)"/>
                <a:ea typeface="Calibri (MS)"/>
                <a:cs typeface="Calibri (MS)"/>
                <a:sym typeface="Calibri (MS)"/>
              </a:rPr>
              <a:t> </a:t>
            </a:r>
          </a:p>
        </p:txBody>
      </p:sp>
      <p:sp>
        <p:nvSpPr>
          <p:cNvPr name="TextBox 93" id="93"/>
          <p:cNvSpPr txBox="true"/>
          <p:nvPr/>
        </p:nvSpPr>
        <p:spPr>
          <a:xfrm rot="0">
            <a:off x="10492740" y="4695015"/>
            <a:ext cx="1696679" cy="370522"/>
          </a:xfrm>
          <a:prstGeom prst="rect">
            <a:avLst/>
          </a:prstGeom>
        </p:spPr>
        <p:txBody>
          <a:bodyPr anchor="t" rtlCol="false" tIns="0" lIns="0" bIns="0" rIns="0">
            <a:spAutoFit/>
          </a:bodyPr>
          <a:lstStyle/>
          <a:p>
            <a:pPr algn="l">
              <a:lnSpc>
                <a:spcPts val="2729"/>
              </a:lnSpc>
            </a:pPr>
            <a:r>
              <a:rPr lang="en-US" b="true" sz="1950">
                <a:solidFill>
                  <a:srgbClr val="0B2545"/>
                </a:solidFill>
                <a:latin typeface="Calibri (MS) Bold"/>
                <a:ea typeface="Calibri (MS) Bold"/>
                <a:cs typeface="Calibri (MS) Bold"/>
                <a:sym typeface="Calibri (MS) Bold"/>
              </a:rPr>
              <a:t>Inspect the data</a:t>
            </a:r>
          </a:p>
        </p:txBody>
      </p:sp>
      <p:sp>
        <p:nvSpPr>
          <p:cNvPr name="TextBox 94" id="94"/>
          <p:cNvSpPr txBox="true"/>
          <p:nvPr/>
        </p:nvSpPr>
        <p:spPr>
          <a:xfrm rot="0">
            <a:off x="11002699" y="4991224"/>
            <a:ext cx="48320" cy="307658"/>
          </a:xfrm>
          <a:prstGeom prst="rect">
            <a:avLst/>
          </a:prstGeom>
        </p:spPr>
        <p:txBody>
          <a:bodyPr anchor="t" rtlCol="false" tIns="0" lIns="0" bIns="0" rIns="0">
            <a:spAutoFit/>
          </a:bodyPr>
          <a:lstStyle/>
          <a:p>
            <a:pPr algn="l">
              <a:lnSpc>
                <a:spcPts val="2310"/>
              </a:lnSpc>
            </a:pPr>
            <a:r>
              <a:rPr lang="en-US" sz="1650">
                <a:solidFill>
                  <a:srgbClr val="5A6B82"/>
                </a:solidFill>
                <a:latin typeface="Calibri (MS)"/>
                <a:ea typeface="Calibri (MS)"/>
                <a:cs typeface="Calibri (MS)"/>
                <a:sym typeface="Calibri (MS)"/>
              </a:rPr>
              <a:t> </a:t>
            </a:r>
          </a:p>
        </p:txBody>
      </p:sp>
      <p:sp>
        <p:nvSpPr>
          <p:cNvPr name="TextBox 95" id="95"/>
          <p:cNvSpPr txBox="true"/>
          <p:nvPr/>
        </p:nvSpPr>
        <p:spPr>
          <a:xfrm rot="0">
            <a:off x="10492740" y="6615255"/>
            <a:ext cx="1735417" cy="370522"/>
          </a:xfrm>
          <a:prstGeom prst="rect">
            <a:avLst/>
          </a:prstGeom>
        </p:spPr>
        <p:txBody>
          <a:bodyPr anchor="t" rtlCol="false" tIns="0" lIns="0" bIns="0" rIns="0">
            <a:spAutoFit/>
          </a:bodyPr>
          <a:lstStyle/>
          <a:p>
            <a:pPr algn="l">
              <a:lnSpc>
                <a:spcPts val="2729"/>
              </a:lnSpc>
            </a:pPr>
            <a:r>
              <a:rPr lang="en-US" b="true" sz="1950">
                <a:solidFill>
                  <a:srgbClr val="0B2545"/>
                </a:solidFill>
                <a:latin typeface="Calibri (MS) Bold"/>
                <a:ea typeface="Calibri (MS) Bold"/>
                <a:cs typeface="Calibri (MS) Bold"/>
                <a:sym typeface="Calibri (MS) Bold"/>
              </a:rPr>
              <a:t>Explore patterns</a:t>
            </a:r>
          </a:p>
        </p:txBody>
      </p:sp>
      <p:sp>
        <p:nvSpPr>
          <p:cNvPr name="TextBox 96" id="96"/>
          <p:cNvSpPr txBox="true"/>
          <p:nvPr/>
        </p:nvSpPr>
        <p:spPr>
          <a:xfrm rot="0">
            <a:off x="10916850" y="6911464"/>
            <a:ext cx="48320" cy="307658"/>
          </a:xfrm>
          <a:prstGeom prst="rect">
            <a:avLst/>
          </a:prstGeom>
        </p:spPr>
        <p:txBody>
          <a:bodyPr anchor="t" rtlCol="false" tIns="0" lIns="0" bIns="0" rIns="0">
            <a:spAutoFit/>
          </a:bodyPr>
          <a:lstStyle/>
          <a:p>
            <a:pPr algn="l">
              <a:lnSpc>
                <a:spcPts val="2310"/>
              </a:lnSpc>
            </a:pPr>
            <a:r>
              <a:rPr lang="en-US" sz="1650">
                <a:solidFill>
                  <a:srgbClr val="5A6B82"/>
                </a:solidFill>
                <a:latin typeface="Calibri (MS)"/>
                <a:ea typeface="Calibri (MS)"/>
                <a:cs typeface="Calibri (MS)"/>
                <a:sym typeface="Calibri (MS)"/>
              </a:rPr>
              <a:t> </a:t>
            </a:r>
          </a:p>
        </p:txBody>
      </p:sp>
      <p:sp>
        <p:nvSpPr>
          <p:cNvPr name="TextBox 97" id="97"/>
          <p:cNvSpPr txBox="true"/>
          <p:nvPr/>
        </p:nvSpPr>
        <p:spPr>
          <a:xfrm rot="0">
            <a:off x="10492740" y="3734895"/>
            <a:ext cx="1991096" cy="370522"/>
          </a:xfrm>
          <a:prstGeom prst="rect">
            <a:avLst/>
          </a:prstGeom>
        </p:spPr>
        <p:txBody>
          <a:bodyPr anchor="t" rtlCol="false" tIns="0" lIns="0" bIns="0" rIns="0">
            <a:spAutoFit/>
          </a:bodyPr>
          <a:lstStyle/>
          <a:p>
            <a:pPr algn="l">
              <a:lnSpc>
                <a:spcPts val="2729"/>
              </a:lnSpc>
            </a:pPr>
            <a:r>
              <a:rPr lang="en-US" b="true" sz="1950">
                <a:solidFill>
                  <a:srgbClr val="0B2545"/>
                </a:solidFill>
                <a:latin typeface="Calibri (MS) Bold"/>
                <a:ea typeface="Calibri (MS) Bold"/>
                <a:cs typeface="Calibri (MS) Bold"/>
                <a:sym typeface="Calibri (MS) Bold"/>
              </a:rPr>
              <a:t>Remove duplicates</a:t>
            </a:r>
          </a:p>
        </p:txBody>
      </p:sp>
      <p:sp>
        <p:nvSpPr>
          <p:cNvPr name="TextBox 98" id="98"/>
          <p:cNvSpPr txBox="true"/>
          <p:nvPr/>
        </p:nvSpPr>
        <p:spPr>
          <a:xfrm rot="0">
            <a:off x="10969857" y="4031104"/>
            <a:ext cx="48320" cy="307658"/>
          </a:xfrm>
          <a:prstGeom prst="rect">
            <a:avLst/>
          </a:prstGeom>
        </p:spPr>
        <p:txBody>
          <a:bodyPr anchor="t" rtlCol="false" tIns="0" lIns="0" bIns="0" rIns="0">
            <a:spAutoFit/>
          </a:bodyPr>
          <a:lstStyle/>
          <a:p>
            <a:pPr algn="l">
              <a:lnSpc>
                <a:spcPts val="2310"/>
              </a:lnSpc>
            </a:pPr>
            <a:r>
              <a:rPr lang="en-US" sz="1650">
                <a:solidFill>
                  <a:srgbClr val="5A6B82"/>
                </a:solidFill>
                <a:latin typeface="Calibri (MS)"/>
                <a:ea typeface="Calibri (MS)"/>
                <a:cs typeface="Calibri (MS)"/>
                <a:sym typeface="Calibri (MS)"/>
              </a:rPr>
              <a:t> </a:t>
            </a:r>
          </a:p>
        </p:txBody>
      </p:sp>
      <p:sp>
        <p:nvSpPr>
          <p:cNvPr name="TextBox 99" id="99"/>
          <p:cNvSpPr txBox="true"/>
          <p:nvPr/>
        </p:nvSpPr>
        <p:spPr>
          <a:xfrm rot="0">
            <a:off x="10492740" y="7575375"/>
            <a:ext cx="2065353" cy="370522"/>
          </a:xfrm>
          <a:prstGeom prst="rect">
            <a:avLst/>
          </a:prstGeom>
        </p:spPr>
        <p:txBody>
          <a:bodyPr anchor="t" rtlCol="false" tIns="0" lIns="0" bIns="0" rIns="0">
            <a:spAutoFit/>
          </a:bodyPr>
          <a:lstStyle/>
          <a:p>
            <a:pPr algn="l">
              <a:lnSpc>
                <a:spcPts val="2729"/>
              </a:lnSpc>
            </a:pPr>
            <a:r>
              <a:rPr lang="en-US" b="true" sz="1950">
                <a:solidFill>
                  <a:srgbClr val="0B2545"/>
                </a:solidFill>
                <a:latin typeface="Calibri (MS) Bold"/>
                <a:ea typeface="Calibri (MS) Bold"/>
                <a:cs typeface="Calibri (MS) Bold"/>
                <a:sym typeface="Calibri (MS) Bold"/>
              </a:rPr>
              <a:t>Prepare for training</a:t>
            </a:r>
          </a:p>
        </p:txBody>
      </p:sp>
      <p:sp>
        <p:nvSpPr>
          <p:cNvPr name="TextBox 100" id="100"/>
          <p:cNvSpPr txBox="true"/>
          <p:nvPr/>
        </p:nvSpPr>
        <p:spPr>
          <a:xfrm rot="0">
            <a:off x="11200790" y="7871584"/>
            <a:ext cx="48320" cy="307658"/>
          </a:xfrm>
          <a:prstGeom prst="rect">
            <a:avLst/>
          </a:prstGeom>
        </p:spPr>
        <p:txBody>
          <a:bodyPr anchor="t" rtlCol="false" tIns="0" lIns="0" bIns="0" rIns="0">
            <a:spAutoFit/>
          </a:bodyPr>
          <a:lstStyle/>
          <a:p>
            <a:pPr algn="l">
              <a:lnSpc>
                <a:spcPts val="2310"/>
              </a:lnSpc>
            </a:pPr>
            <a:r>
              <a:rPr lang="en-US" sz="1650">
                <a:solidFill>
                  <a:srgbClr val="5A6B82"/>
                </a:solidFill>
                <a:latin typeface="Calibri (MS)"/>
                <a:ea typeface="Calibri (MS)"/>
                <a:cs typeface="Calibri (MS)"/>
                <a:sym typeface="Calibri (MS)"/>
              </a:rPr>
              <a:t> </a:t>
            </a:r>
          </a:p>
        </p:txBody>
      </p:sp>
      <p:sp>
        <p:nvSpPr>
          <p:cNvPr name="TextBox 101" id="101"/>
          <p:cNvSpPr txBox="true"/>
          <p:nvPr/>
        </p:nvSpPr>
        <p:spPr>
          <a:xfrm rot="0">
            <a:off x="10492740" y="2774775"/>
            <a:ext cx="2193750" cy="370522"/>
          </a:xfrm>
          <a:prstGeom prst="rect">
            <a:avLst/>
          </a:prstGeom>
        </p:spPr>
        <p:txBody>
          <a:bodyPr anchor="t" rtlCol="false" tIns="0" lIns="0" bIns="0" rIns="0">
            <a:spAutoFit/>
          </a:bodyPr>
          <a:lstStyle/>
          <a:p>
            <a:pPr algn="l">
              <a:lnSpc>
                <a:spcPts val="2729"/>
              </a:lnSpc>
            </a:pPr>
            <a:r>
              <a:rPr lang="en-US" b="true" sz="1950">
                <a:solidFill>
                  <a:srgbClr val="0B2545"/>
                </a:solidFill>
                <a:latin typeface="Calibri (MS) Bold"/>
                <a:ea typeface="Calibri (MS) Bold"/>
                <a:cs typeface="Calibri (MS) Bold"/>
                <a:sym typeface="Calibri (MS) Bold"/>
              </a:rPr>
              <a:t>Check missing values</a:t>
            </a:r>
          </a:p>
        </p:txBody>
      </p:sp>
      <p:sp>
        <p:nvSpPr>
          <p:cNvPr name="TextBox 102" id="102"/>
          <p:cNvSpPr txBox="true"/>
          <p:nvPr/>
        </p:nvSpPr>
        <p:spPr>
          <a:xfrm rot="0">
            <a:off x="10598944" y="3070984"/>
            <a:ext cx="48320" cy="307658"/>
          </a:xfrm>
          <a:prstGeom prst="rect">
            <a:avLst/>
          </a:prstGeom>
        </p:spPr>
        <p:txBody>
          <a:bodyPr anchor="t" rtlCol="false" tIns="0" lIns="0" bIns="0" rIns="0">
            <a:spAutoFit/>
          </a:bodyPr>
          <a:lstStyle/>
          <a:p>
            <a:pPr algn="l">
              <a:lnSpc>
                <a:spcPts val="2310"/>
              </a:lnSpc>
            </a:pPr>
            <a:r>
              <a:rPr lang="en-US" sz="1650">
                <a:solidFill>
                  <a:srgbClr val="5A6B82"/>
                </a:solidFill>
                <a:latin typeface="Calibri (MS)"/>
                <a:ea typeface="Calibri (MS)"/>
                <a:cs typeface="Calibri (MS)"/>
                <a:sym typeface="Calibri (MS)"/>
              </a:rPr>
              <a:t> </a:t>
            </a:r>
          </a:p>
        </p:txBody>
      </p:sp>
      <p:sp>
        <p:nvSpPr>
          <p:cNvPr name="TextBox 103" id="103"/>
          <p:cNvSpPr txBox="true"/>
          <p:nvPr/>
        </p:nvSpPr>
        <p:spPr>
          <a:xfrm rot="0">
            <a:off x="10492740" y="3070984"/>
            <a:ext cx="2765374" cy="307658"/>
          </a:xfrm>
          <a:prstGeom prst="rect">
            <a:avLst/>
          </a:prstGeom>
        </p:spPr>
        <p:txBody>
          <a:bodyPr anchor="t" rtlCol="false" tIns="0" lIns="0" bIns="0" rIns="0">
            <a:spAutoFit/>
          </a:bodyPr>
          <a:lstStyle/>
          <a:p>
            <a:pPr algn="l">
              <a:lnSpc>
                <a:spcPts val="2310"/>
              </a:lnSpc>
            </a:pPr>
            <a:r>
              <a:rPr lang="en-US" sz="1650">
                <a:solidFill>
                  <a:srgbClr val="5A6B82"/>
                </a:solidFill>
                <a:latin typeface="Calibri (MS)"/>
                <a:ea typeface="Calibri (MS)"/>
                <a:cs typeface="Calibri (MS)"/>
                <a:sym typeface="Calibri (MS)"/>
              </a:rPr>
              <a:t>0</a:t>
            </a:r>
            <a:r>
              <a:rPr lang="en-US" sz="1650">
                <a:solidFill>
                  <a:srgbClr val="FFFFFF"/>
                </a:solidFill>
                <a:latin typeface="Calibri (MS)"/>
                <a:ea typeface="Calibri (MS)"/>
                <a:cs typeface="Calibri (MS)"/>
                <a:sym typeface="Calibri (MS)"/>
              </a:rPr>
              <a:t> </a:t>
            </a:r>
            <a:r>
              <a:rPr lang="en-US" sz="1650">
                <a:solidFill>
                  <a:srgbClr val="5A6B82"/>
                </a:solidFill>
                <a:latin typeface="Calibri (MS)"/>
                <a:ea typeface="Calibri (MS)"/>
                <a:cs typeface="Calibri (MS)"/>
                <a:sym typeface="Calibri (MS)"/>
              </a:rPr>
              <a:t>missing</a:t>
            </a:r>
            <a:r>
              <a:rPr lang="en-US" sz="1650">
                <a:solidFill>
                  <a:srgbClr val="FFFFFF"/>
                </a:solidFill>
                <a:latin typeface="Calibri (MS)"/>
                <a:ea typeface="Calibri (MS)"/>
                <a:cs typeface="Calibri (MS)"/>
                <a:sym typeface="Calibri (MS)"/>
              </a:rPr>
              <a:t> </a:t>
            </a:r>
            <a:r>
              <a:rPr lang="en-US" sz="1650">
                <a:solidFill>
                  <a:srgbClr val="5A6B82"/>
                </a:solidFill>
                <a:latin typeface="Calibri (MS)"/>
                <a:ea typeface="Calibri (MS)"/>
                <a:cs typeface="Calibri (MS)"/>
                <a:sym typeface="Calibri (MS)"/>
              </a:rPr>
              <a:t>values</a:t>
            </a:r>
            <a:r>
              <a:rPr lang="en-US" sz="1650">
                <a:solidFill>
                  <a:srgbClr val="FFFFFF"/>
                </a:solidFill>
                <a:latin typeface="Calibri (MS)"/>
                <a:ea typeface="Calibri (MS)"/>
                <a:cs typeface="Calibri (MS)"/>
                <a:sym typeface="Calibri (MS)"/>
              </a:rPr>
              <a:t> </a:t>
            </a:r>
            <a:r>
              <a:rPr lang="en-US" sz="1650">
                <a:solidFill>
                  <a:srgbClr val="5A6B82"/>
                </a:solidFill>
                <a:latin typeface="Calibri (MS)"/>
                <a:ea typeface="Calibri (MS)"/>
                <a:cs typeface="Calibri (MS)"/>
                <a:sym typeface="Calibri (MS)"/>
              </a:rPr>
              <a:t>were</a:t>
            </a:r>
            <a:r>
              <a:rPr lang="en-US" sz="1650">
                <a:solidFill>
                  <a:srgbClr val="FFFFFF"/>
                </a:solidFill>
                <a:latin typeface="Calibri (MS)"/>
                <a:ea typeface="Calibri (MS)"/>
                <a:cs typeface="Calibri (MS)"/>
                <a:sym typeface="Calibri (MS)"/>
              </a:rPr>
              <a:t> </a:t>
            </a:r>
            <a:r>
              <a:rPr lang="en-US" sz="1650">
                <a:solidFill>
                  <a:srgbClr val="5A6B82"/>
                </a:solidFill>
                <a:latin typeface="Calibri (MS)"/>
                <a:ea typeface="Calibri (MS)"/>
                <a:cs typeface="Calibri (MS)"/>
                <a:sym typeface="Calibri (MS)"/>
              </a:rPr>
              <a:t>reported.</a:t>
            </a:r>
          </a:p>
        </p:txBody>
      </p:sp>
      <p:sp>
        <p:nvSpPr>
          <p:cNvPr name="TextBox 104" id="104"/>
          <p:cNvSpPr txBox="true"/>
          <p:nvPr/>
        </p:nvSpPr>
        <p:spPr>
          <a:xfrm rot="0">
            <a:off x="10492740" y="4031104"/>
            <a:ext cx="3619300" cy="307658"/>
          </a:xfrm>
          <a:prstGeom prst="rect">
            <a:avLst/>
          </a:prstGeom>
        </p:spPr>
        <p:txBody>
          <a:bodyPr anchor="t" rtlCol="false" tIns="0" lIns="0" bIns="0" rIns="0">
            <a:spAutoFit/>
          </a:bodyPr>
          <a:lstStyle/>
          <a:p>
            <a:pPr algn="l">
              <a:lnSpc>
                <a:spcPts val="2310"/>
              </a:lnSpc>
            </a:pPr>
            <a:r>
              <a:rPr lang="en-US" sz="1650">
                <a:solidFill>
                  <a:srgbClr val="5A6B82"/>
                </a:solidFill>
                <a:latin typeface="Calibri (MS)"/>
                <a:ea typeface="Calibri (MS)"/>
                <a:cs typeface="Calibri (MS)"/>
                <a:sym typeface="Calibri (MS)"/>
              </a:rPr>
              <a:t>2,284repeatedrowsfound and removed.</a:t>
            </a:r>
          </a:p>
        </p:txBody>
      </p:sp>
      <p:sp>
        <p:nvSpPr>
          <p:cNvPr name="TextBox 105" id="105"/>
          <p:cNvSpPr txBox="true"/>
          <p:nvPr/>
        </p:nvSpPr>
        <p:spPr>
          <a:xfrm rot="0">
            <a:off x="10492740" y="4991224"/>
            <a:ext cx="3901297" cy="307658"/>
          </a:xfrm>
          <a:prstGeom prst="rect">
            <a:avLst/>
          </a:prstGeom>
        </p:spPr>
        <p:txBody>
          <a:bodyPr anchor="t" rtlCol="false" tIns="0" lIns="0" bIns="0" rIns="0">
            <a:spAutoFit/>
          </a:bodyPr>
          <a:lstStyle/>
          <a:p>
            <a:pPr algn="l">
              <a:lnSpc>
                <a:spcPts val="2310"/>
              </a:lnSpc>
            </a:pPr>
            <a:r>
              <a:rPr lang="en-US" sz="1650">
                <a:solidFill>
                  <a:srgbClr val="5A6B82"/>
                </a:solidFill>
                <a:latin typeface="Calibri (MS)"/>
                <a:ea typeface="Calibri (MS)"/>
                <a:cs typeface="Calibri (MS)"/>
                <a:sym typeface="Calibri (MS)"/>
              </a:rPr>
              <a:t>Checkdatatypesand how values are spread.</a:t>
            </a:r>
          </a:p>
        </p:txBody>
      </p:sp>
      <p:sp>
        <p:nvSpPr>
          <p:cNvPr name="TextBox 106" id="106"/>
          <p:cNvSpPr txBox="true"/>
          <p:nvPr/>
        </p:nvSpPr>
        <p:spPr>
          <a:xfrm rot="0">
            <a:off x="10492740" y="7871584"/>
            <a:ext cx="5267963" cy="307658"/>
          </a:xfrm>
          <a:prstGeom prst="rect">
            <a:avLst/>
          </a:prstGeom>
        </p:spPr>
        <p:txBody>
          <a:bodyPr anchor="t" rtlCol="false" tIns="0" lIns="0" bIns="0" rIns="0">
            <a:spAutoFit/>
          </a:bodyPr>
          <a:lstStyle/>
          <a:p>
            <a:pPr algn="l">
              <a:lnSpc>
                <a:spcPts val="2310"/>
              </a:lnSpc>
            </a:pPr>
            <a:r>
              <a:rPr lang="en-US" sz="1650">
                <a:solidFill>
                  <a:srgbClr val="5A6B82"/>
                </a:solidFill>
                <a:latin typeface="Calibri (MS)"/>
                <a:ea typeface="Calibri (MS)"/>
                <a:cs typeface="Calibri (MS)"/>
                <a:sym typeface="Calibri (MS)"/>
              </a:rPr>
              <a:t>One-hotencodecategories; remove target-leakage columns.</a:t>
            </a:r>
          </a:p>
        </p:txBody>
      </p:sp>
      <p:sp>
        <p:nvSpPr>
          <p:cNvPr name="TextBox 107" id="107"/>
          <p:cNvSpPr txBox="true"/>
          <p:nvPr/>
        </p:nvSpPr>
        <p:spPr>
          <a:xfrm rot="0">
            <a:off x="10492740" y="5951344"/>
            <a:ext cx="5777160" cy="307658"/>
          </a:xfrm>
          <a:prstGeom prst="rect">
            <a:avLst/>
          </a:prstGeom>
        </p:spPr>
        <p:txBody>
          <a:bodyPr anchor="t" rtlCol="false" tIns="0" lIns="0" bIns="0" rIns="0">
            <a:spAutoFit/>
          </a:bodyPr>
          <a:lstStyle/>
          <a:p>
            <a:pPr algn="l">
              <a:lnSpc>
                <a:spcPts val="2310"/>
              </a:lnSpc>
            </a:pPr>
            <a:r>
              <a:rPr lang="en-US" sz="1650">
                <a:solidFill>
                  <a:srgbClr val="5A6B82"/>
                </a:solidFill>
                <a:latin typeface="Calibri (MS)"/>
                <a:ea typeface="Calibri (MS)"/>
                <a:cs typeface="Calibri (MS)"/>
                <a:sym typeface="Calibri (MS)"/>
              </a:rPr>
              <a:t>FindthemwiththeIQR method; cap selected continuous features.</a:t>
            </a:r>
          </a:p>
        </p:txBody>
      </p:sp>
      <p:sp>
        <p:nvSpPr>
          <p:cNvPr name="TextBox 108" id="108"/>
          <p:cNvSpPr txBox="true"/>
          <p:nvPr/>
        </p:nvSpPr>
        <p:spPr>
          <a:xfrm rot="0">
            <a:off x="10492740" y="6911464"/>
            <a:ext cx="6872688" cy="307658"/>
          </a:xfrm>
          <a:prstGeom prst="rect">
            <a:avLst/>
          </a:prstGeom>
        </p:spPr>
        <p:txBody>
          <a:bodyPr anchor="t" rtlCol="false" tIns="0" lIns="0" bIns="0" rIns="0">
            <a:spAutoFit/>
          </a:bodyPr>
          <a:lstStyle/>
          <a:p>
            <a:pPr algn="l">
              <a:lnSpc>
                <a:spcPts val="2310"/>
              </a:lnSpc>
            </a:pPr>
            <a:r>
              <a:rPr lang="en-US" sz="1650">
                <a:solidFill>
                  <a:srgbClr val="5A6B82"/>
                </a:solidFill>
                <a:latin typeface="Calibri (MS)"/>
                <a:ea typeface="Calibri (MS)"/>
                <a:cs typeface="Calibri (MS)"/>
                <a:sym typeface="Calibri (MS)"/>
              </a:rPr>
              <a:t>Classcounts,age,BMI, glucose, HbA1c, class comparison, correlation heatmap.</a:t>
            </a:r>
          </a:p>
        </p:txBody>
      </p:sp>
      <p:sp>
        <p:nvSpPr>
          <p:cNvPr name="TextBox 109" id="109"/>
          <p:cNvSpPr txBox="true"/>
          <p:nvPr/>
        </p:nvSpPr>
        <p:spPr>
          <a:xfrm rot="0">
            <a:off x="9738360" y="8662988"/>
            <a:ext cx="7276833" cy="567690"/>
          </a:xfrm>
          <a:prstGeom prst="rect">
            <a:avLst/>
          </a:prstGeom>
        </p:spPr>
        <p:txBody>
          <a:bodyPr anchor="t" rtlCol="false" tIns="0" lIns="0" bIns="0" rIns="0">
            <a:spAutoFit/>
          </a:bodyPr>
          <a:lstStyle/>
          <a:p>
            <a:pPr algn="l">
              <a:lnSpc>
                <a:spcPts val="2100"/>
              </a:lnSpc>
            </a:pPr>
            <a:r>
              <a:rPr lang="en-US" b="true" sz="1800">
                <a:solidFill>
                  <a:srgbClr val="0B2545"/>
                </a:solidFill>
                <a:latin typeface="Calibri (MS) Bold"/>
                <a:ea typeface="Calibri (MS) Bold"/>
                <a:cs typeface="Calibri (MS) Bold"/>
                <a:sym typeface="Calibri (MS) Bold"/>
              </a:rPr>
              <a:t>Note: </a:t>
            </a:r>
            <a:r>
              <a:rPr lang="en-US" sz="1800">
                <a:solidFill>
                  <a:srgbClr val="0B2545"/>
                </a:solidFill>
                <a:latin typeface="Calibri (MS)"/>
                <a:ea typeface="Calibri (MS)"/>
                <a:cs typeface="Calibri (MS)"/>
                <a:sym typeface="Calibri (MS)"/>
              </a:rPr>
              <a:t>outlier capping can change extreme but real values. We do not claim it automatically improves the model.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4694" y="8572814"/>
            <a:ext cx="16734149" cy="986914"/>
          </a:xfrm>
          <a:custGeom>
            <a:avLst/>
            <a:gdLst/>
            <a:ahLst/>
            <a:cxnLst/>
            <a:rect r="r" b="b" t="t" l="l"/>
            <a:pathLst>
              <a:path h="986914" w="16734149">
                <a:moveTo>
                  <a:pt x="0" y="0"/>
                </a:moveTo>
                <a:lnTo>
                  <a:pt x="16734149" y="0"/>
                </a:lnTo>
                <a:lnTo>
                  <a:pt x="16734149" y="986914"/>
                </a:lnTo>
                <a:lnTo>
                  <a:pt x="0" y="986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9457" y="1788157"/>
            <a:ext cx="16700497" cy="6508747"/>
          </a:xfrm>
          <a:custGeom>
            <a:avLst/>
            <a:gdLst/>
            <a:ahLst/>
            <a:cxnLst/>
            <a:rect r="r" b="b" t="t" l="l"/>
            <a:pathLst>
              <a:path h="6508747" w="16700497">
                <a:moveTo>
                  <a:pt x="0" y="0"/>
                </a:moveTo>
                <a:lnTo>
                  <a:pt x="16700497" y="0"/>
                </a:lnTo>
                <a:lnTo>
                  <a:pt x="16700497" y="6508747"/>
                </a:lnTo>
                <a:lnTo>
                  <a:pt x="0" y="65087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5784954" y="200911"/>
            <a:ext cx="2179863" cy="828675"/>
            <a:chOff x="0" y="0"/>
            <a:chExt cx="2906484" cy="1104900"/>
          </a:xfrm>
        </p:grpSpPr>
        <p:sp>
          <p:nvSpPr>
            <p:cNvPr name="Freeform 5" id="5"/>
            <p:cNvSpPr/>
            <p:nvPr/>
          </p:nvSpPr>
          <p:spPr>
            <a:xfrm flipH="false" flipV="false" rot="0">
              <a:off x="0" y="0"/>
              <a:ext cx="2906522" cy="1104900"/>
            </a:xfrm>
            <a:custGeom>
              <a:avLst/>
              <a:gdLst/>
              <a:ahLst/>
              <a:cxnLst/>
              <a:rect r="r" b="b" t="t" l="l"/>
              <a:pathLst>
                <a:path h="1104900" w="2906522">
                  <a:moveTo>
                    <a:pt x="0" y="0"/>
                  </a:moveTo>
                  <a:lnTo>
                    <a:pt x="2906522" y="0"/>
                  </a:lnTo>
                  <a:lnTo>
                    <a:pt x="2906522" y="1104900"/>
                  </a:lnTo>
                  <a:lnTo>
                    <a:pt x="0" y="1104900"/>
                  </a:lnTo>
                  <a:lnTo>
                    <a:pt x="0" y="0"/>
                  </a:lnTo>
                  <a:close/>
                </a:path>
              </a:pathLst>
            </a:custGeom>
            <a:blipFill>
              <a:blip r:embed="rId6"/>
              <a:stretch>
                <a:fillRect l="-3558" t="-4895" r="1" b="-4300"/>
              </a:stretch>
            </a:blipFill>
          </p:spPr>
        </p:sp>
      </p:grpSp>
      <p:grpSp>
        <p:nvGrpSpPr>
          <p:cNvPr name="Group 6" id="6"/>
          <p:cNvGrpSpPr/>
          <p:nvPr/>
        </p:nvGrpSpPr>
        <p:grpSpPr>
          <a:xfrm rot="0">
            <a:off x="818198" y="8636318"/>
            <a:ext cx="16605885" cy="859917"/>
            <a:chOff x="0" y="0"/>
            <a:chExt cx="16605885" cy="859917"/>
          </a:xfrm>
        </p:grpSpPr>
        <p:sp>
          <p:nvSpPr>
            <p:cNvPr name="Freeform 7" id="7"/>
            <p:cNvSpPr/>
            <p:nvPr/>
          </p:nvSpPr>
          <p:spPr>
            <a:xfrm flipH="false" flipV="false" rot="0">
              <a:off x="0" y="0"/>
              <a:ext cx="16605884" cy="859917"/>
            </a:xfrm>
            <a:custGeom>
              <a:avLst/>
              <a:gdLst/>
              <a:ahLst/>
              <a:cxnLst/>
              <a:rect r="r" b="b" t="t" l="l"/>
              <a:pathLst>
                <a:path h="859917" w="16605884">
                  <a:moveTo>
                    <a:pt x="0" y="859917"/>
                  </a:moveTo>
                  <a:lnTo>
                    <a:pt x="16605884" y="859917"/>
                  </a:lnTo>
                  <a:lnTo>
                    <a:pt x="16605884" y="0"/>
                  </a:lnTo>
                  <a:lnTo>
                    <a:pt x="0" y="0"/>
                  </a:lnTo>
                  <a:close/>
                </a:path>
              </a:pathLst>
            </a:custGeom>
            <a:solidFill>
              <a:srgbClr val="000000">
                <a:alpha val="0"/>
              </a:srgbClr>
            </a:solidFill>
          </p:spPr>
        </p:sp>
      </p:grpSp>
      <p:sp>
        <p:nvSpPr>
          <p:cNvPr name="TextBox 8" id="8"/>
          <p:cNvSpPr txBox="true"/>
          <p:nvPr/>
        </p:nvSpPr>
        <p:spPr>
          <a:xfrm rot="0">
            <a:off x="1683029" y="2494950"/>
            <a:ext cx="50521"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 </a:t>
            </a:r>
          </a:p>
        </p:txBody>
      </p:sp>
      <p:sp>
        <p:nvSpPr>
          <p:cNvPr name="TextBox 9" id="9"/>
          <p:cNvSpPr txBox="true"/>
          <p:nvPr/>
        </p:nvSpPr>
        <p:spPr>
          <a:xfrm rot="0">
            <a:off x="914343" y="2756364"/>
            <a:ext cx="1277626"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Random Forests</a:t>
            </a:r>
          </a:p>
        </p:txBody>
      </p:sp>
      <p:sp>
        <p:nvSpPr>
          <p:cNvPr name="TextBox 10" id="10"/>
          <p:cNvSpPr txBox="true"/>
          <p:nvPr/>
        </p:nvSpPr>
        <p:spPr>
          <a:xfrm rot="0">
            <a:off x="1769250" y="7524636"/>
            <a:ext cx="50521"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 </a:t>
            </a:r>
          </a:p>
        </p:txBody>
      </p:sp>
      <p:sp>
        <p:nvSpPr>
          <p:cNvPr name="TextBox 11" id="11"/>
          <p:cNvSpPr txBox="true"/>
          <p:nvPr/>
        </p:nvSpPr>
        <p:spPr>
          <a:xfrm rot="0">
            <a:off x="914343" y="7786049"/>
            <a:ext cx="1826781"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Explainable AI for trees</a:t>
            </a:r>
          </a:p>
        </p:txBody>
      </p:sp>
      <p:sp>
        <p:nvSpPr>
          <p:cNvPr name="TextBox 12" id="12"/>
          <p:cNvSpPr txBox="true"/>
          <p:nvPr/>
        </p:nvSpPr>
        <p:spPr>
          <a:xfrm rot="0">
            <a:off x="822960" y="9673876"/>
            <a:ext cx="2720912"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AI Patient Risk Assessment System</a:t>
            </a:r>
          </a:p>
        </p:txBody>
      </p:sp>
      <p:sp>
        <p:nvSpPr>
          <p:cNvPr name="TextBox 13" id="13"/>
          <p:cNvSpPr txBox="true"/>
          <p:nvPr/>
        </p:nvSpPr>
        <p:spPr>
          <a:xfrm rot="0">
            <a:off x="1581188" y="5848074"/>
            <a:ext cx="50521"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 </a:t>
            </a:r>
          </a:p>
        </p:txBody>
      </p:sp>
      <p:sp>
        <p:nvSpPr>
          <p:cNvPr name="TextBox 14" id="14"/>
          <p:cNvSpPr txBox="true"/>
          <p:nvPr/>
        </p:nvSpPr>
        <p:spPr>
          <a:xfrm rot="0">
            <a:off x="914343" y="6109487"/>
            <a:ext cx="3322530"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SMOTE: Synthetic Minority Over-sampling</a:t>
            </a:r>
          </a:p>
        </p:txBody>
      </p:sp>
      <p:sp>
        <p:nvSpPr>
          <p:cNvPr name="TextBox 15" id="15"/>
          <p:cNvSpPr txBox="true"/>
          <p:nvPr/>
        </p:nvSpPr>
        <p:spPr>
          <a:xfrm rot="0">
            <a:off x="1522676" y="5009788"/>
            <a:ext cx="50521"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 </a:t>
            </a:r>
          </a:p>
        </p:txBody>
      </p:sp>
      <p:sp>
        <p:nvSpPr>
          <p:cNvPr name="TextBox 16" id="16"/>
          <p:cNvSpPr txBox="true"/>
          <p:nvPr/>
        </p:nvSpPr>
        <p:spPr>
          <a:xfrm rot="0">
            <a:off x="914343" y="5271202"/>
            <a:ext cx="3569208"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Overview of clinical decision support systems</a:t>
            </a:r>
          </a:p>
        </p:txBody>
      </p:sp>
      <p:sp>
        <p:nvSpPr>
          <p:cNvPr name="TextBox 17" id="17"/>
          <p:cNvSpPr txBox="true"/>
          <p:nvPr/>
        </p:nvSpPr>
        <p:spPr>
          <a:xfrm rot="0">
            <a:off x="1741970" y="6686350"/>
            <a:ext cx="50521"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 </a:t>
            </a:r>
          </a:p>
        </p:txBody>
      </p:sp>
      <p:sp>
        <p:nvSpPr>
          <p:cNvPr name="TextBox 18" id="18"/>
          <p:cNvSpPr txBox="true"/>
          <p:nvPr/>
        </p:nvSpPr>
        <p:spPr>
          <a:xfrm rot="0">
            <a:off x="914343" y="6947764"/>
            <a:ext cx="3600526"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Performance measures for classification tasks</a:t>
            </a:r>
          </a:p>
        </p:txBody>
      </p:sp>
      <p:sp>
        <p:nvSpPr>
          <p:cNvPr name="TextBox 19" id="19"/>
          <p:cNvSpPr txBox="true"/>
          <p:nvPr/>
        </p:nvSpPr>
        <p:spPr>
          <a:xfrm rot="0">
            <a:off x="1583226" y="3333226"/>
            <a:ext cx="50521"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 </a:t>
            </a:r>
          </a:p>
        </p:txBody>
      </p:sp>
      <p:sp>
        <p:nvSpPr>
          <p:cNvPr name="TextBox 20" id="20"/>
          <p:cNvSpPr txBox="true"/>
          <p:nvPr/>
        </p:nvSpPr>
        <p:spPr>
          <a:xfrm rot="0">
            <a:off x="914343" y="3594640"/>
            <a:ext cx="4422638"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Disease risks from imbalanced data using random forest</a:t>
            </a:r>
          </a:p>
        </p:txBody>
      </p:sp>
      <p:sp>
        <p:nvSpPr>
          <p:cNvPr name="TextBox 21" id="21"/>
          <p:cNvSpPr txBox="true"/>
          <p:nvPr/>
        </p:nvSpPr>
        <p:spPr>
          <a:xfrm rot="0">
            <a:off x="1463850" y="4171512"/>
            <a:ext cx="50521"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 </a:t>
            </a:r>
          </a:p>
        </p:txBody>
      </p:sp>
      <p:sp>
        <p:nvSpPr>
          <p:cNvPr name="TextBox 22" id="22"/>
          <p:cNvSpPr txBox="true"/>
          <p:nvPr/>
        </p:nvSpPr>
        <p:spPr>
          <a:xfrm rot="0">
            <a:off x="914343" y="4432925"/>
            <a:ext cx="4691996"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Comparing supervised ML algorithms for disease prediction</a:t>
            </a:r>
          </a:p>
        </p:txBody>
      </p:sp>
      <p:sp>
        <p:nvSpPr>
          <p:cNvPr name="TextBox 23" id="23"/>
          <p:cNvSpPr txBox="true"/>
          <p:nvPr/>
        </p:nvSpPr>
        <p:spPr>
          <a:xfrm rot="0">
            <a:off x="17272397" y="9624346"/>
            <a:ext cx="98479"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5</a:t>
            </a:r>
          </a:p>
        </p:txBody>
      </p:sp>
      <p:sp>
        <p:nvSpPr>
          <p:cNvPr name="TextBox 24" id="24"/>
          <p:cNvSpPr txBox="true"/>
          <p:nvPr/>
        </p:nvSpPr>
        <p:spPr>
          <a:xfrm rot="0">
            <a:off x="822960" y="598456"/>
            <a:ext cx="10395585" cy="832085"/>
          </a:xfrm>
          <a:prstGeom prst="rect">
            <a:avLst/>
          </a:prstGeom>
        </p:spPr>
        <p:txBody>
          <a:bodyPr anchor="t" rtlCol="false" tIns="0" lIns="0" bIns="0" rIns="0">
            <a:spAutoFit/>
          </a:bodyPr>
          <a:lstStyle/>
          <a:p>
            <a:pPr algn="l">
              <a:lnSpc>
                <a:spcPts val="6719"/>
              </a:lnSpc>
            </a:pPr>
            <a:r>
              <a:rPr lang="en-US" b="true" sz="4800">
                <a:solidFill>
                  <a:srgbClr val="0B2545"/>
                </a:solidFill>
                <a:latin typeface="Cambria Bold"/>
                <a:ea typeface="Cambria Bold"/>
                <a:cs typeface="Cambria Bold"/>
                <a:sym typeface="Cambria Bold"/>
              </a:rPr>
              <a:t>Literature Review and Research Gap</a:t>
            </a:r>
          </a:p>
        </p:txBody>
      </p:sp>
      <p:sp>
        <p:nvSpPr>
          <p:cNvPr name="TextBox 25" id="25"/>
          <p:cNvSpPr txBox="true"/>
          <p:nvPr/>
        </p:nvSpPr>
        <p:spPr>
          <a:xfrm rot="0">
            <a:off x="914343" y="1923850"/>
            <a:ext cx="564604" cy="339090"/>
          </a:xfrm>
          <a:prstGeom prst="rect">
            <a:avLst/>
          </a:prstGeom>
        </p:spPr>
        <p:txBody>
          <a:bodyPr anchor="t" rtlCol="false" tIns="0" lIns="0" bIns="0" rIns="0">
            <a:spAutoFit/>
          </a:bodyPr>
          <a:lstStyle/>
          <a:p>
            <a:pPr algn="l">
              <a:lnSpc>
                <a:spcPts val="2520"/>
              </a:lnSpc>
            </a:pPr>
            <a:r>
              <a:rPr lang="en-US" b="true" sz="1800">
                <a:solidFill>
                  <a:srgbClr val="FFFFFF"/>
                </a:solidFill>
                <a:latin typeface="Calibri (MS) Bold"/>
                <a:ea typeface="Calibri (MS) Bold"/>
                <a:cs typeface="Calibri (MS) Bold"/>
                <a:sym typeface="Calibri (MS) Bold"/>
              </a:rPr>
              <a:t>Paper</a:t>
            </a:r>
          </a:p>
        </p:txBody>
      </p:sp>
      <p:sp>
        <p:nvSpPr>
          <p:cNvPr name="TextBox 26" id="26"/>
          <p:cNvSpPr txBox="true"/>
          <p:nvPr/>
        </p:nvSpPr>
        <p:spPr>
          <a:xfrm rot="0">
            <a:off x="5708332" y="1923850"/>
            <a:ext cx="1082288" cy="339090"/>
          </a:xfrm>
          <a:prstGeom prst="rect">
            <a:avLst/>
          </a:prstGeom>
        </p:spPr>
        <p:txBody>
          <a:bodyPr anchor="t" rtlCol="false" tIns="0" lIns="0" bIns="0" rIns="0">
            <a:spAutoFit/>
          </a:bodyPr>
          <a:lstStyle/>
          <a:p>
            <a:pPr algn="l">
              <a:lnSpc>
                <a:spcPts val="2520"/>
              </a:lnSpc>
            </a:pPr>
            <a:r>
              <a:rPr lang="en-US" b="true" sz="1800">
                <a:solidFill>
                  <a:srgbClr val="FFFFFF"/>
                </a:solidFill>
                <a:latin typeface="Calibri (MS) Bold"/>
                <a:ea typeface="Calibri (MS) Bold"/>
                <a:cs typeface="Calibri (MS) Bold"/>
                <a:sym typeface="Calibri (MS) Bold"/>
              </a:rPr>
              <a:t>Key finding</a:t>
            </a:r>
          </a:p>
        </p:txBody>
      </p:sp>
      <p:sp>
        <p:nvSpPr>
          <p:cNvPr name="TextBox 27" id="27"/>
          <p:cNvSpPr txBox="true"/>
          <p:nvPr/>
        </p:nvSpPr>
        <p:spPr>
          <a:xfrm rot="0">
            <a:off x="11461109" y="1923850"/>
            <a:ext cx="2375211" cy="339090"/>
          </a:xfrm>
          <a:prstGeom prst="rect">
            <a:avLst/>
          </a:prstGeom>
        </p:spPr>
        <p:txBody>
          <a:bodyPr anchor="t" rtlCol="false" tIns="0" lIns="0" bIns="0" rIns="0">
            <a:spAutoFit/>
          </a:bodyPr>
          <a:lstStyle/>
          <a:p>
            <a:pPr algn="l">
              <a:lnSpc>
                <a:spcPts val="2520"/>
              </a:lnSpc>
            </a:pPr>
            <a:r>
              <a:rPr lang="en-US" b="true" sz="1800">
                <a:solidFill>
                  <a:srgbClr val="FFFFFF"/>
                </a:solidFill>
                <a:latin typeface="Calibri (MS) Bold"/>
                <a:ea typeface="Calibri (MS) Bold"/>
                <a:cs typeface="Calibri (MS) Bold"/>
                <a:sym typeface="Calibri (MS) Bold"/>
              </a:rPr>
              <a:t>Relevance to our project</a:t>
            </a:r>
          </a:p>
        </p:txBody>
      </p:sp>
      <p:sp>
        <p:nvSpPr>
          <p:cNvPr name="TextBox 28" id="28"/>
          <p:cNvSpPr txBox="true"/>
          <p:nvPr/>
        </p:nvSpPr>
        <p:spPr>
          <a:xfrm rot="0">
            <a:off x="14885394" y="1923850"/>
            <a:ext cx="771134" cy="339090"/>
          </a:xfrm>
          <a:prstGeom prst="rect">
            <a:avLst/>
          </a:prstGeom>
        </p:spPr>
        <p:txBody>
          <a:bodyPr anchor="t" rtlCol="false" tIns="0" lIns="0" bIns="0" rIns="0">
            <a:spAutoFit/>
          </a:bodyPr>
          <a:lstStyle/>
          <a:p>
            <a:pPr algn="l">
              <a:lnSpc>
                <a:spcPts val="2520"/>
              </a:lnSpc>
            </a:pPr>
            <a:r>
              <a:rPr lang="en-US" b="true" sz="1800">
                <a:solidFill>
                  <a:srgbClr val="FFFFFF"/>
                </a:solidFill>
                <a:latin typeface="Calibri (MS) Bold"/>
                <a:ea typeface="Calibri (MS) Bold"/>
                <a:cs typeface="Calibri (MS) Bold"/>
                <a:sym typeface="Calibri (MS) Bold"/>
              </a:rPr>
              <a:t>DOI link</a:t>
            </a:r>
          </a:p>
        </p:txBody>
      </p:sp>
      <p:sp>
        <p:nvSpPr>
          <p:cNvPr name="TextBox 29" id="29"/>
          <p:cNvSpPr txBox="true"/>
          <p:nvPr/>
        </p:nvSpPr>
        <p:spPr>
          <a:xfrm rot="0">
            <a:off x="914343" y="2494950"/>
            <a:ext cx="1426826"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Breiman</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(2001)</a:t>
            </a:r>
          </a:p>
        </p:txBody>
      </p:sp>
      <p:sp>
        <p:nvSpPr>
          <p:cNvPr name="TextBox 30" id="30"/>
          <p:cNvSpPr txBox="true"/>
          <p:nvPr/>
        </p:nvSpPr>
        <p:spPr>
          <a:xfrm rot="0">
            <a:off x="914343" y="4171512"/>
            <a:ext cx="1719129"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Uddin</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et</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al.</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(2019)</a:t>
            </a:r>
          </a:p>
        </p:txBody>
      </p:sp>
      <p:sp>
        <p:nvSpPr>
          <p:cNvPr name="TextBox 31" id="31"/>
          <p:cNvSpPr txBox="true"/>
          <p:nvPr/>
        </p:nvSpPr>
        <p:spPr>
          <a:xfrm rot="0">
            <a:off x="914343" y="5009788"/>
            <a:ext cx="1779137"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Sutton</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et</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al.</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(2020)</a:t>
            </a:r>
          </a:p>
        </p:txBody>
      </p:sp>
      <p:sp>
        <p:nvSpPr>
          <p:cNvPr name="TextBox 32" id="32"/>
          <p:cNvSpPr txBox="true"/>
          <p:nvPr/>
        </p:nvSpPr>
        <p:spPr>
          <a:xfrm rot="0">
            <a:off x="914343" y="5848074"/>
            <a:ext cx="1838820"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Chawla</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et</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al.</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(2002)</a:t>
            </a:r>
          </a:p>
        </p:txBody>
      </p:sp>
      <p:sp>
        <p:nvSpPr>
          <p:cNvPr name="TextBox 33" id="33"/>
          <p:cNvSpPr txBox="true"/>
          <p:nvPr/>
        </p:nvSpPr>
        <p:spPr>
          <a:xfrm rot="0">
            <a:off x="914343" y="3333226"/>
            <a:ext cx="1840897"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Khalilia</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et</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al.</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(2011)</a:t>
            </a:r>
          </a:p>
        </p:txBody>
      </p:sp>
      <p:sp>
        <p:nvSpPr>
          <p:cNvPr name="TextBox 34" id="34"/>
          <p:cNvSpPr txBox="true"/>
          <p:nvPr/>
        </p:nvSpPr>
        <p:spPr>
          <a:xfrm rot="0">
            <a:off x="914343" y="7524636"/>
            <a:ext cx="2030635"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Lundberg</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et</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al.</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(2020)</a:t>
            </a:r>
          </a:p>
        </p:txBody>
      </p:sp>
      <p:sp>
        <p:nvSpPr>
          <p:cNvPr name="TextBox 35" id="35"/>
          <p:cNvSpPr txBox="true"/>
          <p:nvPr/>
        </p:nvSpPr>
        <p:spPr>
          <a:xfrm rot="0">
            <a:off x="914343" y="6686350"/>
            <a:ext cx="2529602" cy="328136"/>
          </a:xfrm>
          <a:prstGeom prst="rect">
            <a:avLst/>
          </a:prstGeom>
        </p:spPr>
        <p:txBody>
          <a:bodyPr anchor="t" rtlCol="false" tIns="0" lIns="0" bIns="0" rIns="0">
            <a:spAutoFit/>
          </a:bodyPr>
          <a:lstStyle/>
          <a:p>
            <a:pPr algn="l">
              <a:lnSpc>
                <a:spcPts val="2415"/>
              </a:lnSpc>
            </a:pPr>
            <a:r>
              <a:rPr lang="en-US" b="true" sz="1725">
                <a:solidFill>
                  <a:srgbClr val="0B2545"/>
                </a:solidFill>
                <a:latin typeface="Calibri (MS) Bold"/>
                <a:ea typeface="Calibri (MS) Bold"/>
                <a:cs typeface="Calibri (MS) Bold"/>
                <a:sym typeface="Calibri (MS) Bold"/>
              </a:rPr>
              <a:t>Sokolova</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&amp;</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Lapalme</a:t>
            </a:r>
            <a:r>
              <a:rPr lang="en-US" b="true" sz="1725">
                <a:solidFill>
                  <a:srgbClr val="FFFFFF"/>
                </a:solidFill>
                <a:latin typeface="Calibri (MS) Bold"/>
                <a:ea typeface="Calibri (MS) Bold"/>
                <a:cs typeface="Calibri (MS) Bold"/>
                <a:sym typeface="Calibri (MS) Bold"/>
              </a:rPr>
              <a:t> </a:t>
            </a:r>
            <a:r>
              <a:rPr lang="en-US" b="true" sz="1725">
                <a:solidFill>
                  <a:srgbClr val="0B2545"/>
                </a:solidFill>
                <a:latin typeface="Calibri (MS) Bold"/>
                <a:ea typeface="Calibri (MS) Bold"/>
                <a:cs typeface="Calibri (MS) Bold"/>
                <a:sym typeface="Calibri (MS) Bold"/>
              </a:rPr>
              <a:t>(2009)</a:t>
            </a:r>
          </a:p>
        </p:txBody>
      </p:sp>
      <p:sp>
        <p:nvSpPr>
          <p:cNvPr name="TextBox 36" id="36"/>
          <p:cNvSpPr txBox="true"/>
          <p:nvPr/>
        </p:nvSpPr>
        <p:spPr>
          <a:xfrm rot="0">
            <a:off x="5708332" y="7628134"/>
            <a:ext cx="4703502" cy="328136"/>
          </a:xfrm>
          <a:prstGeom prst="rect">
            <a:avLst/>
          </a:prstGeom>
        </p:spPr>
        <p:txBody>
          <a:bodyPr anchor="t" rtlCol="false" tIns="0" lIns="0" bIns="0" rIns="0">
            <a:spAutoFit/>
          </a:bodyPr>
          <a:lstStyle/>
          <a:p>
            <a:pPr algn="l">
              <a:lnSpc>
                <a:spcPts val="2415"/>
              </a:lnSpc>
            </a:pPr>
            <a:r>
              <a:rPr lang="en-US" sz="1725">
                <a:solidFill>
                  <a:srgbClr val="0B2545"/>
                </a:solidFill>
                <a:latin typeface="Calibri (MS)"/>
                <a:ea typeface="Calibri (MS)"/>
                <a:cs typeface="Calibri (MS)"/>
                <a:sym typeface="Calibri (MS)"/>
              </a:rPr>
              <a:t>Explains tree-model predictions locally and globally.</a:t>
            </a:r>
          </a:p>
        </p:txBody>
      </p:sp>
      <p:sp>
        <p:nvSpPr>
          <p:cNvPr name="TextBox 37" id="37"/>
          <p:cNvSpPr txBox="true"/>
          <p:nvPr/>
        </p:nvSpPr>
        <p:spPr>
          <a:xfrm rot="0">
            <a:off x="5708332" y="2503199"/>
            <a:ext cx="4903499" cy="547211"/>
          </a:xfrm>
          <a:prstGeom prst="rect">
            <a:avLst/>
          </a:prstGeom>
        </p:spPr>
        <p:txBody>
          <a:bodyPr anchor="t" rtlCol="false" tIns="0" lIns="0" bIns="0" rIns="0">
            <a:spAutoFit/>
          </a:bodyPr>
          <a:lstStyle/>
          <a:p>
            <a:pPr algn="l">
              <a:lnSpc>
                <a:spcPts val="2025"/>
              </a:lnSpc>
            </a:pPr>
            <a:r>
              <a:rPr lang="en-US" sz="1725">
                <a:solidFill>
                  <a:srgbClr val="0B2545"/>
                </a:solidFill>
                <a:latin typeface="Calibri (MS)"/>
                <a:ea typeface="Calibri (MS)"/>
                <a:cs typeface="Calibri (MS)"/>
                <a:sym typeface="Calibri (MS)"/>
              </a:rPr>
              <a:t>Many trees voting give accurate predictions and resist overfitting.</a:t>
            </a:r>
          </a:p>
        </p:txBody>
      </p:sp>
      <p:sp>
        <p:nvSpPr>
          <p:cNvPr name="TextBox 38" id="38"/>
          <p:cNvSpPr txBox="true"/>
          <p:nvPr/>
        </p:nvSpPr>
        <p:spPr>
          <a:xfrm rot="0">
            <a:off x="5708332" y="3341484"/>
            <a:ext cx="5247951" cy="547211"/>
          </a:xfrm>
          <a:prstGeom prst="rect">
            <a:avLst/>
          </a:prstGeom>
        </p:spPr>
        <p:txBody>
          <a:bodyPr anchor="t" rtlCol="false" tIns="0" lIns="0" bIns="0" rIns="0">
            <a:spAutoFit/>
          </a:bodyPr>
          <a:lstStyle/>
          <a:p>
            <a:pPr algn="l">
              <a:lnSpc>
                <a:spcPts val="2025"/>
              </a:lnSpc>
            </a:pPr>
            <a:r>
              <a:rPr lang="en-US" sz="1725">
                <a:solidFill>
                  <a:srgbClr val="0B2545"/>
                </a:solidFill>
                <a:latin typeface="Calibri (MS)"/>
                <a:ea typeface="Calibri (MS)"/>
                <a:cs typeface="Calibri (MS)"/>
                <a:sym typeface="Calibri (MS)"/>
              </a:rPr>
              <a:t>Predicted 8 chronic diseases on imbalanced hospital data; average AUC 88.79%.</a:t>
            </a:r>
          </a:p>
        </p:txBody>
      </p:sp>
      <p:sp>
        <p:nvSpPr>
          <p:cNvPr name="TextBox 39" id="39"/>
          <p:cNvSpPr txBox="true"/>
          <p:nvPr/>
        </p:nvSpPr>
        <p:spPr>
          <a:xfrm rot="0">
            <a:off x="5708332" y="4179760"/>
            <a:ext cx="5369500" cy="547211"/>
          </a:xfrm>
          <a:prstGeom prst="rect">
            <a:avLst/>
          </a:prstGeom>
        </p:spPr>
        <p:txBody>
          <a:bodyPr anchor="t" rtlCol="false" tIns="0" lIns="0" bIns="0" rIns="0">
            <a:spAutoFit/>
          </a:bodyPr>
          <a:lstStyle/>
          <a:p>
            <a:pPr algn="l">
              <a:lnSpc>
                <a:spcPts val="2025"/>
              </a:lnSpc>
            </a:pPr>
            <a:r>
              <a:rPr lang="en-US" sz="1725">
                <a:solidFill>
                  <a:srgbClr val="0B2545"/>
                </a:solidFill>
                <a:latin typeface="Calibri (MS)"/>
                <a:ea typeface="Calibri (MS)"/>
                <a:cs typeface="Calibri (MS)"/>
                <a:sym typeface="Calibri (MS)"/>
              </a:rPr>
              <a:t>Reviewed 48 studies; random forest was best in 9 of the 17 studies using it.</a:t>
            </a:r>
          </a:p>
        </p:txBody>
      </p:sp>
      <p:sp>
        <p:nvSpPr>
          <p:cNvPr name="TextBox 40" id="40"/>
          <p:cNvSpPr txBox="true"/>
          <p:nvPr/>
        </p:nvSpPr>
        <p:spPr>
          <a:xfrm rot="0">
            <a:off x="5708332" y="5018046"/>
            <a:ext cx="5149863" cy="547211"/>
          </a:xfrm>
          <a:prstGeom prst="rect">
            <a:avLst/>
          </a:prstGeom>
        </p:spPr>
        <p:txBody>
          <a:bodyPr anchor="t" rtlCol="false" tIns="0" lIns="0" bIns="0" rIns="0">
            <a:spAutoFit/>
          </a:bodyPr>
          <a:lstStyle/>
          <a:p>
            <a:pPr algn="l">
              <a:lnSpc>
                <a:spcPts val="2025"/>
              </a:lnSpc>
            </a:pPr>
            <a:r>
              <a:rPr lang="en-US" sz="1725">
                <a:solidFill>
                  <a:srgbClr val="0B2545"/>
                </a:solidFill>
                <a:latin typeface="Calibri (MS)"/>
                <a:ea typeface="Calibri (MS)"/>
                <a:cs typeface="Calibri (MS)"/>
                <a:sym typeface="Calibri (MS)"/>
              </a:rPr>
              <a:t>Decision support helps clinicians but carries risks; careful design is needed.</a:t>
            </a:r>
          </a:p>
        </p:txBody>
      </p:sp>
      <p:sp>
        <p:nvSpPr>
          <p:cNvPr name="TextBox 41" id="41"/>
          <p:cNvSpPr txBox="true"/>
          <p:nvPr/>
        </p:nvSpPr>
        <p:spPr>
          <a:xfrm rot="0">
            <a:off x="5708332" y="5856322"/>
            <a:ext cx="5399942" cy="547211"/>
          </a:xfrm>
          <a:prstGeom prst="rect">
            <a:avLst/>
          </a:prstGeom>
        </p:spPr>
        <p:txBody>
          <a:bodyPr anchor="t" rtlCol="false" tIns="0" lIns="0" bIns="0" rIns="0">
            <a:spAutoFit/>
          </a:bodyPr>
          <a:lstStyle/>
          <a:p>
            <a:pPr algn="l">
              <a:lnSpc>
                <a:spcPts val="2025"/>
              </a:lnSpc>
            </a:pPr>
            <a:r>
              <a:rPr lang="en-US" sz="1725">
                <a:solidFill>
                  <a:srgbClr val="0B2545"/>
                </a:solidFill>
                <a:latin typeface="Calibri (MS)"/>
                <a:ea typeface="Calibri (MS)"/>
                <a:cs typeface="Calibri (MS)"/>
                <a:sym typeface="Calibri (MS)"/>
              </a:rPr>
              <a:t>Synthetic minority examples plus under-sampling improved classifier results.</a:t>
            </a:r>
          </a:p>
        </p:txBody>
      </p:sp>
      <p:sp>
        <p:nvSpPr>
          <p:cNvPr name="TextBox 42" id="42"/>
          <p:cNvSpPr txBox="true"/>
          <p:nvPr/>
        </p:nvSpPr>
        <p:spPr>
          <a:xfrm rot="0">
            <a:off x="5708332" y="6789858"/>
            <a:ext cx="5597871" cy="328136"/>
          </a:xfrm>
          <a:prstGeom prst="rect">
            <a:avLst/>
          </a:prstGeom>
        </p:spPr>
        <p:txBody>
          <a:bodyPr anchor="t" rtlCol="false" tIns="0" lIns="0" bIns="0" rIns="0">
            <a:spAutoFit/>
          </a:bodyPr>
          <a:lstStyle/>
          <a:p>
            <a:pPr algn="l">
              <a:lnSpc>
                <a:spcPts val="2415"/>
              </a:lnSpc>
            </a:pPr>
            <a:r>
              <a:rPr lang="en-US" sz="1725">
                <a:solidFill>
                  <a:srgbClr val="0B2545"/>
                </a:solidFill>
                <a:latin typeface="Calibri (MS)"/>
                <a:ea typeface="Calibri (MS)"/>
                <a:cs typeface="Calibri (MS)"/>
                <a:sym typeface="Calibri (MS)"/>
              </a:rPr>
              <a:t>Different measures capture different aspects of performance.</a:t>
            </a:r>
          </a:p>
        </p:txBody>
      </p:sp>
      <p:sp>
        <p:nvSpPr>
          <p:cNvPr name="TextBox 43" id="43"/>
          <p:cNvSpPr txBox="true"/>
          <p:nvPr/>
        </p:nvSpPr>
        <p:spPr>
          <a:xfrm rot="0">
            <a:off x="11461109" y="2606469"/>
            <a:ext cx="1446247" cy="328136"/>
          </a:xfrm>
          <a:prstGeom prst="rect">
            <a:avLst/>
          </a:prstGeom>
        </p:spPr>
        <p:txBody>
          <a:bodyPr anchor="t" rtlCol="false" tIns="0" lIns="0" bIns="0" rIns="0">
            <a:spAutoFit/>
          </a:bodyPr>
          <a:lstStyle/>
          <a:p>
            <a:pPr algn="l">
              <a:lnSpc>
                <a:spcPts val="2415"/>
              </a:lnSpc>
            </a:pPr>
            <a:r>
              <a:rPr lang="en-US" b="true" sz="1725">
                <a:solidFill>
                  <a:srgbClr val="0F6E73"/>
                </a:solidFill>
                <a:latin typeface="Calibri (MS) Bold"/>
                <a:ea typeface="Calibri (MS) Bold"/>
                <a:cs typeface="Calibri (MS) Bold"/>
                <a:sym typeface="Calibri (MS) Bold"/>
              </a:rPr>
              <a:t>Our core model</a:t>
            </a:r>
          </a:p>
        </p:txBody>
      </p:sp>
      <p:sp>
        <p:nvSpPr>
          <p:cNvPr name="TextBox 44" id="44"/>
          <p:cNvSpPr txBox="true"/>
          <p:nvPr/>
        </p:nvSpPr>
        <p:spPr>
          <a:xfrm rot="0">
            <a:off x="11461109" y="7636154"/>
            <a:ext cx="2439362" cy="328136"/>
          </a:xfrm>
          <a:prstGeom prst="rect">
            <a:avLst/>
          </a:prstGeom>
        </p:spPr>
        <p:txBody>
          <a:bodyPr anchor="t" rtlCol="false" tIns="0" lIns="0" bIns="0" rIns="0">
            <a:spAutoFit/>
          </a:bodyPr>
          <a:lstStyle/>
          <a:p>
            <a:pPr algn="l">
              <a:lnSpc>
                <a:spcPts val="2415"/>
              </a:lnSpc>
            </a:pPr>
            <a:r>
              <a:rPr lang="en-US" b="true" sz="1725">
                <a:solidFill>
                  <a:srgbClr val="0F6E73"/>
                </a:solidFill>
                <a:latin typeface="Calibri (MS) Bold"/>
                <a:ea typeface="Calibri (MS) Bold"/>
                <a:cs typeface="Calibri (MS) Bold"/>
                <a:sym typeface="Calibri (MS) Bold"/>
              </a:rPr>
              <a:t>Future explainability work</a:t>
            </a:r>
          </a:p>
        </p:txBody>
      </p:sp>
      <p:sp>
        <p:nvSpPr>
          <p:cNvPr name="TextBox 45" id="45"/>
          <p:cNvSpPr txBox="true"/>
          <p:nvPr/>
        </p:nvSpPr>
        <p:spPr>
          <a:xfrm rot="0">
            <a:off x="11461109" y="5959592"/>
            <a:ext cx="2480386" cy="328136"/>
          </a:xfrm>
          <a:prstGeom prst="rect">
            <a:avLst/>
          </a:prstGeom>
        </p:spPr>
        <p:txBody>
          <a:bodyPr anchor="t" rtlCol="false" tIns="0" lIns="0" bIns="0" rIns="0">
            <a:spAutoFit/>
          </a:bodyPr>
          <a:lstStyle/>
          <a:p>
            <a:pPr algn="l">
              <a:lnSpc>
                <a:spcPts val="2415"/>
              </a:lnSpc>
            </a:pPr>
            <a:r>
              <a:rPr lang="en-US" b="true" sz="1725">
                <a:solidFill>
                  <a:srgbClr val="0F6E73"/>
                </a:solidFill>
                <a:latin typeface="Calibri (MS) Bold"/>
                <a:ea typeface="Calibri (MS) Bold"/>
                <a:cs typeface="Calibri (MS) Bold"/>
                <a:sym typeface="Calibri (MS) Bold"/>
              </a:rPr>
              <a:t>Possible fix for rare classes</a:t>
            </a:r>
          </a:p>
        </p:txBody>
      </p:sp>
      <p:sp>
        <p:nvSpPr>
          <p:cNvPr name="TextBox 46" id="46"/>
          <p:cNvSpPr txBox="true"/>
          <p:nvPr/>
        </p:nvSpPr>
        <p:spPr>
          <a:xfrm rot="0">
            <a:off x="11461109" y="5026066"/>
            <a:ext cx="2820267" cy="547211"/>
          </a:xfrm>
          <a:prstGeom prst="rect">
            <a:avLst/>
          </a:prstGeom>
        </p:spPr>
        <p:txBody>
          <a:bodyPr anchor="t" rtlCol="false" tIns="0" lIns="0" bIns="0" rIns="0">
            <a:spAutoFit/>
          </a:bodyPr>
          <a:lstStyle/>
          <a:p>
            <a:pPr algn="l">
              <a:lnSpc>
                <a:spcPts val="2025"/>
              </a:lnSpc>
            </a:pPr>
            <a:r>
              <a:rPr lang="en-US" b="true" sz="1725">
                <a:solidFill>
                  <a:srgbClr val="0F6E73"/>
                </a:solidFill>
                <a:latin typeface="Calibri (MS) Bold"/>
                <a:ea typeface="Calibri (MS) Bold"/>
                <a:cs typeface="Calibri (MS) Bold"/>
                <a:sym typeface="Calibri (MS) Bold"/>
              </a:rPr>
              <a:t>Why we frame this as decision support</a:t>
            </a:r>
          </a:p>
        </p:txBody>
      </p:sp>
      <p:sp>
        <p:nvSpPr>
          <p:cNvPr name="TextBox 47" id="47"/>
          <p:cNvSpPr txBox="true"/>
          <p:nvPr/>
        </p:nvSpPr>
        <p:spPr>
          <a:xfrm rot="0">
            <a:off x="11461109" y="6702628"/>
            <a:ext cx="2865872" cy="547211"/>
          </a:xfrm>
          <a:prstGeom prst="rect">
            <a:avLst/>
          </a:prstGeom>
        </p:spPr>
        <p:txBody>
          <a:bodyPr anchor="t" rtlCol="false" tIns="0" lIns="0" bIns="0" rIns="0">
            <a:spAutoFit/>
          </a:bodyPr>
          <a:lstStyle/>
          <a:p>
            <a:pPr algn="l">
              <a:lnSpc>
                <a:spcPts val="2025"/>
              </a:lnSpc>
            </a:pPr>
            <a:r>
              <a:rPr lang="en-US" b="true" sz="1725">
                <a:solidFill>
                  <a:srgbClr val="0F6E73"/>
                </a:solidFill>
                <a:latin typeface="Calibri (MS) Bold"/>
                <a:ea typeface="Calibri (MS) Bold"/>
                <a:cs typeface="Calibri (MS) Bold"/>
                <a:sym typeface="Calibri (MS) Bold"/>
              </a:rPr>
              <a:t>Why macro F1 is reported with accuracy</a:t>
            </a:r>
          </a:p>
        </p:txBody>
      </p:sp>
      <p:sp>
        <p:nvSpPr>
          <p:cNvPr name="TextBox 48" id="48"/>
          <p:cNvSpPr txBox="true"/>
          <p:nvPr/>
        </p:nvSpPr>
        <p:spPr>
          <a:xfrm rot="0">
            <a:off x="11461109" y="3349504"/>
            <a:ext cx="3069803" cy="547211"/>
          </a:xfrm>
          <a:prstGeom prst="rect">
            <a:avLst/>
          </a:prstGeom>
        </p:spPr>
        <p:txBody>
          <a:bodyPr anchor="t" rtlCol="false" tIns="0" lIns="0" bIns="0" rIns="0">
            <a:spAutoFit/>
          </a:bodyPr>
          <a:lstStyle/>
          <a:p>
            <a:pPr algn="l">
              <a:lnSpc>
                <a:spcPts val="2025"/>
              </a:lnSpc>
            </a:pPr>
            <a:r>
              <a:rPr lang="en-US" b="true" sz="1725">
                <a:solidFill>
                  <a:srgbClr val="0F6E73"/>
                </a:solidFill>
                <a:latin typeface="Calibri (MS) Bold"/>
                <a:ea typeface="Calibri (MS) Bold"/>
                <a:cs typeface="Calibri (MS) Bold"/>
                <a:sym typeface="Calibri (MS) Bold"/>
              </a:rPr>
              <a:t>Random forest, imbalance, many diseases</a:t>
            </a:r>
          </a:p>
        </p:txBody>
      </p:sp>
      <p:sp>
        <p:nvSpPr>
          <p:cNvPr name="TextBox 49" id="49"/>
          <p:cNvSpPr txBox="true"/>
          <p:nvPr/>
        </p:nvSpPr>
        <p:spPr>
          <a:xfrm rot="0">
            <a:off x="11461109" y="4283031"/>
            <a:ext cx="3087472" cy="328136"/>
          </a:xfrm>
          <a:prstGeom prst="rect">
            <a:avLst/>
          </a:prstGeom>
        </p:spPr>
        <p:txBody>
          <a:bodyPr anchor="t" rtlCol="false" tIns="0" lIns="0" bIns="0" rIns="0">
            <a:spAutoFit/>
          </a:bodyPr>
          <a:lstStyle/>
          <a:p>
            <a:pPr algn="l">
              <a:lnSpc>
                <a:spcPts val="2415"/>
              </a:lnSpc>
            </a:pPr>
            <a:r>
              <a:rPr lang="en-US" b="true" sz="1725">
                <a:solidFill>
                  <a:srgbClr val="0F6E73"/>
                </a:solidFill>
                <a:latin typeface="Calibri (MS) Bold"/>
                <a:ea typeface="Calibri (MS) Bold"/>
                <a:cs typeface="Calibri (MS) Bold"/>
                <a:sym typeface="Calibri (MS) Bold"/>
              </a:rPr>
              <a:t>Supports choosing random forest</a:t>
            </a:r>
          </a:p>
        </p:txBody>
      </p:sp>
      <p:sp>
        <p:nvSpPr>
          <p:cNvPr name="TextBox 50" id="50"/>
          <p:cNvSpPr txBox="true"/>
          <p:nvPr/>
        </p:nvSpPr>
        <p:spPr>
          <a:xfrm rot="0">
            <a:off x="14885394" y="5975623"/>
            <a:ext cx="1376972" cy="287179"/>
          </a:xfrm>
          <a:prstGeom prst="rect">
            <a:avLst/>
          </a:prstGeom>
        </p:spPr>
        <p:txBody>
          <a:bodyPr anchor="t" rtlCol="false" tIns="0" lIns="0" bIns="0" rIns="0">
            <a:spAutoFit/>
          </a:bodyPr>
          <a:lstStyle/>
          <a:p>
            <a:pPr algn="l">
              <a:lnSpc>
                <a:spcPts val="2204"/>
              </a:lnSpc>
            </a:pPr>
            <a:r>
              <a:rPr lang="en-US" sz="1575">
                <a:solidFill>
                  <a:srgbClr val="0F6E73"/>
                </a:solidFill>
                <a:latin typeface="Calibri (MS)"/>
                <a:ea typeface="Calibri (MS)"/>
                <a:cs typeface="Calibri (MS)"/>
                <a:sym typeface="Calibri (MS)"/>
                <a:hlinkClick r:id="rId7" tooltip="https://doi.org/10.1613/jair.953"/>
              </a:rPr>
              <a:t>10.1613/jair.953</a:t>
            </a:r>
          </a:p>
        </p:txBody>
      </p:sp>
      <p:sp>
        <p:nvSpPr>
          <p:cNvPr name="TextBox 51" id="51"/>
          <p:cNvSpPr txBox="true"/>
          <p:nvPr/>
        </p:nvSpPr>
        <p:spPr>
          <a:xfrm rot="0">
            <a:off x="14885394" y="3460785"/>
            <a:ext cx="2179025" cy="287179"/>
          </a:xfrm>
          <a:prstGeom prst="rect">
            <a:avLst/>
          </a:prstGeom>
        </p:spPr>
        <p:txBody>
          <a:bodyPr anchor="t" rtlCol="false" tIns="0" lIns="0" bIns="0" rIns="0">
            <a:spAutoFit/>
          </a:bodyPr>
          <a:lstStyle/>
          <a:p>
            <a:pPr algn="l">
              <a:lnSpc>
                <a:spcPts val="2204"/>
              </a:lnSpc>
            </a:pPr>
            <a:r>
              <a:rPr lang="en-US" sz="1575">
                <a:solidFill>
                  <a:srgbClr val="0F6E73"/>
                </a:solidFill>
                <a:latin typeface="Calibri (MS)"/>
                <a:ea typeface="Calibri (MS)"/>
                <a:cs typeface="Calibri (MS)"/>
                <a:sym typeface="Calibri (MS)"/>
                <a:hlinkClick r:id="rId8" tooltip="https://doi.org/10.1186/1472-6947-11-51"/>
              </a:rPr>
              <a:t>10.1186/1472-6947-11-51</a:t>
            </a:r>
          </a:p>
        </p:txBody>
      </p:sp>
      <p:sp>
        <p:nvSpPr>
          <p:cNvPr name="TextBox 52" id="52"/>
          <p:cNvSpPr txBox="true"/>
          <p:nvPr/>
        </p:nvSpPr>
        <p:spPr>
          <a:xfrm rot="0">
            <a:off x="14885394" y="6813909"/>
            <a:ext cx="2253244" cy="287179"/>
          </a:xfrm>
          <a:prstGeom prst="rect">
            <a:avLst/>
          </a:prstGeom>
        </p:spPr>
        <p:txBody>
          <a:bodyPr anchor="t" rtlCol="false" tIns="0" lIns="0" bIns="0" rIns="0">
            <a:spAutoFit/>
          </a:bodyPr>
          <a:lstStyle/>
          <a:p>
            <a:pPr algn="l">
              <a:lnSpc>
                <a:spcPts val="2204"/>
              </a:lnSpc>
            </a:pPr>
            <a:r>
              <a:rPr lang="en-US" sz="1575">
                <a:solidFill>
                  <a:srgbClr val="0F6E73"/>
                </a:solidFill>
                <a:latin typeface="Calibri (MS)"/>
                <a:ea typeface="Calibri (MS)"/>
                <a:cs typeface="Calibri (MS)"/>
                <a:sym typeface="Calibri (MS)"/>
                <a:hlinkClick r:id="rId9" tooltip="https://doi.org/10.1016/j.ipm.2009.03.002"/>
              </a:rPr>
              <a:t>10.1016/j.ipm.2009.03.002</a:t>
            </a:r>
          </a:p>
        </p:txBody>
      </p:sp>
      <p:sp>
        <p:nvSpPr>
          <p:cNvPr name="TextBox 53" id="53"/>
          <p:cNvSpPr txBox="true"/>
          <p:nvPr/>
        </p:nvSpPr>
        <p:spPr>
          <a:xfrm rot="0">
            <a:off x="14885394" y="2622499"/>
            <a:ext cx="2267693" cy="287179"/>
          </a:xfrm>
          <a:prstGeom prst="rect">
            <a:avLst/>
          </a:prstGeom>
        </p:spPr>
        <p:txBody>
          <a:bodyPr anchor="t" rtlCol="false" tIns="0" lIns="0" bIns="0" rIns="0">
            <a:spAutoFit/>
          </a:bodyPr>
          <a:lstStyle/>
          <a:p>
            <a:pPr algn="l">
              <a:lnSpc>
                <a:spcPts val="2204"/>
              </a:lnSpc>
            </a:pPr>
            <a:r>
              <a:rPr lang="en-US" sz="1575">
                <a:solidFill>
                  <a:srgbClr val="0F6E73"/>
                </a:solidFill>
                <a:latin typeface="Calibri (MS)"/>
                <a:ea typeface="Calibri (MS)"/>
                <a:cs typeface="Calibri (MS)"/>
                <a:sym typeface="Calibri (MS)"/>
                <a:hlinkClick r:id="rId10" tooltip="https://doi.org/10.1023/A:1010933404324"/>
              </a:rPr>
              <a:t>10.1023/A:1010933404324</a:t>
            </a:r>
          </a:p>
        </p:txBody>
      </p:sp>
      <p:sp>
        <p:nvSpPr>
          <p:cNvPr name="TextBox 54" id="54"/>
          <p:cNvSpPr txBox="true"/>
          <p:nvPr/>
        </p:nvSpPr>
        <p:spPr>
          <a:xfrm rot="0">
            <a:off x="14885394" y="4299061"/>
            <a:ext cx="2362229" cy="287179"/>
          </a:xfrm>
          <a:prstGeom prst="rect">
            <a:avLst/>
          </a:prstGeom>
        </p:spPr>
        <p:txBody>
          <a:bodyPr anchor="t" rtlCol="false" tIns="0" lIns="0" bIns="0" rIns="0">
            <a:spAutoFit/>
          </a:bodyPr>
          <a:lstStyle/>
          <a:p>
            <a:pPr algn="l">
              <a:lnSpc>
                <a:spcPts val="2204"/>
              </a:lnSpc>
            </a:pPr>
            <a:r>
              <a:rPr lang="en-US" sz="1575">
                <a:solidFill>
                  <a:srgbClr val="0F6E73"/>
                </a:solidFill>
                <a:latin typeface="Calibri (MS)"/>
                <a:ea typeface="Calibri (MS)"/>
                <a:cs typeface="Calibri (MS)"/>
                <a:sym typeface="Calibri (MS)"/>
                <a:hlinkClick r:id="rId11" tooltip="https://doi.org/10.1186/s12911-019-1004-8"/>
              </a:rPr>
              <a:t>10.1186/s12911-019-1004-8</a:t>
            </a:r>
          </a:p>
        </p:txBody>
      </p:sp>
      <p:sp>
        <p:nvSpPr>
          <p:cNvPr name="TextBox 55" id="55"/>
          <p:cNvSpPr txBox="true"/>
          <p:nvPr/>
        </p:nvSpPr>
        <p:spPr>
          <a:xfrm rot="0">
            <a:off x="14885394" y="7652185"/>
            <a:ext cx="2362229" cy="287179"/>
          </a:xfrm>
          <a:prstGeom prst="rect">
            <a:avLst/>
          </a:prstGeom>
        </p:spPr>
        <p:txBody>
          <a:bodyPr anchor="t" rtlCol="false" tIns="0" lIns="0" bIns="0" rIns="0">
            <a:spAutoFit/>
          </a:bodyPr>
          <a:lstStyle/>
          <a:p>
            <a:pPr algn="l">
              <a:lnSpc>
                <a:spcPts val="2204"/>
              </a:lnSpc>
            </a:pPr>
            <a:r>
              <a:rPr lang="en-US" sz="1575">
                <a:solidFill>
                  <a:srgbClr val="0F6E73"/>
                </a:solidFill>
                <a:latin typeface="Calibri (MS)"/>
                <a:ea typeface="Calibri (MS)"/>
                <a:cs typeface="Calibri (MS)"/>
                <a:sym typeface="Calibri (MS)"/>
                <a:hlinkClick r:id="rId12" tooltip="https://doi.org/10.1038/s42256-019-0138-9"/>
              </a:rPr>
              <a:t>10.1038/s42256-019-0138-9</a:t>
            </a:r>
          </a:p>
        </p:txBody>
      </p:sp>
      <p:sp>
        <p:nvSpPr>
          <p:cNvPr name="TextBox 56" id="56"/>
          <p:cNvSpPr txBox="true"/>
          <p:nvPr/>
        </p:nvSpPr>
        <p:spPr>
          <a:xfrm rot="0">
            <a:off x="14885394" y="5137347"/>
            <a:ext cx="2351170" cy="287179"/>
          </a:xfrm>
          <a:prstGeom prst="rect">
            <a:avLst/>
          </a:prstGeom>
        </p:spPr>
        <p:txBody>
          <a:bodyPr anchor="t" rtlCol="false" tIns="0" lIns="0" bIns="0" rIns="0">
            <a:spAutoFit/>
          </a:bodyPr>
          <a:lstStyle/>
          <a:p>
            <a:pPr algn="l">
              <a:lnSpc>
                <a:spcPts val="2204"/>
              </a:lnSpc>
            </a:pPr>
            <a:r>
              <a:rPr lang="en-US" sz="1575">
                <a:solidFill>
                  <a:srgbClr val="0F6E73"/>
                </a:solidFill>
                <a:latin typeface="Calibri (MS)"/>
                <a:ea typeface="Calibri (MS)"/>
                <a:cs typeface="Calibri (MS)"/>
                <a:sym typeface="Calibri (MS)"/>
                <a:hlinkClick r:id="rId13" tooltip="https://doi.org/10.1038/s41746-020-0221-y"/>
              </a:rPr>
              <a:t>10.1038/s41746-020-0221-y</a:t>
            </a:r>
          </a:p>
        </p:txBody>
      </p:sp>
      <p:sp>
        <p:nvSpPr>
          <p:cNvPr name="TextBox 57" id="57"/>
          <p:cNvSpPr txBox="true"/>
          <p:nvPr/>
        </p:nvSpPr>
        <p:spPr>
          <a:xfrm rot="0">
            <a:off x="1165860" y="8747522"/>
            <a:ext cx="16051644" cy="627697"/>
          </a:xfrm>
          <a:prstGeom prst="rect">
            <a:avLst/>
          </a:prstGeom>
        </p:spPr>
        <p:txBody>
          <a:bodyPr anchor="t" rtlCol="false" tIns="0" lIns="0" bIns="0" rIns="0">
            <a:spAutoFit/>
          </a:bodyPr>
          <a:lstStyle/>
          <a:p>
            <a:pPr algn="l">
              <a:lnSpc>
                <a:spcPts val="2324"/>
              </a:lnSpc>
            </a:pPr>
            <a:r>
              <a:rPr lang="en-US" b="true" sz="1950">
                <a:solidFill>
                  <a:srgbClr val="F2A541"/>
                </a:solidFill>
                <a:latin typeface="Calibri (MS) Bold"/>
                <a:ea typeface="Calibri (MS) Bold"/>
                <a:cs typeface="Calibri (MS) Bold"/>
                <a:sym typeface="Calibri (MS) Bold"/>
              </a:rPr>
              <a:t>Research gap: </a:t>
            </a:r>
            <a:r>
              <a:rPr lang="en-US" sz="1950">
                <a:solidFill>
                  <a:srgbClr val="FFFFFF"/>
                </a:solidFill>
                <a:latin typeface="Calibri (MS)"/>
                <a:ea typeface="Calibri (MS)"/>
                <a:cs typeface="Calibri (MS)"/>
                <a:sym typeface="Calibri (MS)"/>
              </a:rPr>
              <a:t>many studies focus on one disease or on diagnosis history. We build an eight-class prediction workflow with a user interface. It is a prototype, not a proven medical breakthrough.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4694" y="1851974"/>
            <a:ext cx="5485762" cy="7681655"/>
          </a:xfrm>
          <a:custGeom>
            <a:avLst/>
            <a:gdLst/>
            <a:ahLst/>
            <a:cxnLst/>
            <a:rect r="r" b="b" t="t" l="l"/>
            <a:pathLst>
              <a:path h="7681655" w="5485762">
                <a:moveTo>
                  <a:pt x="0" y="0"/>
                </a:moveTo>
                <a:lnTo>
                  <a:pt x="5485762" y="0"/>
                </a:lnTo>
                <a:lnTo>
                  <a:pt x="5485762" y="7681656"/>
                </a:lnTo>
                <a:lnTo>
                  <a:pt x="0" y="76816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378254" y="1851974"/>
            <a:ext cx="5485762" cy="7681655"/>
          </a:xfrm>
          <a:custGeom>
            <a:avLst/>
            <a:gdLst/>
            <a:ahLst/>
            <a:cxnLst/>
            <a:rect r="r" b="b" t="t" l="l"/>
            <a:pathLst>
              <a:path h="7681655" w="5485762">
                <a:moveTo>
                  <a:pt x="0" y="0"/>
                </a:moveTo>
                <a:lnTo>
                  <a:pt x="5485762" y="0"/>
                </a:lnTo>
                <a:lnTo>
                  <a:pt x="5485762" y="7681656"/>
                </a:lnTo>
                <a:lnTo>
                  <a:pt x="0" y="76816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01814" y="1851974"/>
            <a:ext cx="5485762" cy="7681655"/>
          </a:xfrm>
          <a:custGeom>
            <a:avLst/>
            <a:gdLst/>
            <a:ahLst/>
            <a:cxnLst/>
            <a:rect r="r" b="b" t="t" l="l"/>
            <a:pathLst>
              <a:path h="7681655" w="5485762">
                <a:moveTo>
                  <a:pt x="0" y="0"/>
                </a:moveTo>
                <a:lnTo>
                  <a:pt x="5485762" y="0"/>
                </a:lnTo>
                <a:lnTo>
                  <a:pt x="5485762" y="7681656"/>
                </a:lnTo>
                <a:lnTo>
                  <a:pt x="0" y="76816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5784954" y="200911"/>
            <a:ext cx="2179863" cy="828675"/>
            <a:chOff x="0" y="0"/>
            <a:chExt cx="2906484" cy="1104900"/>
          </a:xfrm>
        </p:grpSpPr>
        <p:sp>
          <p:nvSpPr>
            <p:cNvPr name="Freeform 6" id="6"/>
            <p:cNvSpPr/>
            <p:nvPr/>
          </p:nvSpPr>
          <p:spPr>
            <a:xfrm flipH="false" flipV="false" rot="0">
              <a:off x="0" y="0"/>
              <a:ext cx="2906522" cy="1104900"/>
            </a:xfrm>
            <a:custGeom>
              <a:avLst/>
              <a:gdLst/>
              <a:ahLst/>
              <a:cxnLst/>
              <a:rect r="r" b="b" t="t" l="l"/>
              <a:pathLst>
                <a:path h="1104900" w="2906522">
                  <a:moveTo>
                    <a:pt x="0" y="0"/>
                  </a:moveTo>
                  <a:lnTo>
                    <a:pt x="2906522" y="0"/>
                  </a:lnTo>
                  <a:lnTo>
                    <a:pt x="2906522" y="1104900"/>
                  </a:lnTo>
                  <a:lnTo>
                    <a:pt x="0" y="1104900"/>
                  </a:lnTo>
                  <a:lnTo>
                    <a:pt x="0" y="0"/>
                  </a:lnTo>
                  <a:close/>
                </a:path>
              </a:pathLst>
            </a:custGeom>
            <a:blipFill>
              <a:blip r:embed="rId8"/>
              <a:stretch>
                <a:fillRect l="-3558" t="-4895" r="1" b="-4300"/>
              </a:stretch>
            </a:blipFill>
          </p:spPr>
        </p:sp>
      </p:grpSp>
      <p:grpSp>
        <p:nvGrpSpPr>
          <p:cNvPr name="Group 7" id="7"/>
          <p:cNvGrpSpPr/>
          <p:nvPr/>
        </p:nvGrpSpPr>
        <p:grpSpPr>
          <a:xfrm rot="0">
            <a:off x="754694" y="1851974"/>
            <a:ext cx="5485762" cy="7680322"/>
            <a:chOff x="0" y="0"/>
            <a:chExt cx="5485765" cy="7680325"/>
          </a:xfrm>
        </p:grpSpPr>
        <p:sp>
          <p:nvSpPr>
            <p:cNvPr name="Freeform 8" id="8"/>
            <p:cNvSpPr/>
            <p:nvPr/>
          </p:nvSpPr>
          <p:spPr>
            <a:xfrm flipH="false" flipV="false" rot="0">
              <a:off x="63500" y="63500"/>
              <a:ext cx="5358765" cy="7553325"/>
            </a:xfrm>
            <a:custGeom>
              <a:avLst/>
              <a:gdLst/>
              <a:ahLst/>
              <a:cxnLst/>
              <a:rect r="r" b="b" t="t" l="l"/>
              <a:pathLst>
                <a:path h="7553325" w="5358765">
                  <a:moveTo>
                    <a:pt x="0" y="7553325"/>
                  </a:moveTo>
                  <a:lnTo>
                    <a:pt x="5358765" y="7553325"/>
                  </a:lnTo>
                  <a:lnTo>
                    <a:pt x="5358765" y="0"/>
                  </a:lnTo>
                  <a:lnTo>
                    <a:pt x="0" y="0"/>
                  </a:lnTo>
                  <a:close/>
                </a:path>
              </a:pathLst>
            </a:custGeom>
            <a:solidFill>
              <a:srgbClr val="000000">
                <a:alpha val="0"/>
              </a:srgbClr>
            </a:solidFill>
          </p:spPr>
        </p:sp>
        <p:sp>
          <p:nvSpPr>
            <p:cNvPr name="Freeform 9" id="9"/>
            <p:cNvSpPr/>
            <p:nvPr/>
          </p:nvSpPr>
          <p:spPr>
            <a:xfrm flipH="false" flipV="false" rot="0">
              <a:off x="474980" y="1023620"/>
              <a:ext cx="2204085" cy="448437"/>
            </a:xfrm>
            <a:custGeom>
              <a:avLst/>
              <a:gdLst/>
              <a:ahLst/>
              <a:cxnLst/>
              <a:rect r="r" b="b" t="t" l="l"/>
              <a:pathLst>
                <a:path h="448437" w="2204085">
                  <a:moveTo>
                    <a:pt x="0" y="448437"/>
                  </a:moveTo>
                  <a:lnTo>
                    <a:pt x="2204085" y="448437"/>
                  </a:lnTo>
                  <a:lnTo>
                    <a:pt x="2204085" y="0"/>
                  </a:lnTo>
                  <a:lnTo>
                    <a:pt x="0" y="0"/>
                  </a:lnTo>
                  <a:close/>
                </a:path>
              </a:pathLst>
            </a:custGeom>
            <a:solidFill>
              <a:srgbClr val="000000">
                <a:alpha val="0"/>
              </a:srgbClr>
            </a:solidFill>
          </p:spPr>
        </p:sp>
      </p:grpSp>
      <p:grpSp>
        <p:nvGrpSpPr>
          <p:cNvPr name="Group 10" id="10"/>
          <p:cNvGrpSpPr/>
          <p:nvPr/>
        </p:nvGrpSpPr>
        <p:grpSpPr>
          <a:xfrm rot="0">
            <a:off x="6378254" y="1851974"/>
            <a:ext cx="5485762" cy="7680322"/>
            <a:chOff x="0" y="0"/>
            <a:chExt cx="5485765" cy="7680325"/>
          </a:xfrm>
        </p:grpSpPr>
        <p:sp>
          <p:nvSpPr>
            <p:cNvPr name="Freeform 11" id="11"/>
            <p:cNvSpPr/>
            <p:nvPr/>
          </p:nvSpPr>
          <p:spPr>
            <a:xfrm flipH="false" flipV="false" rot="0">
              <a:off x="63500" y="63500"/>
              <a:ext cx="5358765" cy="7553325"/>
            </a:xfrm>
            <a:custGeom>
              <a:avLst/>
              <a:gdLst/>
              <a:ahLst/>
              <a:cxnLst/>
              <a:rect r="r" b="b" t="t" l="l"/>
              <a:pathLst>
                <a:path h="7553325" w="5358765">
                  <a:moveTo>
                    <a:pt x="0" y="7553325"/>
                  </a:moveTo>
                  <a:lnTo>
                    <a:pt x="5358765" y="7553325"/>
                  </a:lnTo>
                  <a:lnTo>
                    <a:pt x="5358765" y="0"/>
                  </a:lnTo>
                  <a:lnTo>
                    <a:pt x="0" y="0"/>
                  </a:lnTo>
                  <a:close/>
                </a:path>
              </a:pathLst>
            </a:custGeom>
            <a:solidFill>
              <a:srgbClr val="000000">
                <a:alpha val="0"/>
              </a:srgbClr>
            </a:solidFill>
          </p:spPr>
        </p:sp>
        <p:sp>
          <p:nvSpPr>
            <p:cNvPr name="Freeform 12" id="12"/>
            <p:cNvSpPr/>
            <p:nvPr/>
          </p:nvSpPr>
          <p:spPr>
            <a:xfrm flipH="false" flipV="false" rot="0">
              <a:off x="474980" y="1023620"/>
              <a:ext cx="2204085" cy="448437"/>
            </a:xfrm>
            <a:custGeom>
              <a:avLst/>
              <a:gdLst/>
              <a:ahLst/>
              <a:cxnLst/>
              <a:rect r="r" b="b" t="t" l="l"/>
              <a:pathLst>
                <a:path h="448437" w="2204085">
                  <a:moveTo>
                    <a:pt x="0" y="448437"/>
                  </a:moveTo>
                  <a:lnTo>
                    <a:pt x="2204085" y="448437"/>
                  </a:lnTo>
                  <a:lnTo>
                    <a:pt x="2204085" y="0"/>
                  </a:lnTo>
                  <a:lnTo>
                    <a:pt x="0" y="0"/>
                  </a:lnTo>
                  <a:close/>
                </a:path>
              </a:pathLst>
            </a:custGeom>
            <a:solidFill>
              <a:srgbClr val="000000">
                <a:alpha val="0"/>
              </a:srgbClr>
            </a:solidFill>
          </p:spPr>
        </p:sp>
      </p:grpSp>
      <p:grpSp>
        <p:nvGrpSpPr>
          <p:cNvPr name="Group 13" id="13"/>
          <p:cNvGrpSpPr/>
          <p:nvPr/>
        </p:nvGrpSpPr>
        <p:grpSpPr>
          <a:xfrm rot="0">
            <a:off x="12001814" y="1851974"/>
            <a:ext cx="5485762" cy="7680322"/>
            <a:chOff x="0" y="0"/>
            <a:chExt cx="5485765" cy="7680325"/>
          </a:xfrm>
        </p:grpSpPr>
        <p:sp>
          <p:nvSpPr>
            <p:cNvPr name="Freeform 14" id="14"/>
            <p:cNvSpPr/>
            <p:nvPr/>
          </p:nvSpPr>
          <p:spPr>
            <a:xfrm flipH="false" flipV="false" rot="0">
              <a:off x="63500" y="63500"/>
              <a:ext cx="5358764" cy="7553325"/>
            </a:xfrm>
            <a:custGeom>
              <a:avLst/>
              <a:gdLst/>
              <a:ahLst/>
              <a:cxnLst/>
              <a:rect r="r" b="b" t="t" l="l"/>
              <a:pathLst>
                <a:path h="7553325" w="5358764">
                  <a:moveTo>
                    <a:pt x="0" y="7553325"/>
                  </a:moveTo>
                  <a:lnTo>
                    <a:pt x="5358764" y="7553325"/>
                  </a:lnTo>
                  <a:lnTo>
                    <a:pt x="5358764" y="0"/>
                  </a:lnTo>
                  <a:lnTo>
                    <a:pt x="0" y="0"/>
                  </a:lnTo>
                  <a:close/>
                </a:path>
              </a:pathLst>
            </a:custGeom>
            <a:solidFill>
              <a:srgbClr val="000000">
                <a:alpha val="0"/>
              </a:srgbClr>
            </a:solidFill>
          </p:spPr>
        </p:sp>
        <p:sp>
          <p:nvSpPr>
            <p:cNvPr name="Freeform 15" id="15"/>
            <p:cNvSpPr/>
            <p:nvPr/>
          </p:nvSpPr>
          <p:spPr>
            <a:xfrm flipH="false" flipV="false" rot="0">
              <a:off x="474980" y="1023620"/>
              <a:ext cx="2204085" cy="448437"/>
            </a:xfrm>
            <a:custGeom>
              <a:avLst/>
              <a:gdLst/>
              <a:ahLst/>
              <a:cxnLst/>
              <a:rect r="r" b="b" t="t" l="l"/>
              <a:pathLst>
                <a:path h="448437" w="2204085">
                  <a:moveTo>
                    <a:pt x="0" y="448437"/>
                  </a:moveTo>
                  <a:lnTo>
                    <a:pt x="2204085" y="448437"/>
                  </a:lnTo>
                  <a:lnTo>
                    <a:pt x="2204085" y="0"/>
                  </a:lnTo>
                  <a:lnTo>
                    <a:pt x="0" y="0"/>
                  </a:lnTo>
                  <a:close/>
                </a:path>
              </a:pathLst>
            </a:custGeom>
            <a:solidFill>
              <a:srgbClr val="000000">
                <a:alpha val="0"/>
              </a:srgbClr>
            </a:solidFill>
          </p:spPr>
        </p:sp>
      </p:grpSp>
      <p:sp>
        <p:nvSpPr>
          <p:cNvPr name="TextBox 16" id="16"/>
          <p:cNvSpPr txBox="true"/>
          <p:nvPr/>
        </p:nvSpPr>
        <p:spPr>
          <a:xfrm rot="0">
            <a:off x="822960" y="9673876"/>
            <a:ext cx="2720912"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AI Patient Risk Assessment System</a:t>
            </a:r>
          </a:p>
        </p:txBody>
      </p:sp>
      <p:sp>
        <p:nvSpPr>
          <p:cNvPr name="TextBox 17" id="17"/>
          <p:cNvSpPr txBox="true"/>
          <p:nvPr/>
        </p:nvSpPr>
        <p:spPr>
          <a:xfrm rot="0">
            <a:off x="17272397" y="9624346"/>
            <a:ext cx="98479"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6</a:t>
            </a:r>
          </a:p>
        </p:txBody>
      </p:sp>
      <p:sp>
        <p:nvSpPr>
          <p:cNvPr name="TextBox 18" id="18"/>
          <p:cNvSpPr txBox="true"/>
          <p:nvPr/>
        </p:nvSpPr>
        <p:spPr>
          <a:xfrm rot="0">
            <a:off x="822960" y="598456"/>
            <a:ext cx="4993462" cy="832085"/>
          </a:xfrm>
          <a:prstGeom prst="rect">
            <a:avLst/>
          </a:prstGeom>
        </p:spPr>
        <p:txBody>
          <a:bodyPr anchor="t" rtlCol="false" tIns="0" lIns="0" bIns="0" rIns="0">
            <a:spAutoFit/>
          </a:bodyPr>
          <a:lstStyle/>
          <a:p>
            <a:pPr algn="l">
              <a:lnSpc>
                <a:spcPts val="6719"/>
              </a:lnSpc>
            </a:pPr>
            <a:r>
              <a:rPr lang="en-US" b="true" sz="4800">
                <a:solidFill>
                  <a:srgbClr val="0B2545"/>
                </a:solidFill>
                <a:latin typeface="Cambria Bold"/>
                <a:ea typeface="Cambria Bold"/>
                <a:cs typeface="Cambria Bold"/>
                <a:sym typeface="Cambria Bold"/>
              </a:rPr>
              <a:t>Technology Stack</a:t>
            </a:r>
          </a:p>
        </p:txBody>
      </p:sp>
      <p:sp>
        <p:nvSpPr>
          <p:cNvPr name="TextBox 19" id="19"/>
          <p:cNvSpPr txBox="true"/>
          <p:nvPr/>
        </p:nvSpPr>
        <p:spPr>
          <a:xfrm rot="0">
            <a:off x="1234440" y="2118027"/>
            <a:ext cx="2052018" cy="561975"/>
          </a:xfrm>
          <a:prstGeom prst="rect">
            <a:avLst/>
          </a:prstGeom>
        </p:spPr>
        <p:txBody>
          <a:bodyPr anchor="t" rtlCol="false" tIns="0" lIns="0" bIns="0" rIns="0">
            <a:spAutoFit/>
          </a:bodyPr>
          <a:lstStyle/>
          <a:p>
            <a:pPr algn="l">
              <a:lnSpc>
                <a:spcPts val="4200"/>
              </a:lnSpc>
            </a:pPr>
            <a:r>
              <a:rPr lang="en-US" b="true" sz="3000">
                <a:solidFill>
                  <a:srgbClr val="0B2545"/>
                </a:solidFill>
                <a:latin typeface="Calibri (MS) Bold"/>
                <a:ea typeface="Calibri (MS) Bold"/>
                <a:cs typeface="Calibri (MS) Bold"/>
                <a:sym typeface="Calibri (MS) Bold"/>
              </a:rPr>
              <a:t>ML and Data</a:t>
            </a:r>
          </a:p>
        </p:txBody>
      </p:sp>
      <p:sp>
        <p:nvSpPr>
          <p:cNvPr name="TextBox 20" id="20"/>
          <p:cNvSpPr txBox="true"/>
          <p:nvPr/>
        </p:nvSpPr>
        <p:spPr>
          <a:xfrm rot="0">
            <a:off x="6858000" y="2118027"/>
            <a:ext cx="1481423" cy="561975"/>
          </a:xfrm>
          <a:prstGeom prst="rect">
            <a:avLst/>
          </a:prstGeom>
        </p:spPr>
        <p:txBody>
          <a:bodyPr anchor="t" rtlCol="false" tIns="0" lIns="0" bIns="0" rIns="0">
            <a:spAutoFit/>
          </a:bodyPr>
          <a:lstStyle/>
          <a:p>
            <a:pPr algn="l">
              <a:lnSpc>
                <a:spcPts val="4200"/>
              </a:lnSpc>
            </a:pPr>
            <a:r>
              <a:rPr lang="en-US" b="true" sz="3000">
                <a:solidFill>
                  <a:srgbClr val="0B2545"/>
                </a:solidFill>
                <a:latin typeface="Calibri (MS) Bold"/>
                <a:ea typeface="Calibri (MS) Bold"/>
                <a:cs typeface="Calibri (MS) Bold"/>
                <a:sym typeface="Calibri (MS) Bold"/>
              </a:rPr>
              <a:t>Frontend</a:t>
            </a:r>
          </a:p>
        </p:txBody>
      </p:sp>
      <p:sp>
        <p:nvSpPr>
          <p:cNvPr name="TextBox 21" id="21"/>
          <p:cNvSpPr txBox="true"/>
          <p:nvPr/>
        </p:nvSpPr>
        <p:spPr>
          <a:xfrm rot="0">
            <a:off x="12481560" y="2118027"/>
            <a:ext cx="1371552" cy="561975"/>
          </a:xfrm>
          <a:prstGeom prst="rect">
            <a:avLst/>
          </a:prstGeom>
        </p:spPr>
        <p:txBody>
          <a:bodyPr anchor="t" rtlCol="false" tIns="0" lIns="0" bIns="0" rIns="0">
            <a:spAutoFit/>
          </a:bodyPr>
          <a:lstStyle/>
          <a:p>
            <a:pPr algn="l">
              <a:lnSpc>
                <a:spcPts val="4200"/>
              </a:lnSpc>
            </a:pPr>
            <a:r>
              <a:rPr lang="en-US" b="true" sz="3000">
                <a:solidFill>
                  <a:srgbClr val="0B2545"/>
                </a:solidFill>
                <a:latin typeface="Calibri (MS) Bold"/>
                <a:ea typeface="Calibri (MS) Bold"/>
                <a:cs typeface="Calibri (MS) Bold"/>
                <a:sym typeface="Calibri (MS) Bold"/>
              </a:rPr>
              <a:t>Backend</a:t>
            </a:r>
          </a:p>
        </p:txBody>
      </p:sp>
      <p:sp>
        <p:nvSpPr>
          <p:cNvPr name="TextBox 22" id="22"/>
          <p:cNvSpPr txBox="true"/>
          <p:nvPr/>
        </p:nvSpPr>
        <p:spPr>
          <a:xfrm rot="0">
            <a:off x="1562310" y="2928280"/>
            <a:ext cx="1569349"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Used in notebook</a:t>
            </a:r>
          </a:p>
        </p:txBody>
      </p:sp>
      <p:sp>
        <p:nvSpPr>
          <p:cNvPr name="TextBox 23" id="23"/>
          <p:cNvSpPr txBox="true"/>
          <p:nvPr/>
        </p:nvSpPr>
        <p:spPr>
          <a:xfrm rot="0">
            <a:off x="7270852" y="2928280"/>
            <a:ext cx="1395994" cy="307658"/>
          </a:xfrm>
          <a:prstGeom prst="rect">
            <a:avLst/>
          </a:prstGeom>
        </p:spPr>
        <p:txBody>
          <a:bodyPr anchor="t" rtlCol="false" tIns="0" lIns="0" bIns="0" rIns="0">
            <a:spAutoFit/>
          </a:bodyPr>
          <a:lstStyle/>
          <a:p>
            <a:pPr algn="l">
              <a:lnSpc>
                <a:spcPts val="2310"/>
              </a:lnSpc>
            </a:pPr>
            <a:r>
              <a:rPr lang="en-US" b="true" sz="1650">
                <a:solidFill>
                  <a:srgbClr val="0B2545"/>
                </a:solidFill>
                <a:latin typeface="Calibri (MS) Bold"/>
                <a:ea typeface="Calibri (MS) Bold"/>
                <a:cs typeface="Calibri (MS) Bold"/>
                <a:sym typeface="Calibri (MS) Bold"/>
              </a:rPr>
              <a:t>In project setup</a:t>
            </a:r>
          </a:p>
        </p:txBody>
      </p:sp>
      <p:sp>
        <p:nvSpPr>
          <p:cNvPr name="TextBox 24" id="24"/>
          <p:cNvSpPr txBox="true"/>
          <p:nvPr/>
        </p:nvSpPr>
        <p:spPr>
          <a:xfrm rot="0">
            <a:off x="13224062" y="2928280"/>
            <a:ext cx="723462"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Planned</a:t>
            </a:r>
          </a:p>
        </p:txBody>
      </p:sp>
      <p:sp>
        <p:nvSpPr>
          <p:cNvPr name="TextBox 25" id="25"/>
          <p:cNvSpPr txBox="true"/>
          <p:nvPr/>
        </p:nvSpPr>
        <p:spPr>
          <a:xfrm rot="0">
            <a:off x="1234440" y="3574494"/>
            <a:ext cx="806139"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Python</a:t>
            </a:r>
          </a:p>
        </p:txBody>
      </p:sp>
      <p:sp>
        <p:nvSpPr>
          <p:cNvPr name="TextBox 26" id="26"/>
          <p:cNvSpPr txBox="true"/>
          <p:nvPr/>
        </p:nvSpPr>
        <p:spPr>
          <a:xfrm rot="0">
            <a:off x="1699117" y="3889058"/>
            <a:ext cx="52711"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 </a:t>
            </a:r>
          </a:p>
        </p:txBody>
      </p:sp>
      <p:sp>
        <p:nvSpPr>
          <p:cNvPr name="TextBox 27" id="27"/>
          <p:cNvSpPr txBox="true"/>
          <p:nvPr/>
        </p:nvSpPr>
        <p:spPr>
          <a:xfrm rot="0">
            <a:off x="1234440" y="4155519"/>
            <a:ext cx="813845"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Pandas</a:t>
            </a:r>
          </a:p>
        </p:txBody>
      </p:sp>
      <p:sp>
        <p:nvSpPr>
          <p:cNvPr name="TextBox 28" id="28"/>
          <p:cNvSpPr txBox="true"/>
          <p:nvPr/>
        </p:nvSpPr>
        <p:spPr>
          <a:xfrm rot="0">
            <a:off x="1726463" y="4470082"/>
            <a:ext cx="52711"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 </a:t>
            </a:r>
          </a:p>
        </p:txBody>
      </p:sp>
      <p:sp>
        <p:nvSpPr>
          <p:cNvPr name="TextBox 29" id="29"/>
          <p:cNvSpPr txBox="true"/>
          <p:nvPr/>
        </p:nvSpPr>
        <p:spPr>
          <a:xfrm rot="0">
            <a:off x="1234440" y="4736544"/>
            <a:ext cx="820083"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NumPy</a:t>
            </a:r>
          </a:p>
        </p:txBody>
      </p:sp>
      <p:sp>
        <p:nvSpPr>
          <p:cNvPr name="TextBox 30" id="30"/>
          <p:cNvSpPr txBox="true"/>
          <p:nvPr/>
        </p:nvSpPr>
        <p:spPr>
          <a:xfrm rot="0">
            <a:off x="1579683" y="5051108"/>
            <a:ext cx="52711"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 </a:t>
            </a:r>
          </a:p>
        </p:txBody>
      </p:sp>
      <p:sp>
        <p:nvSpPr>
          <p:cNvPr name="TextBox 31" id="31"/>
          <p:cNvSpPr txBox="true"/>
          <p:nvPr/>
        </p:nvSpPr>
        <p:spPr>
          <a:xfrm rot="0">
            <a:off x="1234440" y="5317569"/>
            <a:ext cx="1264930"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Scikit-learn</a:t>
            </a:r>
          </a:p>
        </p:txBody>
      </p:sp>
      <p:sp>
        <p:nvSpPr>
          <p:cNvPr name="TextBox 32" id="32"/>
          <p:cNvSpPr txBox="true"/>
          <p:nvPr/>
        </p:nvSpPr>
        <p:spPr>
          <a:xfrm rot="0">
            <a:off x="1525991" y="5632132"/>
            <a:ext cx="52711"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 </a:t>
            </a:r>
          </a:p>
        </p:txBody>
      </p:sp>
      <p:sp>
        <p:nvSpPr>
          <p:cNvPr name="TextBox 33" id="33"/>
          <p:cNvSpPr txBox="true"/>
          <p:nvPr/>
        </p:nvSpPr>
        <p:spPr>
          <a:xfrm rot="0">
            <a:off x="1234440" y="5898594"/>
            <a:ext cx="2792997"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Random Forest Classifier</a:t>
            </a:r>
          </a:p>
        </p:txBody>
      </p:sp>
      <p:sp>
        <p:nvSpPr>
          <p:cNvPr name="TextBox 34" id="34"/>
          <p:cNvSpPr txBox="true"/>
          <p:nvPr/>
        </p:nvSpPr>
        <p:spPr>
          <a:xfrm rot="0">
            <a:off x="1234440" y="6270308"/>
            <a:ext cx="661892" cy="598884"/>
          </a:xfrm>
          <a:prstGeom prst="rect">
            <a:avLst/>
          </a:prstGeom>
        </p:spPr>
        <p:txBody>
          <a:bodyPr anchor="t" rtlCol="false" tIns="0" lIns="0" bIns="0" rIns="0">
            <a:spAutoFit/>
          </a:bodyPr>
          <a:lstStyle/>
          <a:p>
            <a:pPr algn="ctr">
              <a:lnSpc>
                <a:spcPts val="1992"/>
              </a:lnSpc>
            </a:pPr>
            <a:r>
              <a:rPr lang="en-US" sz="1800">
                <a:solidFill>
                  <a:srgbClr val="5A6B82"/>
                </a:solidFill>
                <a:latin typeface="Calibri (MS)"/>
                <a:ea typeface="Calibri (MS)"/>
                <a:cs typeface="Calibri (MS)"/>
                <a:sym typeface="Calibri (MS)"/>
              </a:rPr>
              <a:t> </a:t>
            </a:r>
          </a:p>
          <a:p>
            <a:pPr algn="ctr">
              <a:lnSpc>
                <a:spcPts val="2324"/>
              </a:lnSpc>
            </a:pPr>
            <a:r>
              <a:rPr lang="en-US" b="true" sz="2100">
                <a:solidFill>
                  <a:srgbClr val="0B2545"/>
                </a:solidFill>
                <a:latin typeface="Calibri (MS) Bold"/>
                <a:ea typeface="Calibri (MS) Bold"/>
                <a:cs typeface="Calibri (MS) Bold"/>
                <a:sym typeface="Calibri (MS) Bold"/>
              </a:rPr>
              <a:t>Joblib</a:t>
            </a:r>
          </a:p>
        </p:txBody>
      </p:sp>
      <p:sp>
        <p:nvSpPr>
          <p:cNvPr name="TextBox 35" id="35"/>
          <p:cNvSpPr txBox="true"/>
          <p:nvPr/>
        </p:nvSpPr>
        <p:spPr>
          <a:xfrm rot="0">
            <a:off x="1739751" y="6794182"/>
            <a:ext cx="52711"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 </a:t>
            </a:r>
          </a:p>
        </p:txBody>
      </p:sp>
      <p:sp>
        <p:nvSpPr>
          <p:cNvPr name="TextBox 36" id="36"/>
          <p:cNvSpPr txBox="true"/>
          <p:nvPr/>
        </p:nvSpPr>
        <p:spPr>
          <a:xfrm rot="0">
            <a:off x="1234440" y="7060644"/>
            <a:ext cx="2026044"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Jupyter Notebook</a:t>
            </a:r>
          </a:p>
        </p:txBody>
      </p:sp>
      <p:sp>
        <p:nvSpPr>
          <p:cNvPr name="TextBox 37" id="37"/>
          <p:cNvSpPr txBox="true"/>
          <p:nvPr/>
        </p:nvSpPr>
        <p:spPr>
          <a:xfrm rot="0">
            <a:off x="2397643" y="7375207"/>
            <a:ext cx="52711"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 </a:t>
            </a:r>
          </a:p>
        </p:txBody>
      </p:sp>
      <p:sp>
        <p:nvSpPr>
          <p:cNvPr name="TextBox 38" id="38"/>
          <p:cNvSpPr txBox="true"/>
          <p:nvPr/>
        </p:nvSpPr>
        <p:spPr>
          <a:xfrm rot="0">
            <a:off x="1234440" y="7641669"/>
            <a:ext cx="2683278"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Matplotlib and Seaborn</a:t>
            </a:r>
          </a:p>
        </p:txBody>
      </p:sp>
      <p:sp>
        <p:nvSpPr>
          <p:cNvPr name="TextBox 39" id="39"/>
          <p:cNvSpPr txBox="true"/>
          <p:nvPr/>
        </p:nvSpPr>
        <p:spPr>
          <a:xfrm rot="0">
            <a:off x="1707156" y="7956232"/>
            <a:ext cx="52711"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 </a:t>
            </a:r>
          </a:p>
        </p:txBody>
      </p:sp>
      <p:sp>
        <p:nvSpPr>
          <p:cNvPr name="TextBox 40" id="40"/>
          <p:cNvSpPr txBox="true"/>
          <p:nvPr/>
        </p:nvSpPr>
        <p:spPr>
          <a:xfrm rot="0">
            <a:off x="6858000" y="3403044"/>
            <a:ext cx="2300411" cy="1144905"/>
          </a:xfrm>
          <a:prstGeom prst="rect">
            <a:avLst/>
          </a:prstGeom>
        </p:spPr>
        <p:txBody>
          <a:bodyPr anchor="t" rtlCol="false" tIns="0" lIns="0" bIns="0" rIns="0">
            <a:spAutoFit/>
          </a:bodyPr>
          <a:lstStyle/>
          <a:p>
            <a:pPr algn="l">
              <a:lnSpc>
                <a:spcPts val="4704"/>
              </a:lnSpc>
            </a:pPr>
            <a:r>
              <a:rPr lang="en-US" b="true" sz="2100">
                <a:solidFill>
                  <a:srgbClr val="0B2545"/>
                </a:solidFill>
                <a:latin typeface="Calibri (MS) Bold"/>
                <a:ea typeface="Calibri (MS) Bold"/>
                <a:cs typeface="Calibri (MS) Bold"/>
                <a:sym typeface="Calibri (MS) Bold"/>
              </a:rPr>
              <a:t>React</a:t>
            </a:r>
          </a:p>
          <a:p>
            <a:pPr algn="l">
              <a:lnSpc>
                <a:spcPts val="4032"/>
              </a:lnSpc>
            </a:pPr>
            <a:r>
              <a:rPr lang="en-US" sz="1800">
                <a:solidFill>
                  <a:srgbClr val="5A6B82"/>
                </a:solidFill>
                <a:latin typeface="Calibri (MS)"/>
                <a:ea typeface="Calibri (MS)"/>
                <a:cs typeface="Calibri (MS)"/>
                <a:sym typeface="Calibri (MS)"/>
              </a:rPr>
              <a:t>builds theuser interface</a:t>
            </a:r>
          </a:p>
          <a:p>
            <a:pPr algn="l">
              <a:lnSpc>
                <a:spcPts val="4704"/>
              </a:lnSpc>
            </a:pPr>
            <a:r>
              <a:rPr lang="en-US" b="true" sz="2100">
                <a:solidFill>
                  <a:srgbClr val="0B2545"/>
                </a:solidFill>
                <a:latin typeface="Calibri (MS) Bold"/>
                <a:ea typeface="Calibri (MS) Bold"/>
                <a:cs typeface="Calibri (MS) Bold"/>
                <a:sym typeface="Calibri (MS) Bold"/>
              </a:rPr>
              <a:t>JavaScript</a:t>
            </a:r>
          </a:p>
        </p:txBody>
      </p:sp>
      <p:sp>
        <p:nvSpPr>
          <p:cNvPr name="TextBox 41" id="41"/>
          <p:cNvSpPr txBox="true"/>
          <p:nvPr/>
        </p:nvSpPr>
        <p:spPr>
          <a:xfrm rot="0">
            <a:off x="7774743" y="3889058"/>
            <a:ext cx="52711"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 </a:t>
            </a:r>
          </a:p>
        </p:txBody>
      </p:sp>
      <p:sp>
        <p:nvSpPr>
          <p:cNvPr name="TextBox 42" id="42"/>
          <p:cNvSpPr txBox="true"/>
          <p:nvPr/>
        </p:nvSpPr>
        <p:spPr>
          <a:xfrm rot="0">
            <a:off x="7689132" y="4470082"/>
            <a:ext cx="52711"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 </a:t>
            </a:r>
          </a:p>
        </p:txBody>
      </p:sp>
      <p:sp>
        <p:nvSpPr>
          <p:cNvPr name="TextBox 43" id="43"/>
          <p:cNvSpPr txBox="true"/>
          <p:nvPr/>
        </p:nvSpPr>
        <p:spPr>
          <a:xfrm rot="0">
            <a:off x="6858000" y="4565094"/>
            <a:ext cx="3033512" cy="1990011"/>
          </a:xfrm>
          <a:prstGeom prst="rect">
            <a:avLst/>
          </a:prstGeom>
        </p:spPr>
        <p:txBody>
          <a:bodyPr anchor="t" rtlCol="false" tIns="0" lIns="0" bIns="0" rIns="0">
            <a:spAutoFit/>
          </a:bodyPr>
          <a:lstStyle/>
          <a:p>
            <a:pPr algn="l">
              <a:lnSpc>
                <a:spcPts val="4704"/>
              </a:lnSpc>
            </a:pPr>
            <a:r>
              <a:rPr lang="en-US" b="true" sz="2100">
                <a:solidFill>
                  <a:srgbClr val="0B2545"/>
                </a:solidFill>
                <a:latin typeface="Calibri (MS) Bold"/>
                <a:ea typeface="Calibri (MS) Bold"/>
                <a:cs typeface="Calibri (MS) Bold"/>
                <a:sym typeface="Calibri (MS) Bold"/>
              </a:rPr>
              <a:t>Vite</a:t>
            </a:r>
          </a:p>
          <a:p>
            <a:pPr algn="l">
              <a:lnSpc>
                <a:spcPts val="4032"/>
              </a:lnSpc>
            </a:pPr>
            <a:r>
              <a:rPr lang="en-US" sz="1800">
                <a:solidFill>
                  <a:srgbClr val="5A6B82"/>
                </a:solidFill>
                <a:latin typeface="Calibri (MS)"/>
                <a:ea typeface="Calibri (MS)"/>
                <a:cs typeface="Calibri (MS)"/>
                <a:sym typeface="Calibri (MS)"/>
              </a:rPr>
              <a:t>fast development and build tool</a:t>
            </a:r>
          </a:p>
          <a:p>
            <a:pPr algn="l">
              <a:lnSpc>
                <a:spcPts val="4704"/>
              </a:lnSpc>
            </a:pPr>
            <a:r>
              <a:rPr lang="en-US" b="true" sz="2100">
                <a:solidFill>
                  <a:srgbClr val="0B2545"/>
                </a:solidFill>
                <a:latin typeface="Calibri (MS) Bold"/>
                <a:ea typeface="Calibri (MS) Bold"/>
                <a:cs typeface="Calibri (MS) Bold"/>
                <a:sym typeface="Calibri (MS) Bold"/>
              </a:rPr>
              <a:t>HTML</a:t>
            </a:r>
          </a:p>
          <a:p>
            <a:pPr algn="l">
              <a:lnSpc>
                <a:spcPts val="4032"/>
              </a:lnSpc>
            </a:pPr>
            <a:r>
              <a:rPr lang="en-US" sz="1800">
                <a:solidFill>
                  <a:srgbClr val="5A6B82"/>
                </a:solidFill>
                <a:latin typeface="Calibri (MS)"/>
                <a:ea typeface="Calibri (MS)"/>
                <a:cs typeface="Calibri (MS)"/>
                <a:sym typeface="Calibri (MS)"/>
              </a:rPr>
              <a:t>page structure</a:t>
            </a:r>
          </a:p>
          <a:p>
            <a:pPr algn="l">
              <a:lnSpc>
                <a:spcPts val="4704"/>
              </a:lnSpc>
            </a:pPr>
            <a:r>
              <a:rPr lang="en-US" b="true" sz="2100">
                <a:solidFill>
                  <a:srgbClr val="0B2545"/>
                </a:solidFill>
                <a:latin typeface="Calibri (MS) Bold"/>
                <a:ea typeface="Calibri (MS) Bold"/>
                <a:cs typeface="Calibri (MS) Bold"/>
                <a:sym typeface="Calibri (MS) Bold"/>
              </a:rPr>
              <a:t>CSS</a:t>
            </a:r>
          </a:p>
          <a:p>
            <a:pPr algn="l">
              <a:lnSpc>
                <a:spcPts val="4032"/>
              </a:lnSpc>
            </a:pPr>
            <a:r>
              <a:rPr lang="en-US" sz="1800">
                <a:solidFill>
                  <a:srgbClr val="5A6B82"/>
                </a:solidFill>
                <a:latin typeface="Calibri (MS)"/>
                <a:ea typeface="Calibri (MS)"/>
                <a:cs typeface="Calibri (MS)"/>
                <a:sym typeface="Calibri (MS)"/>
              </a:rPr>
              <a:t>colors andresponsive layout</a:t>
            </a:r>
          </a:p>
        </p:txBody>
      </p:sp>
      <p:sp>
        <p:nvSpPr>
          <p:cNvPr name="TextBox 44" id="44"/>
          <p:cNvSpPr txBox="true"/>
          <p:nvPr/>
        </p:nvSpPr>
        <p:spPr>
          <a:xfrm rot="0">
            <a:off x="7818720" y="6213158"/>
            <a:ext cx="52711"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 </a:t>
            </a:r>
          </a:p>
        </p:txBody>
      </p:sp>
      <p:sp>
        <p:nvSpPr>
          <p:cNvPr name="TextBox 45" id="45"/>
          <p:cNvSpPr txBox="true"/>
          <p:nvPr/>
        </p:nvSpPr>
        <p:spPr>
          <a:xfrm rot="0">
            <a:off x="12481560" y="3403044"/>
            <a:ext cx="4346248" cy="2571036"/>
          </a:xfrm>
          <a:prstGeom prst="rect">
            <a:avLst/>
          </a:prstGeom>
        </p:spPr>
        <p:txBody>
          <a:bodyPr anchor="t" rtlCol="false" tIns="0" lIns="0" bIns="0" rIns="0">
            <a:spAutoFit/>
          </a:bodyPr>
          <a:lstStyle/>
          <a:p>
            <a:pPr algn="l">
              <a:lnSpc>
                <a:spcPts val="4704"/>
              </a:lnSpc>
            </a:pPr>
            <a:r>
              <a:rPr lang="en-US" b="true" sz="2100">
                <a:solidFill>
                  <a:srgbClr val="0B2545"/>
                </a:solidFill>
                <a:latin typeface="Calibri (MS) Bold"/>
                <a:ea typeface="Calibri (MS) Bold"/>
                <a:cs typeface="Calibri (MS) Bold"/>
                <a:sym typeface="Calibri (MS) Bold"/>
              </a:rPr>
              <a:t>FastAPI</a:t>
            </a:r>
          </a:p>
          <a:p>
            <a:pPr algn="l">
              <a:lnSpc>
                <a:spcPts val="4032"/>
              </a:lnSpc>
            </a:pPr>
            <a:r>
              <a:rPr lang="en-US" sz="1800">
                <a:solidFill>
                  <a:srgbClr val="5A6B82"/>
                </a:solidFill>
                <a:latin typeface="Calibri (MS)"/>
                <a:ea typeface="Calibri (MS)"/>
                <a:cs typeface="Calibri (MS)"/>
                <a:sym typeface="Calibri (MS)"/>
              </a:rPr>
              <a:t>Python web framework that serves the model</a:t>
            </a:r>
          </a:p>
          <a:p>
            <a:pPr algn="l">
              <a:lnSpc>
                <a:spcPts val="4704"/>
              </a:lnSpc>
            </a:pPr>
            <a:r>
              <a:rPr lang="en-US" b="true" sz="2100">
                <a:solidFill>
                  <a:srgbClr val="0B2545"/>
                </a:solidFill>
                <a:latin typeface="Calibri (MS) Bold"/>
                <a:ea typeface="Calibri (MS) Bold"/>
                <a:cs typeface="Calibri (MS) Bold"/>
                <a:sym typeface="Calibri (MS) Bold"/>
              </a:rPr>
              <a:t>Uvicorn</a:t>
            </a:r>
          </a:p>
          <a:p>
            <a:pPr algn="l">
              <a:lnSpc>
                <a:spcPts val="4032"/>
              </a:lnSpc>
            </a:pPr>
            <a:r>
              <a:rPr lang="en-US" sz="1800">
                <a:solidFill>
                  <a:srgbClr val="5A6B82"/>
                </a:solidFill>
                <a:latin typeface="Calibri (MS)"/>
                <a:ea typeface="Calibri (MS)"/>
                <a:cs typeface="Calibri (MS)"/>
                <a:sym typeface="Calibri (MS)"/>
              </a:rPr>
              <a:t>server that runs FastAPI</a:t>
            </a:r>
          </a:p>
          <a:p>
            <a:pPr algn="l">
              <a:lnSpc>
                <a:spcPts val="4704"/>
              </a:lnSpc>
            </a:pPr>
            <a:r>
              <a:rPr lang="en-US" b="true" sz="2100">
                <a:solidFill>
                  <a:srgbClr val="0B2545"/>
                </a:solidFill>
                <a:latin typeface="Calibri (MS) Bold"/>
                <a:ea typeface="Calibri (MS) Bold"/>
                <a:cs typeface="Calibri (MS) Bold"/>
                <a:sym typeface="Calibri (MS) Bold"/>
              </a:rPr>
              <a:t>Pydantic</a:t>
            </a:r>
          </a:p>
          <a:p>
            <a:pPr algn="l">
              <a:lnSpc>
                <a:spcPts val="4032"/>
              </a:lnSpc>
            </a:pPr>
            <a:r>
              <a:rPr lang="en-US" sz="1800">
                <a:solidFill>
                  <a:srgbClr val="5A6B82"/>
                </a:solidFill>
                <a:latin typeface="Calibri (MS)"/>
                <a:ea typeface="Calibri (MS)"/>
                <a:cs typeface="Calibri (MS)"/>
                <a:sym typeface="Calibri (MS)"/>
              </a:rPr>
              <a:t>checks input names, types and ranges</a:t>
            </a:r>
          </a:p>
          <a:p>
            <a:pPr algn="l">
              <a:lnSpc>
                <a:spcPts val="4704"/>
              </a:lnSpc>
            </a:pPr>
            <a:r>
              <a:rPr lang="en-US" b="true" sz="2100">
                <a:solidFill>
                  <a:srgbClr val="0B2545"/>
                </a:solidFill>
                <a:latin typeface="Calibri (MS) Bold"/>
                <a:ea typeface="Calibri (MS) Bold"/>
                <a:cs typeface="Calibri (MS) Bold"/>
                <a:sym typeface="Calibri (MS) Bold"/>
              </a:rPr>
              <a:t>Joblib</a:t>
            </a:r>
          </a:p>
          <a:p>
            <a:pPr algn="l">
              <a:lnSpc>
                <a:spcPts val="4032"/>
              </a:lnSpc>
            </a:pPr>
            <a:r>
              <a:rPr lang="en-US" sz="1800">
                <a:solidFill>
                  <a:srgbClr val="5A6B82"/>
                </a:solidFill>
                <a:latin typeface="Calibri (MS)"/>
                <a:ea typeface="Calibri (MS)"/>
                <a:cs typeface="Calibri (MS)"/>
                <a:sym typeface="Calibri (MS)"/>
              </a:rPr>
              <a:t>loads thesaved model</a:t>
            </a:r>
          </a:p>
        </p:txBody>
      </p:sp>
      <p:sp>
        <p:nvSpPr>
          <p:cNvPr name="TextBox 46" id="46"/>
          <p:cNvSpPr txBox="true"/>
          <p:nvPr/>
        </p:nvSpPr>
        <p:spPr>
          <a:xfrm rot="0">
            <a:off x="13335686" y="5632132"/>
            <a:ext cx="52711"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 </a:t>
            </a:r>
          </a:p>
        </p:txBody>
      </p:sp>
      <p:sp>
        <p:nvSpPr>
          <p:cNvPr name="TextBox 47" id="47"/>
          <p:cNvSpPr txBox="true"/>
          <p:nvPr/>
        </p:nvSpPr>
        <p:spPr>
          <a:xfrm rot="0">
            <a:off x="1234440" y="3889058"/>
            <a:ext cx="2724626"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main</a:t>
            </a:r>
            <a:r>
              <a:rPr lang="en-US" sz="1800">
                <a:solidFill>
                  <a:srgbClr val="FFFFFF"/>
                </a:solidFill>
                <a:latin typeface="Calibri (MS)"/>
                <a:ea typeface="Calibri (MS)"/>
                <a:cs typeface="Calibri (MS)"/>
                <a:sym typeface="Calibri (MS)"/>
              </a:rPr>
              <a:t> </a:t>
            </a:r>
            <a:r>
              <a:rPr lang="en-US" sz="1800">
                <a:solidFill>
                  <a:srgbClr val="5A6B82"/>
                </a:solidFill>
                <a:latin typeface="Calibri (MS)"/>
                <a:ea typeface="Calibri (MS)"/>
                <a:cs typeface="Calibri (MS)"/>
                <a:sym typeface="Calibri (MS)"/>
              </a:rPr>
              <a:t>programming</a:t>
            </a:r>
            <a:r>
              <a:rPr lang="en-US" sz="1800">
                <a:solidFill>
                  <a:srgbClr val="FFFFFF"/>
                </a:solidFill>
                <a:latin typeface="Calibri (MS)"/>
                <a:ea typeface="Calibri (MS)"/>
                <a:cs typeface="Calibri (MS)"/>
                <a:sym typeface="Calibri (MS)"/>
              </a:rPr>
              <a:t> </a:t>
            </a:r>
            <a:r>
              <a:rPr lang="en-US" sz="1800">
                <a:solidFill>
                  <a:srgbClr val="5A6B82"/>
                </a:solidFill>
                <a:latin typeface="Calibri (MS)"/>
                <a:ea typeface="Calibri (MS)"/>
                <a:cs typeface="Calibri (MS)"/>
                <a:sym typeface="Calibri (MS)"/>
              </a:rPr>
              <a:t>language</a:t>
            </a:r>
          </a:p>
        </p:txBody>
      </p:sp>
      <p:sp>
        <p:nvSpPr>
          <p:cNvPr name="TextBox 48" id="48"/>
          <p:cNvSpPr txBox="true"/>
          <p:nvPr/>
        </p:nvSpPr>
        <p:spPr>
          <a:xfrm rot="0">
            <a:off x="1234440" y="4470082"/>
            <a:ext cx="2568759"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loadsandcleanstabledata</a:t>
            </a:r>
          </a:p>
        </p:txBody>
      </p:sp>
      <p:sp>
        <p:nvSpPr>
          <p:cNvPr name="TextBox 49" id="49"/>
          <p:cNvSpPr txBox="true"/>
          <p:nvPr/>
        </p:nvSpPr>
        <p:spPr>
          <a:xfrm rot="0">
            <a:off x="1234440" y="5051108"/>
            <a:ext cx="2327053"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fast</a:t>
            </a:r>
            <a:r>
              <a:rPr lang="en-US" sz="1800">
                <a:solidFill>
                  <a:srgbClr val="FFFFFF"/>
                </a:solidFill>
                <a:latin typeface="Calibri (MS)"/>
                <a:ea typeface="Calibri (MS)"/>
                <a:cs typeface="Calibri (MS)"/>
                <a:sym typeface="Calibri (MS)"/>
              </a:rPr>
              <a:t> </a:t>
            </a:r>
            <a:r>
              <a:rPr lang="en-US" sz="1800">
                <a:solidFill>
                  <a:srgbClr val="5A6B82"/>
                </a:solidFill>
                <a:latin typeface="Calibri (MS)"/>
                <a:ea typeface="Calibri (MS)"/>
                <a:cs typeface="Calibri (MS)"/>
                <a:sym typeface="Calibri (MS)"/>
              </a:rPr>
              <a:t>number</a:t>
            </a:r>
            <a:r>
              <a:rPr lang="en-US" sz="1800">
                <a:solidFill>
                  <a:srgbClr val="FFFFFF"/>
                </a:solidFill>
                <a:latin typeface="Calibri (MS)"/>
                <a:ea typeface="Calibri (MS)"/>
                <a:cs typeface="Calibri (MS)"/>
                <a:sym typeface="Calibri (MS)"/>
              </a:rPr>
              <a:t> </a:t>
            </a:r>
            <a:r>
              <a:rPr lang="en-US" sz="1800">
                <a:solidFill>
                  <a:srgbClr val="5A6B82"/>
                </a:solidFill>
                <a:latin typeface="Calibri (MS)"/>
                <a:ea typeface="Calibri (MS)"/>
                <a:cs typeface="Calibri (MS)"/>
                <a:sym typeface="Calibri (MS)"/>
              </a:rPr>
              <a:t>calculations</a:t>
            </a:r>
          </a:p>
        </p:txBody>
      </p:sp>
      <p:sp>
        <p:nvSpPr>
          <p:cNvPr name="TextBox 50" id="50"/>
          <p:cNvSpPr txBox="true"/>
          <p:nvPr/>
        </p:nvSpPr>
        <p:spPr>
          <a:xfrm rot="0">
            <a:off x="1234440" y="5632132"/>
            <a:ext cx="1985943"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MLtoolsandmetrics</a:t>
            </a:r>
          </a:p>
        </p:txBody>
      </p:sp>
      <p:sp>
        <p:nvSpPr>
          <p:cNvPr name="TextBox 51" id="51"/>
          <p:cNvSpPr txBox="true"/>
          <p:nvPr/>
        </p:nvSpPr>
        <p:spPr>
          <a:xfrm rot="0">
            <a:off x="1234440" y="6213158"/>
            <a:ext cx="1994830"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thepredictionmodel</a:t>
            </a:r>
          </a:p>
        </p:txBody>
      </p:sp>
      <p:sp>
        <p:nvSpPr>
          <p:cNvPr name="TextBox 52" id="52"/>
          <p:cNvSpPr txBox="true"/>
          <p:nvPr/>
        </p:nvSpPr>
        <p:spPr>
          <a:xfrm rot="0">
            <a:off x="1234440" y="6794182"/>
            <a:ext cx="2277075"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savesthetrainedmodel</a:t>
            </a:r>
          </a:p>
        </p:txBody>
      </p:sp>
      <p:sp>
        <p:nvSpPr>
          <p:cNvPr name="TextBox 53" id="53"/>
          <p:cNvSpPr txBox="true"/>
          <p:nvPr/>
        </p:nvSpPr>
        <p:spPr>
          <a:xfrm rot="0">
            <a:off x="1234440" y="7375207"/>
            <a:ext cx="2795216"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step-by-step</a:t>
            </a:r>
            <a:r>
              <a:rPr lang="en-US" sz="1800">
                <a:solidFill>
                  <a:srgbClr val="FFFFFF"/>
                </a:solidFill>
                <a:latin typeface="Calibri (MS)"/>
                <a:ea typeface="Calibri (MS)"/>
                <a:cs typeface="Calibri (MS)"/>
                <a:sym typeface="Calibri (MS)"/>
              </a:rPr>
              <a:t> </a:t>
            </a:r>
            <a:r>
              <a:rPr lang="en-US" sz="1800">
                <a:solidFill>
                  <a:srgbClr val="5A6B82"/>
                </a:solidFill>
                <a:latin typeface="Calibri (MS)"/>
                <a:ea typeface="Calibri (MS)"/>
                <a:cs typeface="Calibri (MS)"/>
                <a:sym typeface="Calibri (MS)"/>
              </a:rPr>
              <a:t>code</a:t>
            </a:r>
            <a:r>
              <a:rPr lang="en-US" sz="1800">
                <a:solidFill>
                  <a:srgbClr val="FFFFFF"/>
                </a:solidFill>
                <a:latin typeface="Calibri (MS)"/>
                <a:ea typeface="Calibri (MS)"/>
                <a:cs typeface="Calibri (MS)"/>
                <a:sym typeface="Calibri (MS)"/>
              </a:rPr>
              <a:t> </a:t>
            </a:r>
            <a:r>
              <a:rPr lang="en-US" sz="1800">
                <a:solidFill>
                  <a:srgbClr val="5A6B82"/>
                </a:solidFill>
                <a:latin typeface="Calibri (MS)"/>
                <a:ea typeface="Calibri (MS)"/>
                <a:cs typeface="Calibri (MS)"/>
                <a:sym typeface="Calibri (MS)"/>
              </a:rPr>
              <a:t>and</a:t>
            </a:r>
            <a:r>
              <a:rPr lang="en-US" sz="1800">
                <a:solidFill>
                  <a:srgbClr val="FFFFFF"/>
                </a:solidFill>
                <a:latin typeface="Calibri (MS)"/>
                <a:ea typeface="Calibri (MS)"/>
                <a:cs typeface="Calibri (MS)"/>
                <a:sym typeface="Calibri (MS)"/>
              </a:rPr>
              <a:t> </a:t>
            </a:r>
            <a:r>
              <a:rPr lang="en-US" sz="1800">
                <a:solidFill>
                  <a:srgbClr val="5A6B82"/>
                </a:solidFill>
                <a:latin typeface="Calibri (MS)"/>
                <a:ea typeface="Calibri (MS)"/>
                <a:cs typeface="Calibri (MS)"/>
                <a:sym typeface="Calibri (MS)"/>
              </a:rPr>
              <a:t>results</a:t>
            </a:r>
          </a:p>
        </p:txBody>
      </p:sp>
      <p:sp>
        <p:nvSpPr>
          <p:cNvPr name="TextBox 54" id="54"/>
          <p:cNvSpPr txBox="true"/>
          <p:nvPr/>
        </p:nvSpPr>
        <p:spPr>
          <a:xfrm rot="0">
            <a:off x="1234440" y="7956232"/>
            <a:ext cx="1173832"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draw</a:t>
            </a:r>
            <a:r>
              <a:rPr lang="en-US" sz="1800">
                <a:solidFill>
                  <a:srgbClr val="FFFFFF"/>
                </a:solidFill>
                <a:latin typeface="Calibri (MS)"/>
                <a:ea typeface="Calibri (MS)"/>
                <a:cs typeface="Calibri (MS)"/>
                <a:sym typeface="Calibri (MS)"/>
              </a:rPr>
              <a:t> </a:t>
            </a:r>
            <a:r>
              <a:rPr lang="en-US" sz="1800">
                <a:solidFill>
                  <a:srgbClr val="5A6B82"/>
                </a:solidFill>
                <a:latin typeface="Calibri (MS)"/>
                <a:ea typeface="Calibri (MS)"/>
                <a:cs typeface="Calibri (MS)"/>
                <a:sym typeface="Calibri (MS)"/>
              </a:rPr>
              <a:t>graphs</a:t>
            </a:r>
          </a:p>
        </p:txBody>
      </p:sp>
      <p:sp>
        <p:nvSpPr>
          <p:cNvPr name="TextBox 55" id="55"/>
          <p:cNvSpPr txBox="true"/>
          <p:nvPr/>
        </p:nvSpPr>
        <p:spPr>
          <a:xfrm rot="0">
            <a:off x="6858000" y="4470082"/>
            <a:ext cx="1862757" cy="339090"/>
          </a:xfrm>
          <a:prstGeom prst="rect">
            <a:avLst/>
          </a:prstGeom>
        </p:spPr>
        <p:txBody>
          <a:bodyPr anchor="t" rtlCol="false" tIns="0" lIns="0" bIns="0" rIns="0">
            <a:spAutoFit/>
          </a:bodyPr>
          <a:lstStyle/>
          <a:p>
            <a:pPr algn="l">
              <a:lnSpc>
                <a:spcPts val="2520"/>
              </a:lnSpc>
            </a:pPr>
            <a:r>
              <a:rPr lang="en-US" sz="1800">
                <a:solidFill>
                  <a:srgbClr val="5A6B82"/>
                </a:solidFill>
                <a:latin typeface="Calibri (MS)"/>
                <a:ea typeface="Calibri (MS)"/>
                <a:cs typeface="Calibri (MS)"/>
                <a:sym typeface="Calibri (MS)"/>
              </a:rPr>
              <a:t>app logicandforms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2313" y="8501853"/>
            <a:ext cx="552917" cy="443036"/>
          </a:xfrm>
          <a:custGeom>
            <a:avLst/>
            <a:gdLst/>
            <a:ahLst/>
            <a:cxnLst/>
            <a:rect r="r" b="b" t="t" l="l"/>
            <a:pathLst>
              <a:path h="443036" w="552917">
                <a:moveTo>
                  <a:pt x="0" y="0"/>
                </a:moveTo>
                <a:lnTo>
                  <a:pt x="552917" y="0"/>
                </a:lnTo>
                <a:lnTo>
                  <a:pt x="552917" y="443036"/>
                </a:lnTo>
                <a:lnTo>
                  <a:pt x="0" y="443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4694" y="5555294"/>
            <a:ext cx="2606326" cy="1302382"/>
          </a:xfrm>
          <a:custGeom>
            <a:avLst/>
            <a:gdLst/>
            <a:ahLst/>
            <a:cxnLst/>
            <a:rect r="r" b="b" t="t" l="l"/>
            <a:pathLst>
              <a:path h="1302382" w="2606326">
                <a:moveTo>
                  <a:pt x="0" y="0"/>
                </a:moveTo>
                <a:lnTo>
                  <a:pt x="2606326" y="0"/>
                </a:lnTo>
                <a:lnTo>
                  <a:pt x="2606326" y="1302382"/>
                </a:lnTo>
                <a:lnTo>
                  <a:pt x="0" y="13023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54694" y="6926894"/>
            <a:ext cx="2606326" cy="1302382"/>
          </a:xfrm>
          <a:custGeom>
            <a:avLst/>
            <a:gdLst/>
            <a:ahLst/>
            <a:cxnLst/>
            <a:rect r="r" b="b" t="t" l="l"/>
            <a:pathLst>
              <a:path h="1302382" w="2606326">
                <a:moveTo>
                  <a:pt x="0" y="0"/>
                </a:moveTo>
                <a:lnTo>
                  <a:pt x="2606326" y="0"/>
                </a:lnTo>
                <a:lnTo>
                  <a:pt x="2606326" y="1302382"/>
                </a:lnTo>
                <a:lnTo>
                  <a:pt x="0" y="13023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141433" y="8501853"/>
            <a:ext cx="552917" cy="443036"/>
          </a:xfrm>
          <a:custGeom>
            <a:avLst/>
            <a:gdLst/>
            <a:ahLst/>
            <a:cxnLst/>
            <a:rect r="r" b="b" t="t" l="l"/>
            <a:pathLst>
              <a:path h="443036" w="552917">
                <a:moveTo>
                  <a:pt x="0" y="0"/>
                </a:moveTo>
                <a:lnTo>
                  <a:pt x="552917" y="0"/>
                </a:lnTo>
                <a:lnTo>
                  <a:pt x="552917" y="443036"/>
                </a:lnTo>
                <a:lnTo>
                  <a:pt x="0" y="4430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580190" y="5555294"/>
            <a:ext cx="2606326" cy="1302382"/>
          </a:xfrm>
          <a:custGeom>
            <a:avLst/>
            <a:gdLst/>
            <a:ahLst/>
            <a:cxnLst/>
            <a:rect r="r" b="b" t="t" l="l"/>
            <a:pathLst>
              <a:path h="1302382" w="2606326">
                <a:moveTo>
                  <a:pt x="0" y="0"/>
                </a:moveTo>
                <a:lnTo>
                  <a:pt x="2606326" y="0"/>
                </a:lnTo>
                <a:lnTo>
                  <a:pt x="2606326" y="1302382"/>
                </a:lnTo>
                <a:lnTo>
                  <a:pt x="0" y="13023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580190" y="6926894"/>
            <a:ext cx="2606326" cy="1302382"/>
          </a:xfrm>
          <a:custGeom>
            <a:avLst/>
            <a:gdLst/>
            <a:ahLst/>
            <a:cxnLst/>
            <a:rect r="r" b="b" t="t" l="l"/>
            <a:pathLst>
              <a:path h="1302382" w="2606326">
                <a:moveTo>
                  <a:pt x="0" y="0"/>
                </a:moveTo>
                <a:lnTo>
                  <a:pt x="2606326" y="0"/>
                </a:lnTo>
                <a:lnTo>
                  <a:pt x="2606326" y="1302382"/>
                </a:lnTo>
                <a:lnTo>
                  <a:pt x="0" y="130238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6405686" y="5555294"/>
            <a:ext cx="2606326" cy="1302382"/>
          </a:xfrm>
          <a:custGeom>
            <a:avLst/>
            <a:gdLst/>
            <a:ahLst/>
            <a:cxnLst/>
            <a:rect r="r" b="b" t="t" l="l"/>
            <a:pathLst>
              <a:path h="1302382" w="2606326">
                <a:moveTo>
                  <a:pt x="0" y="0"/>
                </a:moveTo>
                <a:lnTo>
                  <a:pt x="2606326" y="0"/>
                </a:lnTo>
                <a:lnTo>
                  <a:pt x="2606326" y="1302382"/>
                </a:lnTo>
                <a:lnTo>
                  <a:pt x="0" y="1302382"/>
                </a:lnTo>
                <a:lnTo>
                  <a:pt x="0" y="0"/>
                </a:lnTo>
                <a:close/>
              </a:path>
            </a:pathLst>
          </a:custGeom>
          <a:blipFill>
            <a:blip r:embed="rId10">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6405686" y="6926894"/>
            <a:ext cx="2606326" cy="1302382"/>
          </a:xfrm>
          <a:custGeom>
            <a:avLst/>
            <a:gdLst/>
            <a:ahLst/>
            <a:cxnLst/>
            <a:rect r="r" b="b" t="t" l="l"/>
            <a:pathLst>
              <a:path h="1302382" w="2606326">
                <a:moveTo>
                  <a:pt x="0" y="0"/>
                </a:moveTo>
                <a:lnTo>
                  <a:pt x="2606326" y="0"/>
                </a:lnTo>
                <a:lnTo>
                  <a:pt x="2606326" y="1302382"/>
                </a:lnTo>
                <a:lnTo>
                  <a:pt x="0" y="1302382"/>
                </a:lnTo>
                <a:lnTo>
                  <a:pt x="0" y="0"/>
                </a:lnTo>
                <a:close/>
              </a:path>
            </a:pathLst>
          </a:custGeom>
          <a:blipFill>
            <a:blip r:embed="rId12">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9231182" y="5555294"/>
            <a:ext cx="2606326" cy="1302382"/>
          </a:xfrm>
          <a:custGeom>
            <a:avLst/>
            <a:gdLst/>
            <a:ahLst/>
            <a:cxnLst/>
            <a:rect r="r" b="b" t="t" l="l"/>
            <a:pathLst>
              <a:path h="1302382" w="2606326">
                <a:moveTo>
                  <a:pt x="0" y="0"/>
                </a:moveTo>
                <a:lnTo>
                  <a:pt x="2606326" y="0"/>
                </a:lnTo>
                <a:lnTo>
                  <a:pt x="2606326" y="1302382"/>
                </a:lnTo>
                <a:lnTo>
                  <a:pt x="0" y="1302382"/>
                </a:lnTo>
                <a:lnTo>
                  <a:pt x="0" y="0"/>
                </a:lnTo>
                <a:close/>
              </a:path>
            </a:pathLst>
          </a:custGeom>
          <a:blipFill>
            <a:blip r:embed="rId10">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9231182" y="6926894"/>
            <a:ext cx="2606326" cy="1302382"/>
          </a:xfrm>
          <a:custGeom>
            <a:avLst/>
            <a:gdLst/>
            <a:ahLst/>
            <a:cxnLst/>
            <a:rect r="r" b="b" t="t" l="l"/>
            <a:pathLst>
              <a:path h="1302382" w="2606326">
                <a:moveTo>
                  <a:pt x="0" y="0"/>
                </a:moveTo>
                <a:lnTo>
                  <a:pt x="2606326" y="0"/>
                </a:lnTo>
                <a:lnTo>
                  <a:pt x="2606326" y="1302382"/>
                </a:lnTo>
                <a:lnTo>
                  <a:pt x="0" y="130238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2" id="12"/>
          <p:cNvSpPr/>
          <p:nvPr/>
        </p:nvSpPr>
        <p:spPr>
          <a:xfrm flipH="false" flipV="false" rot="0">
            <a:off x="12056678" y="5555294"/>
            <a:ext cx="2606326" cy="1302382"/>
          </a:xfrm>
          <a:custGeom>
            <a:avLst/>
            <a:gdLst/>
            <a:ahLst/>
            <a:cxnLst/>
            <a:rect r="r" b="b" t="t" l="l"/>
            <a:pathLst>
              <a:path h="1302382" w="2606326">
                <a:moveTo>
                  <a:pt x="0" y="0"/>
                </a:moveTo>
                <a:lnTo>
                  <a:pt x="2606326" y="0"/>
                </a:lnTo>
                <a:lnTo>
                  <a:pt x="2606326" y="1302382"/>
                </a:lnTo>
                <a:lnTo>
                  <a:pt x="0" y="1302382"/>
                </a:lnTo>
                <a:lnTo>
                  <a:pt x="0" y="0"/>
                </a:lnTo>
                <a:close/>
              </a:path>
            </a:pathLst>
          </a:custGeom>
          <a:blipFill>
            <a:blip r:embed="rId10">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0">
            <a:off x="12056678" y="6926894"/>
            <a:ext cx="2606326" cy="1302382"/>
          </a:xfrm>
          <a:custGeom>
            <a:avLst/>
            <a:gdLst/>
            <a:ahLst/>
            <a:cxnLst/>
            <a:rect r="r" b="b" t="t" l="l"/>
            <a:pathLst>
              <a:path h="1302382" w="2606326">
                <a:moveTo>
                  <a:pt x="0" y="0"/>
                </a:moveTo>
                <a:lnTo>
                  <a:pt x="2606326" y="0"/>
                </a:lnTo>
                <a:lnTo>
                  <a:pt x="2606326" y="1302382"/>
                </a:lnTo>
                <a:lnTo>
                  <a:pt x="0" y="1302382"/>
                </a:lnTo>
                <a:lnTo>
                  <a:pt x="0" y="0"/>
                </a:lnTo>
                <a:close/>
              </a:path>
            </a:pathLst>
          </a:custGeom>
          <a:blipFill>
            <a:blip r:embed="rId17">
              <a:extLst>
                <a:ext uri="{96DAC541-7B7A-43D3-8B79-37D633B846F1}">
                  <asvg:svgBlip xmlns:asvg="http://schemas.microsoft.com/office/drawing/2016/SVG/main" r:embed="rId20"/>
                </a:ext>
              </a:extLst>
            </a:blip>
            <a:stretch>
              <a:fillRect l="0" t="0" r="0" b="0"/>
            </a:stretch>
          </a:blipFill>
        </p:spPr>
      </p:sp>
      <p:sp>
        <p:nvSpPr>
          <p:cNvPr name="Freeform 14" id="14"/>
          <p:cNvSpPr/>
          <p:nvPr/>
        </p:nvSpPr>
        <p:spPr>
          <a:xfrm flipH="false" flipV="false" rot="0">
            <a:off x="14882174" y="5555294"/>
            <a:ext cx="2606326" cy="1302382"/>
          </a:xfrm>
          <a:custGeom>
            <a:avLst/>
            <a:gdLst/>
            <a:ahLst/>
            <a:cxnLst/>
            <a:rect r="r" b="b" t="t" l="l"/>
            <a:pathLst>
              <a:path h="1302382" w="2606326">
                <a:moveTo>
                  <a:pt x="0" y="0"/>
                </a:moveTo>
                <a:lnTo>
                  <a:pt x="2606326" y="0"/>
                </a:lnTo>
                <a:lnTo>
                  <a:pt x="2606326" y="1302382"/>
                </a:lnTo>
                <a:lnTo>
                  <a:pt x="0" y="1302382"/>
                </a:lnTo>
                <a:lnTo>
                  <a:pt x="0" y="0"/>
                </a:lnTo>
                <a:close/>
              </a:path>
            </a:pathLst>
          </a:custGeom>
          <a:blipFill>
            <a:blip r:embed="rId10">
              <a:extLst>
                <a:ext uri="{96DAC541-7B7A-43D3-8B79-37D633B846F1}">
                  <asvg:svgBlip xmlns:asvg="http://schemas.microsoft.com/office/drawing/2016/SVG/main" r:embed="rId21"/>
                </a:ext>
              </a:extLst>
            </a:blip>
            <a:stretch>
              <a:fillRect l="0" t="0" r="0" b="0"/>
            </a:stretch>
          </a:blipFill>
        </p:spPr>
      </p:sp>
      <p:sp>
        <p:nvSpPr>
          <p:cNvPr name="Freeform 15" id="15"/>
          <p:cNvSpPr/>
          <p:nvPr/>
        </p:nvSpPr>
        <p:spPr>
          <a:xfrm flipH="false" flipV="false" rot="0">
            <a:off x="14882174" y="6926894"/>
            <a:ext cx="2606326" cy="1302382"/>
          </a:xfrm>
          <a:custGeom>
            <a:avLst/>
            <a:gdLst/>
            <a:ahLst/>
            <a:cxnLst/>
            <a:rect r="r" b="b" t="t" l="l"/>
            <a:pathLst>
              <a:path h="1302382" w="2606326">
                <a:moveTo>
                  <a:pt x="0" y="0"/>
                </a:moveTo>
                <a:lnTo>
                  <a:pt x="2606326" y="0"/>
                </a:lnTo>
                <a:lnTo>
                  <a:pt x="2606326" y="1302382"/>
                </a:lnTo>
                <a:lnTo>
                  <a:pt x="0" y="1302382"/>
                </a:lnTo>
                <a:lnTo>
                  <a:pt x="0" y="0"/>
                </a:lnTo>
                <a:close/>
              </a:path>
            </a:pathLst>
          </a:custGeom>
          <a:blipFill>
            <a:blip r:embed="rId17">
              <a:extLst>
                <a:ext uri="{96DAC541-7B7A-43D3-8B79-37D633B846F1}">
                  <asvg:svgBlip xmlns:asvg="http://schemas.microsoft.com/office/drawing/2016/SVG/main" r:embed="rId22"/>
                </a:ext>
              </a:extLst>
            </a:blip>
            <a:stretch>
              <a:fillRect l="0" t="0" r="0" b="0"/>
            </a:stretch>
          </a:blipFill>
        </p:spPr>
      </p:sp>
      <p:sp>
        <p:nvSpPr>
          <p:cNvPr name="Freeform 16" id="16"/>
          <p:cNvSpPr/>
          <p:nvPr/>
        </p:nvSpPr>
        <p:spPr>
          <a:xfrm flipH="false" flipV="false" rot="0">
            <a:off x="754694" y="2332034"/>
            <a:ext cx="16732768" cy="2399662"/>
          </a:xfrm>
          <a:custGeom>
            <a:avLst/>
            <a:gdLst/>
            <a:ahLst/>
            <a:cxnLst/>
            <a:rect r="r" b="b" t="t" l="l"/>
            <a:pathLst>
              <a:path h="2399662" w="16732768">
                <a:moveTo>
                  <a:pt x="0" y="0"/>
                </a:moveTo>
                <a:lnTo>
                  <a:pt x="16732768" y="0"/>
                </a:lnTo>
                <a:lnTo>
                  <a:pt x="16732768" y="2399662"/>
                </a:lnTo>
                <a:lnTo>
                  <a:pt x="0" y="2399662"/>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17" id="17"/>
          <p:cNvGrpSpPr/>
          <p:nvPr/>
        </p:nvGrpSpPr>
        <p:grpSpPr>
          <a:xfrm rot="0">
            <a:off x="15784954" y="200911"/>
            <a:ext cx="2179863" cy="828675"/>
            <a:chOff x="0" y="0"/>
            <a:chExt cx="2906484" cy="1104900"/>
          </a:xfrm>
        </p:grpSpPr>
        <p:sp>
          <p:nvSpPr>
            <p:cNvPr name="Freeform 18" id="18"/>
            <p:cNvSpPr/>
            <p:nvPr/>
          </p:nvSpPr>
          <p:spPr>
            <a:xfrm flipH="false" flipV="false" rot="0">
              <a:off x="0" y="0"/>
              <a:ext cx="2906522" cy="1104900"/>
            </a:xfrm>
            <a:custGeom>
              <a:avLst/>
              <a:gdLst/>
              <a:ahLst/>
              <a:cxnLst/>
              <a:rect r="r" b="b" t="t" l="l"/>
              <a:pathLst>
                <a:path h="1104900" w="2906522">
                  <a:moveTo>
                    <a:pt x="0" y="0"/>
                  </a:moveTo>
                  <a:lnTo>
                    <a:pt x="2906522" y="0"/>
                  </a:lnTo>
                  <a:lnTo>
                    <a:pt x="2906522" y="1104900"/>
                  </a:lnTo>
                  <a:lnTo>
                    <a:pt x="0" y="1104900"/>
                  </a:lnTo>
                  <a:lnTo>
                    <a:pt x="0" y="0"/>
                  </a:lnTo>
                  <a:close/>
                </a:path>
              </a:pathLst>
            </a:custGeom>
            <a:blipFill>
              <a:blip r:embed="rId25"/>
              <a:stretch>
                <a:fillRect l="-3558" t="-4895" r="1" b="-4300"/>
              </a:stretch>
            </a:blipFill>
          </p:spPr>
        </p:sp>
      </p:grpSp>
      <p:grpSp>
        <p:nvGrpSpPr>
          <p:cNvPr name="Group 19" id="19"/>
          <p:cNvGrpSpPr/>
          <p:nvPr/>
        </p:nvGrpSpPr>
        <p:grpSpPr>
          <a:xfrm rot="0">
            <a:off x="815816" y="8565356"/>
            <a:ext cx="425768" cy="316040"/>
            <a:chOff x="0" y="0"/>
            <a:chExt cx="425768" cy="316040"/>
          </a:xfrm>
        </p:grpSpPr>
        <p:sp>
          <p:nvSpPr>
            <p:cNvPr name="Freeform 20" id="20"/>
            <p:cNvSpPr/>
            <p:nvPr/>
          </p:nvSpPr>
          <p:spPr>
            <a:xfrm flipH="false" flipV="false" rot="0">
              <a:off x="0" y="0"/>
              <a:ext cx="425831" cy="315976"/>
            </a:xfrm>
            <a:custGeom>
              <a:avLst/>
              <a:gdLst/>
              <a:ahLst/>
              <a:cxnLst/>
              <a:rect r="r" b="b" t="t" l="l"/>
              <a:pathLst>
                <a:path h="315976" w="425831">
                  <a:moveTo>
                    <a:pt x="0" y="315976"/>
                  </a:moveTo>
                  <a:lnTo>
                    <a:pt x="425831" y="315976"/>
                  </a:lnTo>
                  <a:lnTo>
                    <a:pt x="425831" y="0"/>
                  </a:lnTo>
                  <a:lnTo>
                    <a:pt x="0" y="0"/>
                  </a:lnTo>
                  <a:close/>
                </a:path>
              </a:pathLst>
            </a:custGeom>
            <a:solidFill>
              <a:srgbClr val="000000">
                <a:alpha val="0"/>
              </a:srgbClr>
            </a:solidFill>
          </p:spPr>
        </p:sp>
      </p:grpSp>
      <p:grpSp>
        <p:nvGrpSpPr>
          <p:cNvPr name="Group 21" id="21"/>
          <p:cNvGrpSpPr/>
          <p:nvPr/>
        </p:nvGrpSpPr>
        <p:grpSpPr>
          <a:xfrm rot="0">
            <a:off x="754694" y="5555294"/>
            <a:ext cx="2605402" cy="1302382"/>
            <a:chOff x="0" y="0"/>
            <a:chExt cx="2605405" cy="1302385"/>
          </a:xfrm>
        </p:grpSpPr>
        <p:sp>
          <p:nvSpPr>
            <p:cNvPr name="Freeform 22" id="22"/>
            <p:cNvSpPr/>
            <p:nvPr/>
          </p:nvSpPr>
          <p:spPr>
            <a:xfrm flipH="false" flipV="false" rot="0">
              <a:off x="63500" y="63500"/>
              <a:ext cx="2478405" cy="1175385"/>
            </a:xfrm>
            <a:custGeom>
              <a:avLst/>
              <a:gdLst/>
              <a:ahLst/>
              <a:cxnLst/>
              <a:rect r="r" b="b" t="t" l="l"/>
              <a:pathLst>
                <a:path h="1175385" w="2478405">
                  <a:moveTo>
                    <a:pt x="0" y="1175385"/>
                  </a:moveTo>
                  <a:lnTo>
                    <a:pt x="2478405" y="1175385"/>
                  </a:lnTo>
                  <a:lnTo>
                    <a:pt x="2478405" y="0"/>
                  </a:lnTo>
                  <a:lnTo>
                    <a:pt x="0" y="0"/>
                  </a:lnTo>
                  <a:close/>
                </a:path>
              </a:pathLst>
            </a:custGeom>
            <a:solidFill>
              <a:srgbClr val="000000">
                <a:alpha val="0"/>
              </a:srgbClr>
            </a:solidFill>
          </p:spPr>
        </p:sp>
        <p:sp>
          <p:nvSpPr>
            <p:cNvPr name="Freeform 23" id="23"/>
            <p:cNvSpPr/>
            <p:nvPr/>
          </p:nvSpPr>
          <p:spPr>
            <a:xfrm flipH="false" flipV="false" rot="0">
              <a:off x="200660" y="33782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grpSp>
      <p:grpSp>
        <p:nvGrpSpPr>
          <p:cNvPr name="Group 24" id="24"/>
          <p:cNvGrpSpPr/>
          <p:nvPr/>
        </p:nvGrpSpPr>
        <p:grpSpPr>
          <a:xfrm rot="0">
            <a:off x="754694" y="6926894"/>
            <a:ext cx="2605402" cy="1302382"/>
            <a:chOff x="0" y="0"/>
            <a:chExt cx="2605405" cy="1302385"/>
          </a:xfrm>
        </p:grpSpPr>
        <p:sp>
          <p:nvSpPr>
            <p:cNvPr name="Freeform 25" id="25"/>
            <p:cNvSpPr/>
            <p:nvPr/>
          </p:nvSpPr>
          <p:spPr>
            <a:xfrm flipH="false" flipV="false" rot="0">
              <a:off x="63500" y="63500"/>
              <a:ext cx="2478405" cy="1175385"/>
            </a:xfrm>
            <a:custGeom>
              <a:avLst/>
              <a:gdLst/>
              <a:ahLst/>
              <a:cxnLst/>
              <a:rect r="r" b="b" t="t" l="l"/>
              <a:pathLst>
                <a:path h="1175385" w="2478405">
                  <a:moveTo>
                    <a:pt x="0" y="1175385"/>
                  </a:moveTo>
                  <a:lnTo>
                    <a:pt x="2478405" y="1175385"/>
                  </a:lnTo>
                  <a:lnTo>
                    <a:pt x="2478405" y="0"/>
                  </a:lnTo>
                  <a:lnTo>
                    <a:pt x="0" y="0"/>
                  </a:lnTo>
                  <a:close/>
                </a:path>
              </a:pathLst>
            </a:custGeom>
            <a:solidFill>
              <a:srgbClr val="000000">
                <a:alpha val="0"/>
              </a:srgbClr>
            </a:solidFill>
          </p:spPr>
        </p:sp>
        <p:sp>
          <p:nvSpPr>
            <p:cNvPr name="Freeform 26" id="26"/>
            <p:cNvSpPr/>
            <p:nvPr/>
          </p:nvSpPr>
          <p:spPr>
            <a:xfrm flipH="false" flipV="false" rot="0">
              <a:off x="200660" y="33782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grpSp>
      <p:grpSp>
        <p:nvGrpSpPr>
          <p:cNvPr name="Group 27" id="27"/>
          <p:cNvGrpSpPr/>
          <p:nvPr/>
        </p:nvGrpSpPr>
        <p:grpSpPr>
          <a:xfrm rot="0">
            <a:off x="5204936" y="8565356"/>
            <a:ext cx="425768" cy="316040"/>
            <a:chOff x="0" y="0"/>
            <a:chExt cx="425768" cy="316040"/>
          </a:xfrm>
        </p:grpSpPr>
        <p:sp>
          <p:nvSpPr>
            <p:cNvPr name="Freeform 28" id="28"/>
            <p:cNvSpPr/>
            <p:nvPr/>
          </p:nvSpPr>
          <p:spPr>
            <a:xfrm flipH="false" flipV="false" rot="0">
              <a:off x="0" y="0"/>
              <a:ext cx="425704" cy="315976"/>
            </a:xfrm>
            <a:custGeom>
              <a:avLst/>
              <a:gdLst/>
              <a:ahLst/>
              <a:cxnLst/>
              <a:rect r="r" b="b" t="t" l="l"/>
              <a:pathLst>
                <a:path h="315976" w="425704">
                  <a:moveTo>
                    <a:pt x="0" y="315976"/>
                  </a:moveTo>
                  <a:lnTo>
                    <a:pt x="425704" y="315976"/>
                  </a:lnTo>
                  <a:lnTo>
                    <a:pt x="425704" y="0"/>
                  </a:lnTo>
                  <a:lnTo>
                    <a:pt x="0" y="0"/>
                  </a:lnTo>
                  <a:close/>
                </a:path>
              </a:pathLst>
            </a:custGeom>
            <a:solidFill>
              <a:srgbClr val="000000">
                <a:alpha val="0"/>
              </a:srgbClr>
            </a:solidFill>
          </p:spPr>
        </p:sp>
      </p:grpSp>
      <p:grpSp>
        <p:nvGrpSpPr>
          <p:cNvPr name="Group 29" id="29"/>
          <p:cNvGrpSpPr/>
          <p:nvPr/>
        </p:nvGrpSpPr>
        <p:grpSpPr>
          <a:xfrm rot="0">
            <a:off x="3580190" y="5555294"/>
            <a:ext cx="2605402" cy="1302382"/>
            <a:chOff x="0" y="0"/>
            <a:chExt cx="2605405" cy="1302385"/>
          </a:xfrm>
        </p:grpSpPr>
        <p:sp>
          <p:nvSpPr>
            <p:cNvPr name="Freeform 30" id="30"/>
            <p:cNvSpPr/>
            <p:nvPr/>
          </p:nvSpPr>
          <p:spPr>
            <a:xfrm flipH="false" flipV="false" rot="0">
              <a:off x="63500" y="63500"/>
              <a:ext cx="2478405" cy="1175385"/>
            </a:xfrm>
            <a:custGeom>
              <a:avLst/>
              <a:gdLst/>
              <a:ahLst/>
              <a:cxnLst/>
              <a:rect r="r" b="b" t="t" l="l"/>
              <a:pathLst>
                <a:path h="1175385" w="2478405">
                  <a:moveTo>
                    <a:pt x="0" y="1175385"/>
                  </a:moveTo>
                  <a:lnTo>
                    <a:pt x="2478405" y="1175385"/>
                  </a:lnTo>
                  <a:lnTo>
                    <a:pt x="2478405" y="0"/>
                  </a:lnTo>
                  <a:lnTo>
                    <a:pt x="0" y="0"/>
                  </a:lnTo>
                  <a:close/>
                </a:path>
              </a:pathLst>
            </a:custGeom>
            <a:solidFill>
              <a:srgbClr val="000000">
                <a:alpha val="0"/>
              </a:srgbClr>
            </a:solidFill>
          </p:spPr>
        </p:sp>
        <p:sp>
          <p:nvSpPr>
            <p:cNvPr name="Freeform 31" id="31"/>
            <p:cNvSpPr/>
            <p:nvPr/>
          </p:nvSpPr>
          <p:spPr>
            <a:xfrm flipH="false" flipV="false" rot="0">
              <a:off x="200660" y="33782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grpSp>
      <p:grpSp>
        <p:nvGrpSpPr>
          <p:cNvPr name="Group 32" id="32"/>
          <p:cNvGrpSpPr/>
          <p:nvPr/>
        </p:nvGrpSpPr>
        <p:grpSpPr>
          <a:xfrm rot="0">
            <a:off x="3580190" y="6926894"/>
            <a:ext cx="2605402" cy="1302382"/>
            <a:chOff x="0" y="0"/>
            <a:chExt cx="2605405" cy="1302385"/>
          </a:xfrm>
        </p:grpSpPr>
        <p:sp>
          <p:nvSpPr>
            <p:cNvPr name="Freeform 33" id="33"/>
            <p:cNvSpPr/>
            <p:nvPr/>
          </p:nvSpPr>
          <p:spPr>
            <a:xfrm flipH="false" flipV="false" rot="0">
              <a:off x="63500" y="63500"/>
              <a:ext cx="2478405" cy="1175385"/>
            </a:xfrm>
            <a:custGeom>
              <a:avLst/>
              <a:gdLst/>
              <a:ahLst/>
              <a:cxnLst/>
              <a:rect r="r" b="b" t="t" l="l"/>
              <a:pathLst>
                <a:path h="1175385" w="2478405">
                  <a:moveTo>
                    <a:pt x="0" y="1175385"/>
                  </a:moveTo>
                  <a:lnTo>
                    <a:pt x="2478405" y="1175385"/>
                  </a:lnTo>
                  <a:lnTo>
                    <a:pt x="2478405" y="0"/>
                  </a:lnTo>
                  <a:lnTo>
                    <a:pt x="0" y="0"/>
                  </a:lnTo>
                  <a:close/>
                </a:path>
              </a:pathLst>
            </a:custGeom>
            <a:solidFill>
              <a:srgbClr val="000000">
                <a:alpha val="0"/>
              </a:srgbClr>
            </a:solidFill>
          </p:spPr>
        </p:sp>
        <p:sp>
          <p:nvSpPr>
            <p:cNvPr name="Freeform 34" id="34"/>
            <p:cNvSpPr/>
            <p:nvPr/>
          </p:nvSpPr>
          <p:spPr>
            <a:xfrm flipH="false" flipV="false" rot="0">
              <a:off x="200660" y="33782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grpSp>
      <p:grpSp>
        <p:nvGrpSpPr>
          <p:cNvPr name="Group 35" id="35"/>
          <p:cNvGrpSpPr/>
          <p:nvPr/>
        </p:nvGrpSpPr>
        <p:grpSpPr>
          <a:xfrm rot="0">
            <a:off x="6405686" y="5555294"/>
            <a:ext cx="2605402" cy="1302382"/>
            <a:chOff x="0" y="0"/>
            <a:chExt cx="2605405" cy="1302385"/>
          </a:xfrm>
        </p:grpSpPr>
        <p:sp>
          <p:nvSpPr>
            <p:cNvPr name="Freeform 36" id="36"/>
            <p:cNvSpPr/>
            <p:nvPr/>
          </p:nvSpPr>
          <p:spPr>
            <a:xfrm flipH="false" flipV="false" rot="0">
              <a:off x="63500" y="63500"/>
              <a:ext cx="2478405" cy="1175385"/>
            </a:xfrm>
            <a:custGeom>
              <a:avLst/>
              <a:gdLst/>
              <a:ahLst/>
              <a:cxnLst/>
              <a:rect r="r" b="b" t="t" l="l"/>
              <a:pathLst>
                <a:path h="1175385" w="2478405">
                  <a:moveTo>
                    <a:pt x="0" y="1175385"/>
                  </a:moveTo>
                  <a:lnTo>
                    <a:pt x="2478405" y="1175385"/>
                  </a:lnTo>
                  <a:lnTo>
                    <a:pt x="2478405" y="0"/>
                  </a:lnTo>
                  <a:lnTo>
                    <a:pt x="0" y="0"/>
                  </a:lnTo>
                  <a:close/>
                </a:path>
              </a:pathLst>
            </a:custGeom>
            <a:solidFill>
              <a:srgbClr val="000000">
                <a:alpha val="0"/>
              </a:srgbClr>
            </a:solidFill>
          </p:spPr>
        </p:sp>
        <p:sp>
          <p:nvSpPr>
            <p:cNvPr name="Freeform 37" id="37"/>
            <p:cNvSpPr/>
            <p:nvPr/>
          </p:nvSpPr>
          <p:spPr>
            <a:xfrm flipH="false" flipV="false" rot="0">
              <a:off x="200660" y="33782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grpSp>
      <p:grpSp>
        <p:nvGrpSpPr>
          <p:cNvPr name="Group 38" id="38"/>
          <p:cNvGrpSpPr/>
          <p:nvPr/>
        </p:nvGrpSpPr>
        <p:grpSpPr>
          <a:xfrm rot="0">
            <a:off x="6405686" y="6926894"/>
            <a:ext cx="2605402" cy="1302382"/>
            <a:chOff x="0" y="0"/>
            <a:chExt cx="2605405" cy="1302385"/>
          </a:xfrm>
        </p:grpSpPr>
        <p:sp>
          <p:nvSpPr>
            <p:cNvPr name="Freeform 39" id="39"/>
            <p:cNvSpPr/>
            <p:nvPr/>
          </p:nvSpPr>
          <p:spPr>
            <a:xfrm flipH="false" flipV="false" rot="0">
              <a:off x="63500" y="63500"/>
              <a:ext cx="2478405" cy="1175385"/>
            </a:xfrm>
            <a:custGeom>
              <a:avLst/>
              <a:gdLst/>
              <a:ahLst/>
              <a:cxnLst/>
              <a:rect r="r" b="b" t="t" l="l"/>
              <a:pathLst>
                <a:path h="1175385" w="2478405">
                  <a:moveTo>
                    <a:pt x="0" y="1175385"/>
                  </a:moveTo>
                  <a:lnTo>
                    <a:pt x="2478405" y="1175385"/>
                  </a:lnTo>
                  <a:lnTo>
                    <a:pt x="2478405" y="0"/>
                  </a:lnTo>
                  <a:lnTo>
                    <a:pt x="0" y="0"/>
                  </a:lnTo>
                  <a:close/>
                </a:path>
              </a:pathLst>
            </a:custGeom>
            <a:solidFill>
              <a:srgbClr val="000000">
                <a:alpha val="0"/>
              </a:srgbClr>
            </a:solidFill>
          </p:spPr>
        </p:sp>
        <p:sp>
          <p:nvSpPr>
            <p:cNvPr name="Freeform 40" id="40"/>
            <p:cNvSpPr/>
            <p:nvPr/>
          </p:nvSpPr>
          <p:spPr>
            <a:xfrm flipH="false" flipV="false" rot="0">
              <a:off x="200660" y="33782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grpSp>
      <p:grpSp>
        <p:nvGrpSpPr>
          <p:cNvPr name="Group 41" id="41"/>
          <p:cNvGrpSpPr/>
          <p:nvPr/>
        </p:nvGrpSpPr>
        <p:grpSpPr>
          <a:xfrm rot="0">
            <a:off x="9231182" y="5555294"/>
            <a:ext cx="2605402" cy="1302382"/>
            <a:chOff x="0" y="0"/>
            <a:chExt cx="2605405" cy="1302385"/>
          </a:xfrm>
        </p:grpSpPr>
        <p:sp>
          <p:nvSpPr>
            <p:cNvPr name="Freeform 42" id="42"/>
            <p:cNvSpPr/>
            <p:nvPr/>
          </p:nvSpPr>
          <p:spPr>
            <a:xfrm flipH="false" flipV="false" rot="0">
              <a:off x="63500" y="63500"/>
              <a:ext cx="2478405" cy="1175385"/>
            </a:xfrm>
            <a:custGeom>
              <a:avLst/>
              <a:gdLst/>
              <a:ahLst/>
              <a:cxnLst/>
              <a:rect r="r" b="b" t="t" l="l"/>
              <a:pathLst>
                <a:path h="1175385" w="2478405">
                  <a:moveTo>
                    <a:pt x="0" y="1175385"/>
                  </a:moveTo>
                  <a:lnTo>
                    <a:pt x="2478405" y="1175385"/>
                  </a:lnTo>
                  <a:lnTo>
                    <a:pt x="2478405" y="0"/>
                  </a:lnTo>
                  <a:lnTo>
                    <a:pt x="0" y="0"/>
                  </a:lnTo>
                  <a:close/>
                </a:path>
              </a:pathLst>
            </a:custGeom>
            <a:solidFill>
              <a:srgbClr val="000000">
                <a:alpha val="0"/>
              </a:srgbClr>
            </a:solidFill>
          </p:spPr>
        </p:sp>
        <p:sp>
          <p:nvSpPr>
            <p:cNvPr name="Freeform 43" id="43"/>
            <p:cNvSpPr/>
            <p:nvPr/>
          </p:nvSpPr>
          <p:spPr>
            <a:xfrm flipH="false" flipV="false" rot="0">
              <a:off x="200660" y="33782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grpSp>
      <p:grpSp>
        <p:nvGrpSpPr>
          <p:cNvPr name="Group 44" id="44"/>
          <p:cNvGrpSpPr/>
          <p:nvPr/>
        </p:nvGrpSpPr>
        <p:grpSpPr>
          <a:xfrm rot="0">
            <a:off x="9231182" y="6926894"/>
            <a:ext cx="2605402" cy="1302382"/>
            <a:chOff x="0" y="0"/>
            <a:chExt cx="2605405" cy="1302385"/>
          </a:xfrm>
        </p:grpSpPr>
        <p:sp>
          <p:nvSpPr>
            <p:cNvPr name="Freeform 45" id="45"/>
            <p:cNvSpPr/>
            <p:nvPr/>
          </p:nvSpPr>
          <p:spPr>
            <a:xfrm flipH="false" flipV="false" rot="0">
              <a:off x="63500" y="63500"/>
              <a:ext cx="2478405" cy="1175385"/>
            </a:xfrm>
            <a:custGeom>
              <a:avLst/>
              <a:gdLst/>
              <a:ahLst/>
              <a:cxnLst/>
              <a:rect r="r" b="b" t="t" l="l"/>
              <a:pathLst>
                <a:path h="1175385" w="2478405">
                  <a:moveTo>
                    <a:pt x="0" y="1175385"/>
                  </a:moveTo>
                  <a:lnTo>
                    <a:pt x="2478405" y="1175385"/>
                  </a:lnTo>
                  <a:lnTo>
                    <a:pt x="2478405" y="0"/>
                  </a:lnTo>
                  <a:lnTo>
                    <a:pt x="0" y="0"/>
                  </a:lnTo>
                  <a:close/>
                </a:path>
              </a:pathLst>
            </a:custGeom>
            <a:solidFill>
              <a:srgbClr val="000000">
                <a:alpha val="0"/>
              </a:srgbClr>
            </a:solidFill>
          </p:spPr>
        </p:sp>
        <p:sp>
          <p:nvSpPr>
            <p:cNvPr name="Freeform 46" id="46"/>
            <p:cNvSpPr/>
            <p:nvPr/>
          </p:nvSpPr>
          <p:spPr>
            <a:xfrm flipH="false" flipV="false" rot="0">
              <a:off x="200660" y="33782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grpSp>
      <p:grpSp>
        <p:nvGrpSpPr>
          <p:cNvPr name="Group 47" id="47"/>
          <p:cNvGrpSpPr/>
          <p:nvPr/>
        </p:nvGrpSpPr>
        <p:grpSpPr>
          <a:xfrm rot="0">
            <a:off x="12056678" y="5555294"/>
            <a:ext cx="2605402" cy="1302382"/>
            <a:chOff x="0" y="0"/>
            <a:chExt cx="2605405" cy="1302385"/>
          </a:xfrm>
        </p:grpSpPr>
        <p:sp>
          <p:nvSpPr>
            <p:cNvPr name="Freeform 48" id="48"/>
            <p:cNvSpPr/>
            <p:nvPr/>
          </p:nvSpPr>
          <p:spPr>
            <a:xfrm flipH="false" flipV="false" rot="0">
              <a:off x="63500" y="63500"/>
              <a:ext cx="2478405" cy="1175385"/>
            </a:xfrm>
            <a:custGeom>
              <a:avLst/>
              <a:gdLst/>
              <a:ahLst/>
              <a:cxnLst/>
              <a:rect r="r" b="b" t="t" l="l"/>
              <a:pathLst>
                <a:path h="1175385" w="2478405">
                  <a:moveTo>
                    <a:pt x="0" y="1175385"/>
                  </a:moveTo>
                  <a:lnTo>
                    <a:pt x="2478405" y="1175385"/>
                  </a:lnTo>
                  <a:lnTo>
                    <a:pt x="2478405" y="0"/>
                  </a:lnTo>
                  <a:lnTo>
                    <a:pt x="0" y="0"/>
                  </a:lnTo>
                  <a:close/>
                </a:path>
              </a:pathLst>
            </a:custGeom>
            <a:solidFill>
              <a:srgbClr val="000000">
                <a:alpha val="0"/>
              </a:srgbClr>
            </a:solidFill>
          </p:spPr>
        </p:sp>
        <p:sp>
          <p:nvSpPr>
            <p:cNvPr name="Freeform 49" id="49"/>
            <p:cNvSpPr/>
            <p:nvPr/>
          </p:nvSpPr>
          <p:spPr>
            <a:xfrm flipH="false" flipV="false" rot="0">
              <a:off x="200660" y="33782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grpSp>
      <p:grpSp>
        <p:nvGrpSpPr>
          <p:cNvPr name="Group 50" id="50"/>
          <p:cNvGrpSpPr/>
          <p:nvPr/>
        </p:nvGrpSpPr>
        <p:grpSpPr>
          <a:xfrm rot="0">
            <a:off x="12056678" y="6926894"/>
            <a:ext cx="2605402" cy="1302382"/>
            <a:chOff x="0" y="0"/>
            <a:chExt cx="2605405" cy="1302385"/>
          </a:xfrm>
        </p:grpSpPr>
        <p:sp>
          <p:nvSpPr>
            <p:cNvPr name="Freeform 51" id="51"/>
            <p:cNvSpPr/>
            <p:nvPr/>
          </p:nvSpPr>
          <p:spPr>
            <a:xfrm flipH="false" flipV="false" rot="0">
              <a:off x="63500" y="63500"/>
              <a:ext cx="2478405" cy="1175385"/>
            </a:xfrm>
            <a:custGeom>
              <a:avLst/>
              <a:gdLst/>
              <a:ahLst/>
              <a:cxnLst/>
              <a:rect r="r" b="b" t="t" l="l"/>
              <a:pathLst>
                <a:path h="1175385" w="2478405">
                  <a:moveTo>
                    <a:pt x="0" y="1175385"/>
                  </a:moveTo>
                  <a:lnTo>
                    <a:pt x="2478405" y="1175385"/>
                  </a:lnTo>
                  <a:lnTo>
                    <a:pt x="2478405" y="0"/>
                  </a:lnTo>
                  <a:lnTo>
                    <a:pt x="0" y="0"/>
                  </a:lnTo>
                  <a:close/>
                </a:path>
              </a:pathLst>
            </a:custGeom>
            <a:solidFill>
              <a:srgbClr val="000000">
                <a:alpha val="0"/>
              </a:srgbClr>
            </a:solidFill>
          </p:spPr>
        </p:sp>
        <p:sp>
          <p:nvSpPr>
            <p:cNvPr name="Freeform 52" id="52"/>
            <p:cNvSpPr/>
            <p:nvPr/>
          </p:nvSpPr>
          <p:spPr>
            <a:xfrm flipH="false" flipV="false" rot="0">
              <a:off x="200660" y="33782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grpSp>
      <p:grpSp>
        <p:nvGrpSpPr>
          <p:cNvPr name="Group 53" id="53"/>
          <p:cNvGrpSpPr/>
          <p:nvPr/>
        </p:nvGrpSpPr>
        <p:grpSpPr>
          <a:xfrm rot="0">
            <a:off x="14882174" y="5555294"/>
            <a:ext cx="2605402" cy="1302382"/>
            <a:chOff x="0" y="0"/>
            <a:chExt cx="2605405" cy="1302385"/>
          </a:xfrm>
        </p:grpSpPr>
        <p:sp>
          <p:nvSpPr>
            <p:cNvPr name="Freeform 54" id="54"/>
            <p:cNvSpPr/>
            <p:nvPr/>
          </p:nvSpPr>
          <p:spPr>
            <a:xfrm flipH="false" flipV="false" rot="0">
              <a:off x="63500" y="63500"/>
              <a:ext cx="2478405" cy="1175385"/>
            </a:xfrm>
            <a:custGeom>
              <a:avLst/>
              <a:gdLst/>
              <a:ahLst/>
              <a:cxnLst/>
              <a:rect r="r" b="b" t="t" l="l"/>
              <a:pathLst>
                <a:path h="1175385" w="2478405">
                  <a:moveTo>
                    <a:pt x="0" y="1175385"/>
                  </a:moveTo>
                  <a:lnTo>
                    <a:pt x="2478405" y="1175385"/>
                  </a:lnTo>
                  <a:lnTo>
                    <a:pt x="2478405" y="0"/>
                  </a:lnTo>
                  <a:lnTo>
                    <a:pt x="0" y="0"/>
                  </a:lnTo>
                  <a:close/>
                </a:path>
              </a:pathLst>
            </a:custGeom>
            <a:solidFill>
              <a:srgbClr val="000000">
                <a:alpha val="0"/>
              </a:srgbClr>
            </a:solidFill>
          </p:spPr>
        </p:sp>
        <p:sp>
          <p:nvSpPr>
            <p:cNvPr name="Freeform 55" id="55"/>
            <p:cNvSpPr/>
            <p:nvPr/>
          </p:nvSpPr>
          <p:spPr>
            <a:xfrm flipH="false" flipV="false" rot="0">
              <a:off x="200660" y="33782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grpSp>
      <p:grpSp>
        <p:nvGrpSpPr>
          <p:cNvPr name="Group 56" id="56"/>
          <p:cNvGrpSpPr/>
          <p:nvPr/>
        </p:nvGrpSpPr>
        <p:grpSpPr>
          <a:xfrm rot="0">
            <a:off x="14882174" y="6926894"/>
            <a:ext cx="2605402" cy="1302382"/>
            <a:chOff x="0" y="0"/>
            <a:chExt cx="2605405" cy="1302385"/>
          </a:xfrm>
        </p:grpSpPr>
        <p:sp>
          <p:nvSpPr>
            <p:cNvPr name="Freeform 57" id="57"/>
            <p:cNvSpPr/>
            <p:nvPr/>
          </p:nvSpPr>
          <p:spPr>
            <a:xfrm flipH="false" flipV="false" rot="0">
              <a:off x="63500" y="63500"/>
              <a:ext cx="2478405" cy="1175385"/>
            </a:xfrm>
            <a:custGeom>
              <a:avLst/>
              <a:gdLst/>
              <a:ahLst/>
              <a:cxnLst/>
              <a:rect r="r" b="b" t="t" l="l"/>
              <a:pathLst>
                <a:path h="1175385" w="2478405">
                  <a:moveTo>
                    <a:pt x="0" y="1175385"/>
                  </a:moveTo>
                  <a:lnTo>
                    <a:pt x="2478405" y="1175385"/>
                  </a:lnTo>
                  <a:lnTo>
                    <a:pt x="2478405" y="0"/>
                  </a:lnTo>
                  <a:lnTo>
                    <a:pt x="0" y="0"/>
                  </a:lnTo>
                  <a:close/>
                </a:path>
              </a:pathLst>
            </a:custGeom>
            <a:solidFill>
              <a:srgbClr val="000000">
                <a:alpha val="0"/>
              </a:srgbClr>
            </a:solidFill>
          </p:spPr>
        </p:sp>
        <p:sp>
          <p:nvSpPr>
            <p:cNvPr name="Freeform 58" id="58"/>
            <p:cNvSpPr/>
            <p:nvPr/>
          </p:nvSpPr>
          <p:spPr>
            <a:xfrm flipH="false" flipV="false" rot="0">
              <a:off x="200660" y="337820"/>
              <a:ext cx="585597" cy="585597"/>
            </a:xfrm>
            <a:custGeom>
              <a:avLst/>
              <a:gdLst/>
              <a:ahLst/>
              <a:cxnLst/>
              <a:rect r="r" b="b" t="t" l="l"/>
              <a:pathLst>
                <a:path h="585597" w="585597">
                  <a:moveTo>
                    <a:pt x="0" y="585597"/>
                  </a:moveTo>
                  <a:lnTo>
                    <a:pt x="585597" y="585597"/>
                  </a:lnTo>
                  <a:lnTo>
                    <a:pt x="585597" y="0"/>
                  </a:lnTo>
                  <a:lnTo>
                    <a:pt x="0" y="0"/>
                  </a:lnTo>
                  <a:close/>
                </a:path>
              </a:pathLst>
            </a:custGeom>
            <a:solidFill>
              <a:srgbClr val="000000">
                <a:alpha val="0"/>
              </a:srgbClr>
            </a:solidFill>
          </p:spPr>
        </p:sp>
      </p:grpSp>
      <p:grpSp>
        <p:nvGrpSpPr>
          <p:cNvPr name="Group 59" id="59"/>
          <p:cNvGrpSpPr/>
          <p:nvPr/>
        </p:nvGrpSpPr>
        <p:grpSpPr>
          <a:xfrm rot="0">
            <a:off x="754694" y="2332034"/>
            <a:ext cx="16732882" cy="2399662"/>
            <a:chOff x="0" y="0"/>
            <a:chExt cx="16732885" cy="2399665"/>
          </a:xfrm>
        </p:grpSpPr>
        <p:sp>
          <p:nvSpPr>
            <p:cNvPr name="Freeform 60" id="60"/>
            <p:cNvSpPr/>
            <p:nvPr/>
          </p:nvSpPr>
          <p:spPr>
            <a:xfrm flipH="false" flipV="false" rot="0">
              <a:off x="63500" y="63500"/>
              <a:ext cx="2478405" cy="2272665"/>
            </a:xfrm>
            <a:custGeom>
              <a:avLst/>
              <a:gdLst/>
              <a:ahLst/>
              <a:cxnLst/>
              <a:rect r="r" b="b" t="t" l="l"/>
              <a:pathLst>
                <a:path h="2272665" w="2478405">
                  <a:moveTo>
                    <a:pt x="0" y="2272665"/>
                  </a:moveTo>
                  <a:lnTo>
                    <a:pt x="2478405" y="2272665"/>
                  </a:lnTo>
                  <a:lnTo>
                    <a:pt x="2478405" y="0"/>
                  </a:lnTo>
                  <a:lnTo>
                    <a:pt x="0" y="0"/>
                  </a:lnTo>
                  <a:close/>
                </a:path>
              </a:pathLst>
            </a:custGeom>
            <a:solidFill>
              <a:srgbClr val="000000">
                <a:alpha val="0"/>
              </a:srgbClr>
            </a:solidFill>
          </p:spPr>
        </p:sp>
        <p:sp>
          <p:nvSpPr>
            <p:cNvPr name="Freeform 61" id="61"/>
            <p:cNvSpPr/>
            <p:nvPr/>
          </p:nvSpPr>
          <p:spPr>
            <a:xfrm flipH="false" flipV="false" rot="0">
              <a:off x="996188" y="241808"/>
              <a:ext cx="613029" cy="613029"/>
            </a:xfrm>
            <a:custGeom>
              <a:avLst/>
              <a:gdLst/>
              <a:ahLst/>
              <a:cxnLst/>
              <a:rect r="r" b="b" t="t" l="l"/>
              <a:pathLst>
                <a:path h="613029" w="613029">
                  <a:moveTo>
                    <a:pt x="0" y="613029"/>
                  </a:moveTo>
                  <a:lnTo>
                    <a:pt x="613029" y="613029"/>
                  </a:lnTo>
                  <a:lnTo>
                    <a:pt x="613029" y="0"/>
                  </a:lnTo>
                  <a:lnTo>
                    <a:pt x="0" y="0"/>
                  </a:lnTo>
                  <a:close/>
                </a:path>
              </a:pathLst>
            </a:custGeom>
            <a:solidFill>
              <a:srgbClr val="000000">
                <a:alpha val="0"/>
              </a:srgbClr>
            </a:solidFill>
          </p:spPr>
        </p:sp>
        <p:sp>
          <p:nvSpPr>
            <p:cNvPr name="Freeform 62" id="62"/>
            <p:cNvSpPr/>
            <p:nvPr/>
          </p:nvSpPr>
          <p:spPr>
            <a:xfrm flipH="false" flipV="false" rot="0">
              <a:off x="474980" y="1778000"/>
              <a:ext cx="1655445" cy="393573"/>
            </a:xfrm>
            <a:custGeom>
              <a:avLst/>
              <a:gdLst/>
              <a:ahLst/>
              <a:cxnLst/>
              <a:rect r="r" b="b" t="t" l="l"/>
              <a:pathLst>
                <a:path h="393573" w="1655445">
                  <a:moveTo>
                    <a:pt x="0" y="393573"/>
                  </a:moveTo>
                  <a:lnTo>
                    <a:pt x="1655445" y="393573"/>
                  </a:lnTo>
                  <a:lnTo>
                    <a:pt x="1655445" y="0"/>
                  </a:lnTo>
                  <a:lnTo>
                    <a:pt x="0" y="0"/>
                  </a:lnTo>
                  <a:close/>
                </a:path>
              </a:pathLst>
            </a:custGeom>
            <a:solidFill>
              <a:srgbClr val="000000">
                <a:alpha val="0"/>
              </a:srgbClr>
            </a:solidFill>
          </p:spPr>
        </p:sp>
        <p:sp>
          <p:nvSpPr>
            <p:cNvPr name="Freeform 63" id="63"/>
            <p:cNvSpPr/>
            <p:nvPr/>
          </p:nvSpPr>
          <p:spPr>
            <a:xfrm flipH="false" flipV="false" rot="0">
              <a:off x="2587244" y="1023620"/>
              <a:ext cx="256413" cy="352425"/>
            </a:xfrm>
            <a:custGeom>
              <a:avLst/>
              <a:gdLst/>
              <a:ahLst/>
              <a:cxnLst/>
              <a:rect r="r" b="b" t="t" l="l"/>
              <a:pathLst>
                <a:path h="352425" w="256413">
                  <a:moveTo>
                    <a:pt x="0" y="352425"/>
                  </a:moveTo>
                  <a:lnTo>
                    <a:pt x="256413" y="352425"/>
                  </a:lnTo>
                  <a:lnTo>
                    <a:pt x="256413" y="0"/>
                  </a:lnTo>
                  <a:lnTo>
                    <a:pt x="0" y="0"/>
                  </a:lnTo>
                  <a:close/>
                </a:path>
              </a:pathLst>
            </a:custGeom>
            <a:solidFill>
              <a:srgbClr val="000000">
                <a:alpha val="0"/>
              </a:srgbClr>
            </a:solidFill>
          </p:spPr>
        </p:sp>
        <p:sp>
          <p:nvSpPr>
            <p:cNvPr name="Freeform 64" id="64"/>
            <p:cNvSpPr/>
            <p:nvPr/>
          </p:nvSpPr>
          <p:spPr>
            <a:xfrm flipH="false" flipV="false" rot="0">
              <a:off x="2888996" y="63500"/>
              <a:ext cx="2478405" cy="2272665"/>
            </a:xfrm>
            <a:custGeom>
              <a:avLst/>
              <a:gdLst/>
              <a:ahLst/>
              <a:cxnLst/>
              <a:rect r="r" b="b" t="t" l="l"/>
              <a:pathLst>
                <a:path h="2272665" w="2478405">
                  <a:moveTo>
                    <a:pt x="0" y="2272665"/>
                  </a:moveTo>
                  <a:lnTo>
                    <a:pt x="2478405" y="2272665"/>
                  </a:lnTo>
                  <a:lnTo>
                    <a:pt x="2478405" y="0"/>
                  </a:lnTo>
                  <a:lnTo>
                    <a:pt x="0" y="0"/>
                  </a:lnTo>
                  <a:close/>
                </a:path>
              </a:pathLst>
            </a:custGeom>
            <a:solidFill>
              <a:srgbClr val="000000">
                <a:alpha val="0"/>
              </a:srgbClr>
            </a:solidFill>
          </p:spPr>
        </p:sp>
        <p:sp>
          <p:nvSpPr>
            <p:cNvPr name="Freeform 65" id="65"/>
            <p:cNvSpPr/>
            <p:nvPr/>
          </p:nvSpPr>
          <p:spPr>
            <a:xfrm flipH="false" flipV="false" rot="0">
              <a:off x="3821684" y="241808"/>
              <a:ext cx="613029" cy="613029"/>
            </a:xfrm>
            <a:custGeom>
              <a:avLst/>
              <a:gdLst/>
              <a:ahLst/>
              <a:cxnLst/>
              <a:rect r="r" b="b" t="t" l="l"/>
              <a:pathLst>
                <a:path h="613029" w="613029">
                  <a:moveTo>
                    <a:pt x="0" y="613029"/>
                  </a:moveTo>
                  <a:lnTo>
                    <a:pt x="613029" y="613029"/>
                  </a:lnTo>
                  <a:lnTo>
                    <a:pt x="613029" y="0"/>
                  </a:lnTo>
                  <a:lnTo>
                    <a:pt x="0" y="0"/>
                  </a:lnTo>
                  <a:close/>
                </a:path>
              </a:pathLst>
            </a:custGeom>
            <a:solidFill>
              <a:srgbClr val="000000">
                <a:alpha val="0"/>
              </a:srgbClr>
            </a:solidFill>
          </p:spPr>
        </p:sp>
        <p:sp>
          <p:nvSpPr>
            <p:cNvPr name="Freeform 66" id="66"/>
            <p:cNvSpPr/>
            <p:nvPr/>
          </p:nvSpPr>
          <p:spPr>
            <a:xfrm flipH="false" flipV="false" rot="0">
              <a:off x="3300476" y="1778000"/>
              <a:ext cx="1655445" cy="393573"/>
            </a:xfrm>
            <a:custGeom>
              <a:avLst/>
              <a:gdLst/>
              <a:ahLst/>
              <a:cxnLst/>
              <a:rect r="r" b="b" t="t" l="l"/>
              <a:pathLst>
                <a:path h="393573" w="1655445">
                  <a:moveTo>
                    <a:pt x="0" y="393573"/>
                  </a:moveTo>
                  <a:lnTo>
                    <a:pt x="1655445" y="393573"/>
                  </a:lnTo>
                  <a:lnTo>
                    <a:pt x="1655445" y="0"/>
                  </a:lnTo>
                  <a:lnTo>
                    <a:pt x="0" y="0"/>
                  </a:lnTo>
                  <a:close/>
                </a:path>
              </a:pathLst>
            </a:custGeom>
            <a:solidFill>
              <a:srgbClr val="000000">
                <a:alpha val="0"/>
              </a:srgbClr>
            </a:solidFill>
          </p:spPr>
        </p:sp>
        <p:sp>
          <p:nvSpPr>
            <p:cNvPr name="Freeform 67" id="67"/>
            <p:cNvSpPr/>
            <p:nvPr/>
          </p:nvSpPr>
          <p:spPr>
            <a:xfrm flipH="false" flipV="false" rot="0">
              <a:off x="5412740" y="1023620"/>
              <a:ext cx="256413" cy="352425"/>
            </a:xfrm>
            <a:custGeom>
              <a:avLst/>
              <a:gdLst/>
              <a:ahLst/>
              <a:cxnLst/>
              <a:rect r="r" b="b" t="t" l="l"/>
              <a:pathLst>
                <a:path h="352425" w="256413">
                  <a:moveTo>
                    <a:pt x="0" y="352425"/>
                  </a:moveTo>
                  <a:lnTo>
                    <a:pt x="256413" y="352425"/>
                  </a:lnTo>
                  <a:lnTo>
                    <a:pt x="256413" y="0"/>
                  </a:lnTo>
                  <a:lnTo>
                    <a:pt x="0" y="0"/>
                  </a:lnTo>
                  <a:close/>
                </a:path>
              </a:pathLst>
            </a:custGeom>
            <a:solidFill>
              <a:srgbClr val="000000">
                <a:alpha val="0"/>
              </a:srgbClr>
            </a:solidFill>
          </p:spPr>
        </p:sp>
        <p:sp>
          <p:nvSpPr>
            <p:cNvPr name="Freeform 68" id="68"/>
            <p:cNvSpPr/>
            <p:nvPr/>
          </p:nvSpPr>
          <p:spPr>
            <a:xfrm flipH="false" flipV="false" rot="0">
              <a:off x="5714492" y="63500"/>
              <a:ext cx="2478405" cy="2272665"/>
            </a:xfrm>
            <a:custGeom>
              <a:avLst/>
              <a:gdLst/>
              <a:ahLst/>
              <a:cxnLst/>
              <a:rect r="r" b="b" t="t" l="l"/>
              <a:pathLst>
                <a:path h="2272665" w="2478405">
                  <a:moveTo>
                    <a:pt x="0" y="2272665"/>
                  </a:moveTo>
                  <a:lnTo>
                    <a:pt x="2478405" y="2272665"/>
                  </a:lnTo>
                  <a:lnTo>
                    <a:pt x="2478405" y="0"/>
                  </a:lnTo>
                  <a:lnTo>
                    <a:pt x="0" y="0"/>
                  </a:lnTo>
                  <a:close/>
                </a:path>
              </a:pathLst>
            </a:custGeom>
            <a:solidFill>
              <a:srgbClr val="000000">
                <a:alpha val="0"/>
              </a:srgbClr>
            </a:solidFill>
          </p:spPr>
        </p:sp>
        <p:sp>
          <p:nvSpPr>
            <p:cNvPr name="Freeform 69" id="69"/>
            <p:cNvSpPr/>
            <p:nvPr/>
          </p:nvSpPr>
          <p:spPr>
            <a:xfrm flipH="false" flipV="false" rot="0">
              <a:off x="6647180" y="241808"/>
              <a:ext cx="613029" cy="613029"/>
            </a:xfrm>
            <a:custGeom>
              <a:avLst/>
              <a:gdLst/>
              <a:ahLst/>
              <a:cxnLst/>
              <a:rect r="r" b="b" t="t" l="l"/>
              <a:pathLst>
                <a:path h="613029" w="613029">
                  <a:moveTo>
                    <a:pt x="0" y="613029"/>
                  </a:moveTo>
                  <a:lnTo>
                    <a:pt x="613030" y="613029"/>
                  </a:lnTo>
                  <a:lnTo>
                    <a:pt x="613030" y="0"/>
                  </a:lnTo>
                  <a:lnTo>
                    <a:pt x="0" y="0"/>
                  </a:lnTo>
                  <a:close/>
                </a:path>
              </a:pathLst>
            </a:custGeom>
            <a:solidFill>
              <a:srgbClr val="000000">
                <a:alpha val="0"/>
              </a:srgbClr>
            </a:solidFill>
          </p:spPr>
        </p:sp>
        <p:sp>
          <p:nvSpPr>
            <p:cNvPr name="Freeform 70" id="70"/>
            <p:cNvSpPr/>
            <p:nvPr/>
          </p:nvSpPr>
          <p:spPr>
            <a:xfrm flipH="false" flipV="false" rot="0">
              <a:off x="6125972" y="1778000"/>
              <a:ext cx="1655445" cy="393573"/>
            </a:xfrm>
            <a:custGeom>
              <a:avLst/>
              <a:gdLst/>
              <a:ahLst/>
              <a:cxnLst/>
              <a:rect r="r" b="b" t="t" l="l"/>
              <a:pathLst>
                <a:path h="393573" w="1655445">
                  <a:moveTo>
                    <a:pt x="0" y="393573"/>
                  </a:moveTo>
                  <a:lnTo>
                    <a:pt x="1655445" y="393573"/>
                  </a:lnTo>
                  <a:lnTo>
                    <a:pt x="1655445" y="0"/>
                  </a:lnTo>
                  <a:lnTo>
                    <a:pt x="0" y="0"/>
                  </a:lnTo>
                  <a:close/>
                </a:path>
              </a:pathLst>
            </a:custGeom>
            <a:solidFill>
              <a:srgbClr val="000000">
                <a:alpha val="0"/>
              </a:srgbClr>
            </a:solidFill>
          </p:spPr>
        </p:sp>
        <p:sp>
          <p:nvSpPr>
            <p:cNvPr name="Freeform 71" id="71"/>
            <p:cNvSpPr/>
            <p:nvPr/>
          </p:nvSpPr>
          <p:spPr>
            <a:xfrm flipH="false" flipV="false" rot="0">
              <a:off x="8238236" y="1023620"/>
              <a:ext cx="256413" cy="352425"/>
            </a:xfrm>
            <a:custGeom>
              <a:avLst/>
              <a:gdLst/>
              <a:ahLst/>
              <a:cxnLst/>
              <a:rect r="r" b="b" t="t" l="l"/>
              <a:pathLst>
                <a:path h="352425" w="256413">
                  <a:moveTo>
                    <a:pt x="0" y="352425"/>
                  </a:moveTo>
                  <a:lnTo>
                    <a:pt x="256413" y="352425"/>
                  </a:lnTo>
                  <a:lnTo>
                    <a:pt x="256413" y="0"/>
                  </a:lnTo>
                  <a:lnTo>
                    <a:pt x="0" y="0"/>
                  </a:lnTo>
                  <a:close/>
                </a:path>
              </a:pathLst>
            </a:custGeom>
            <a:solidFill>
              <a:srgbClr val="000000">
                <a:alpha val="0"/>
              </a:srgbClr>
            </a:solidFill>
          </p:spPr>
        </p:sp>
        <p:sp>
          <p:nvSpPr>
            <p:cNvPr name="Freeform 72" id="72"/>
            <p:cNvSpPr/>
            <p:nvPr/>
          </p:nvSpPr>
          <p:spPr>
            <a:xfrm flipH="false" flipV="false" rot="0">
              <a:off x="8539988" y="63500"/>
              <a:ext cx="2478405" cy="2272665"/>
            </a:xfrm>
            <a:custGeom>
              <a:avLst/>
              <a:gdLst/>
              <a:ahLst/>
              <a:cxnLst/>
              <a:rect r="r" b="b" t="t" l="l"/>
              <a:pathLst>
                <a:path h="2272665" w="2478405">
                  <a:moveTo>
                    <a:pt x="0" y="2272665"/>
                  </a:moveTo>
                  <a:lnTo>
                    <a:pt x="2478405" y="2272665"/>
                  </a:lnTo>
                  <a:lnTo>
                    <a:pt x="2478405" y="0"/>
                  </a:lnTo>
                  <a:lnTo>
                    <a:pt x="0" y="0"/>
                  </a:lnTo>
                  <a:close/>
                </a:path>
              </a:pathLst>
            </a:custGeom>
            <a:solidFill>
              <a:srgbClr val="000000">
                <a:alpha val="0"/>
              </a:srgbClr>
            </a:solidFill>
          </p:spPr>
        </p:sp>
        <p:sp>
          <p:nvSpPr>
            <p:cNvPr name="Freeform 73" id="73"/>
            <p:cNvSpPr/>
            <p:nvPr/>
          </p:nvSpPr>
          <p:spPr>
            <a:xfrm flipH="false" flipV="false" rot="0">
              <a:off x="9472676" y="241808"/>
              <a:ext cx="613029" cy="613029"/>
            </a:xfrm>
            <a:custGeom>
              <a:avLst/>
              <a:gdLst/>
              <a:ahLst/>
              <a:cxnLst/>
              <a:rect r="r" b="b" t="t" l="l"/>
              <a:pathLst>
                <a:path h="613029" w="613029">
                  <a:moveTo>
                    <a:pt x="0" y="613029"/>
                  </a:moveTo>
                  <a:lnTo>
                    <a:pt x="613029" y="613029"/>
                  </a:lnTo>
                  <a:lnTo>
                    <a:pt x="613029" y="0"/>
                  </a:lnTo>
                  <a:lnTo>
                    <a:pt x="0" y="0"/>
                  </a:lnTo>
                  <a:close/>
                </a:path>
              </a:pathLst>
            </a:custGeom>
            <a:solidFill>
              <a:srgbClr val="000000">
                <a:alpha val="0"/>
              </a:srgbClr>
            </a:solidFill>
          </p:spPr>
        </p:sp>
        <p:sp>
          <p:nvSpPr>
            <p:cNvPr name="Freeform 74" id="74"/>
            <p:cNvSpPr/>
            <p:nvPr/>
          </p:nvSpPr>
          <p:spPr>
            <a:xfrm flipH="false" flipV="false" rot="0">
              <a:off x="8951468" y="1778000"/>
              <a:ext cx="1655445" cy="393573"/>
            </a:xfrm>
            <a:custGeom>
              <a:avLst/>
              <a:gdLst/>
              <a:ahLst/>
              <a:cxnLst/>
              <a:rect r="r" b="b" t="t" l="l"/>
              <a:pathLst>
                <a:path h="393573" w="1655445">
                  <a:moveTo>
                    <a:pt x="0" y="393573"/>
                  </a:moveTo>
                  <a:lnTo>
                    <a:pt x="1655445" y="393573"/>
                  </a:lnTo>
                  <a:lnTo>
                    <a:pt x="1655445" y="0"/>
                  </a:lnTo>
                  <a:lnTo>
                    <a:pt x="0" y="0"/>
                  </a:lnTo>
                  <a:close/>
                </a:path>
              </a:pathLst>
            </a:custGeom>
            <a:solidFill>
              <a:srgbClr val="000000">
                <a:alpha val="0"/>
              </a:srgbClr>
            </a:solidFill>
          </p:spPr>
        </p:sp>
        <p:sp>
          <p:nvSpPr>
            <p:cNvPr name="Freeform 75" id="75"/>
            <p:cNvSpPr/>
            <p:nvPr/>
          </p:nvSpPr>
          <p:spPr>
            <a:xfrm flipH="false" flipV="false" rot="0">
              <a:off x="11063732" y="1023620"/>
              <a:ext cx="256413" cy="352425"/>
            </a:xfrm>
            <a:custGeom>
              <a:avLst/>
              <a:gdLst/>
              <a:ahLst/>
              <a:cxnLst/>
              <a:rect r="r" b="b" t="t" l="l"/>
              <a:pathLst>
                <a:path h="352425" w="256413">
                  <a:moveTo>
                    <a:pt x="0" y="352425"/>
                  </a:moveTo>
                  <a:lnTo>
                    <a:pt x="256413" y="352425"/>
                  </a:lnTo>
                  <a:lnTo>
                    <a:pt x="256413" y="0"/>
                  </a:lnTo>
                  <a:lnTo>
                    <a:pt x="0" y="0"/>
                  </a:lnTo>
                  <a:close/>
                </a:path>
              </a:pathLst>
            </a:custGeom>
            <a:solidFill>
              <a:srgbClr val="000000">
                <a:alpha val="0"/>
              </a:srgbClr>
            </a:solidFill>
          </p:spPr>
        </p:sp>
        <p:sp>
          <p:nvSpPr>
            <p:cNvPr name="Freeform 76" id="76"/>
            <p:cNvSpPr/>
            <p:nvPr/>
          </p:nvSpPr>
          <p:spPr>
            <a:xfrm flipH="false" flipV="false" rot="0">
              <a:off x="11365484" y="63500"/>
              <a:ext cx="2478405" cy="2272665"/>
            </a:xfrm>
            <a:custGeom>
              <a:avLst/>
              <a:gdLst/>
              <a:ahLst/>
              <a:cxnLst/>
              <a:rect r="r" b="b" t="t" l="l"/>
              <a:pathLst>
                <a:path h="2272665" w="2478405">
                  <a:moveTo>
                    <a:pt x="0" y="2272665"/>
                  </a:moveTo>
                  <a:lnTo>
                    <a:pt x="2478404" y="2272665"/>
                  </a:lnTo>
                  <a:lnTo>
                    <a:pt x="2478404" y="0"/>
                  </a:lnTo>
                  <a:lnTo>
                    <a:pt x="0" y="0"/>
                  </a:lnTo>
                  <a:close/>
                </a:path>
              </a:pathLst>
            </a:custGeom>
            <a:solidFill>
              <a:srgbClr val="000000">
                <a:alpha val="0"/>
              </a:srgbClr>
            </a:solidFill>
          </p:spPr>
        </p:sp>
        <p:sp>
          <p:nvSpPr>
            <p:cNvPr name="Freeform 77" id="77"/>
            <p:cNvSpPr/>
            <p:nvPr/>
          </p:nvSpPr>
          <p:spPr>
            <a:xfrm flipH="false" flipV="false" rot="0">
              <a:off x="12298172" y="241808"/>
              <a:ext cx="613029" cy="613029"/>
            </a:xfrm>
            <a:custGeom>
              <a:avLst/>
              <a:gdLst/>
              <a:ahLst/>
              <a:cxnLst/>
              <a:rect r="r" b="b" t="t" l="l"/>
              <a:pathLst>
                <a:path h="613029" w="613029">
                  <a:moveTo>
                    <a:pt x="0" y="613029"/>
                  </a:moveTo>
                  <a:lnTo>
                    <a:pt x="613029" y="613029"/>
                  </a:lnTo>
                  <a:lnTo>
                    <a:pt x="613029" y="0"/>
                  </a:lnTo>
                  <a:lnTo>
                    <a:pt x="0" y="0"/>
                  </a:lnTo>
                  <a:close/>
                </a:path>
              </a:pathLst>
            </a:custGeom>
            <a:solidFill>
              <a:srgbClr val="000000">
                <a:alpha val="0"/>
              </a:srgbClr>
            </a:solidFill>
          </p:spPr>
        </p:sp>
        <p:sp>
          <p:nvSpPr>
            <p:cNvPr name="Freeform 78" id="78"/>
            <p:cNvSpPr/>
            <p:nvPr/>
          </p:nvSpPr>
          <p:spPr>
            <a:xfrm flipH="false" flipV="false" rot="0">
              <a:off x="11776964" y="1778000"/>
              <a:ext cx="1655445" cy="393573"/>
            </a:xfrm>
            <a:custGeom>
              <a:avLst/>
              <a:gdLst/>
              <a:ahLst/>
              <a:cxnLst/>
              <a:rect r="r" b="b" t="t" l="l"/>
              <a:pathLst>
                <a:path h="393573" w="1655445">
                  <a:moveTo>
                    <a:pt x="0" y="393573"/>
                  </a:moveTo>
                  <a:lnTo>
                    <a:pt x="1655446" y="393573"/>
                  </a:lnTo>
                  <a:lnTo>
                    <a:pt x="1655446" y="0"/>
                  </a:lnTo>
                  <a:lnTo>
                    <a:pt x="0" y="0"/>
                  </a:lnTo>
                  <a:close/>
                </a:path>
              </a:pathLst>
            </a:custGeom>
            <a:solidFill>
              <a:srgbClr val="000000">
                <a:alpha val="0"/>
              </a:srgbClr>
            </a:solidFill>
          </p:spPr>
        </p:sp>
        <p:sp>
          <p:nvSpPr>
            <p:cNvPr name="Freeform 79" id="79"/>
            <p:cNvSpPr/>
            <p:nvPr/>
          </p:nvSpPr>
          <p:spPr>
            <a:xfrm flipH="false" flipV="false" rot="0">
              <a:off x="13889228" y="1023620"/>
              <a:ext cx="256414" cy="352425"/>
            </a:xfrm>
            <a:custGeom>
              <a:avLst/>
              <a:gdLst/>
              <a:ahLst/>
              <a:cxnLst/>
              <a:rect r="r" b="b" t="t" l="l"/>
              <a:pathLst>
                <a:path h="352425" w="256414">
                  <a:moveTo>
                    <a:pt x="0" y="352425"/>
                  </a:moveTo>
                  <a:lnTo>
                    <a:pt x="256414" y="352425"/>
                  </a:lnTo>
                  <a:lnTo>
                    <a:pt x="256414" y="0"/>
                  </a:lnTo>
                  <a:lnTo>
                    <a:pt x="0" y="0"/>
                  </a:lnTo>
                  <a:close/>
                </a:path>
              </a:pathLst>
            </a:custGeom>
            <a:solidFill>
              <a:srgbClr val="000000">
                <a:alpha val="0"/>
              </a:srgbClr>
            </a:solidFill>
          </p:spPr>
        </p:sp>
        <p:sp>
          <p:nvSpPr>
            <p:cNvPr name="Freeform 80" id="80"/>
            <p:cNvSpPr/>
            <p:nvPr/>
          </p:nvSpPr>
          <p:spPr>
            <a:xfrm flipH="false" flipV="false" rot="0">
              <a:off x="14190980" y="63500"/>
              <a:ext cx="2478405" cy="2272665"/>
            </a:xfrm>
            <a:custGeom>
              <a:avLst/>
              <a:gdLst/>
              <a:ahLst/>
              <a:cxnLst/>
              <a:rect r="r" b="b" t="t" l="l"/>
              <a:pathLst>
                <a:path h="2272665" w="2478405">
                  <a:moveTo>
                    <a:pt x="0" y="2272665"/>
                  </a:moveTo>
                  <a:lnTo>
                    <a:pt x="2478406" y="2272665"/>
                  </a:lnTo>
                  <a:lnTo>
                    <a:pt x="2478406" y="0"/>
                  </a:lnTo>
                  <a:lnTo>
                    <a:pt x="0" y="0"/>
                  </a:lnTo>
                  <a:close/>
                </a:path>
              </a:pathLst>
            </a:custGeom>
            <a:solidFill>
              <a:srgbClr val="000000">
                <a:alpha val="0"/>
              </a:srgbClr>
            </a:solidFill>
          </p:spPr>
        </p:sp>
        <p:sp>
          <p:nvSpPr>
            <p:cNvPr name="Freeform 81" id="81"/>
            <p:cNvSpPr/>
            <p:nvPr/>
          </p:nvSpPr>
          <p:spPr>
            <a:xfrm flipH="false" flipV="false" rot="0">
              <a:off x="15123668" y="241808"/>
              <a:ext cx="613029" cy="613029"/>
            </a:xfrm>
            <a:custGeom>
              <a:avLst/>
              <a:gdLst/>
              <a:ahLst/>
              <a:cxnLst/>
              <a:rect r="r" b="b" t="t" l="l"/>
              <a:pathLst>
                <a:path h="613029" w="613029">
                  <a:moveTo>
                    <a:pt x="0" y="613029"/>
                  </a:moveTo>
                  <a:lnTo>
                    <a:pt x="613029" y="613029"/>
                  </a:lnTo>
                  <a:lnTo>
                    <a:pt x="613029" y="0"/>
                  </a:lnTo>
                  <a:lnTo>
                    <a:pt x="0" y="0"/>
                  </a:lnTo>
                  <a:close/>
                </a:path>
              </a:pathLst>
            </a:custGeom>
            <a:solidFill>
              <a:srgbClr val="000000">
                <a:alpha val="0"/>
              </a:srgbClr>
            </a:solidFill>
          </p:spPr>
        </p:sp>
        <p:sp>
          <p:nvSpPr>
            <p:cNvPr name="Freeform 82" id="82"/>
            <p:cNvSpPr/>
            <p:nvPr/>
          </p:nvSpPr>
          <p:spPr>
            <a:xfrm flipH="false" flipV="false" rot="0">
              <a:off x="14602461" y="1778000"/>
              <a:ext cx="1655445" cy="393573"/>
            </a:xfrm>
            <a:custGeom>
              <a:avLst/>
              <a:gdLst/>
              <a:ahLst/>
              <a:cxnLst/>
              <a:rect r="r" b="b" t="t" l="l"/>
              <a:pathLst>
                <a:path h="393573" w="1655445">
                  <a:moveTo>
                    <a:pt x="0" y="393573"/>
                  </a:moveTo>
                  <a:lnTo>
                    <a:pt x="1655444" y="393573"/>
                  </a:lnTo>
                  <a:lnTo>
                    <a:pt x="1655444" y="0"/>
                  </a:lnTo>
                  <a:lnTo>
                    <a:pt x="0" y="0"/>
                  </a:lnTo>
                  <a:close/>
                </a:path>
              </a:pathLst>
            </a:custGeom>
            <a:solidFill>
              <a:srgbClr val="000000">
                <a:alpha val="0"/>
              </a:srgbClr>
            </a:solidFill>
          </p:spPr>
        </p:sp>
      </p:grpSp>
      <p:sp>
        <p:nvSpPr>
          <p:cNvPr name="TextBox 83" id="83"/>
          <p:cNvSpPr txBox="true"/>
          <p:nvPr/>
        </p:nvSpPr>
        <p:spPr>
          <a:xfrm rot="0">
            <a:off x="822960" y="9673876"/>
            <a:ext cx="2720912"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AI Patient Risk Assessment System</a:t>
            </a:r>
          </a:p>
        </p:txBody>
      </p:sp>
      <p:sp>
        <p:nvSpPr>
          <p:cNvPr name="TextBox 84" id="84"/>
          <p:cNvSpPr txBox="true"/>
          <p:nvPr/>
        </p:nvSpPr>
        <p:spPr>
          <a:xfrm rot="0">
            <a:off x="17272397" y="9624346"/>
            <a:ext cx="98479"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7</a:t>
            </a:r>
          </a:p>
        </p:txBody>
      </p:sp>
      <p:sp>
        <p:nvSpPr>
          <p:cNvPr name="TextBox 85" id="85"/>
          <p:cNvSpPr txBox="true"/>
          <p:nvPr/>
        </p:nvSpPr>
        <p:spPr>
          <a:xfrm rot="0">
            <a:off x="822960" y="598456"/>
            <a:ext cx="10000888" cy="1529829"/>
          </a:xfrm>
          <a:prstGeom prst="rect">
            <a:avLst/>
          </a:prstGeom>
        </p:spPr>
        <p:txBody>
          <a:bodyPr anchor="t" rtlCol="false" tIns="0" lIns="0" bIns="0" rIns="0">
            <a:spAutoFit/>
          </a:bodyPr>
          <a:lstStyle/>
          <a:p>
            <a:pPr algn="l">
              <a:lnSpc>
                <a:spcPts val="6719"/>
              </a:lnSpc>
            </a:pPr>
            <a:r>
              <a:rPr lang="en-US" b="true" sz="4800">
                <a:solidFill>
                  <a:srgbClr val="0B2545"/>
                </a:solidFill>
                <a:latin typeface="Cambria Bold"/>
                <a:ea typeface="Cambria Bold"/>
                <a:cs typeface="Cambria Bold"/>
                <a:sym typeface="Cambria Bold"/>
              </a:rPr>
              <a:t>System Architecture and Workflow</a:t>
            </a:r>
          </a:p>
          <a:p>
            <a:pPr algn="l">
              <a:lnSpc>
                <a:spcPts val="2520"/>
              </a:lnSpc>
            </a:pPr>
            <a:r>
              <a:rPr lang="en-US" b="true" sz="1800" spc="450">
                <a:solidFill>
                  <a:srgbClr val="0E8F8A"/>
                </a:solidFill>
                <a:latin typeface="Calibri (MS) Bold"/>
                <a:ea typeface="Calibri (MS) Bold"/>
                <a:cs typeface="Calibri (MS) Bold"/>
                <a:sym typeface="Calibri (MS) Bold"/>
              </a:rPr>
              <a:t>ARCHITECTURE</a:t>
            </a:r>
          </a:p>
        </p:txBody>
      </p:sp>
      <p:sp>
        <p:nvSpPr>
          <p:cNvPr name="TextBox 86" id="86"/>
          <p:cNvSpPr txBox="true"/>
          <p:nvPr/>
        </p:nvSpPr>
        <p:spPr>
          <a:xfrm rot="0">
            <a:off x="822960" y="5023285"/>
            <a:ext cx="1610458" cy="339090"/>
          </a:xfrm>
          <a:prstGeom prst="rect">
            <a:avLst/>
          </a:prstGeom>
        </p:spPr>
        <p:txBody>
          <a:bodyPr anchor="t" rtlCol="false" tIns="0" lIns="0" bIns="0" rIns="0">
            <a:spAutoFit/>
          </a:bodyPr>
          <a:lstStyle/>
          <a:p>
            <a:pPr algn="l">
              <a:lnSpc>
                <a:spcPts val="2520"/>
              </a:lnSpc>
            </a:pPr>
            <a:r>
              <a:rPr lang="en-US" b="true" sz="1800" spc="450">
                <a:solidFill>
                  <a:srgbClr val="0E8F8A"/>
                </a:solidFill>
                <a:latin typeface="Calibri (MS) Bold"/>
                <a:ea typeface="Calibri (MS) Bold"/>
                <a:cs typeface="Calibri (MS) Bold"/>
                <a:sym typeface="Calibri (MS) Bold"/>
              </a:rPr>
              <a:t>WORKFLOW</a:t>
            </a:r>
          </a:p>
        </p:txBody>
      </p:sp>
      <p:sp>
        <p:nvSpPr>
          <p:cNvPr name="TextBox 87" id="87"/>
          <p:cNvSpPr txBox="true"/>
          <p:nvPr/>
        </p:nvSpPr>
        <p:spPr>
          <a:xfrm rot="0">
            <a:off x="1371600" y="8529638"/>
            <a:ext cx="2264321" cy="339090"/>
          </a:xfrm>
          <a:prstGeom prst="rect">
            <a:avLst/>
          </a:prstGeom>
        </p:spPr>
        <p:txBody>
          <a:bodyPr anchor="t" rtlCol="false" tIns="0" lIns="0" bIns="0" rIns="0">
            <a:spAutoFit/>
          </a:bodyPr>
          <a:lstStyle/>
          <a:p>
            <a:pPr algn="l">
              <a:lnSpc>
                <a:spcPts val="2520"/>
              </a:lnSpc>
            </a:pPr>
            <a:r>
              <a:rPr lang="en-US" sz="1800">
                <a:solidFill>
                  <a:srgbClr val="0B2545"/>
                </a:solidFill>
                <a:latin typeface="Calibri (MS)"/>
                <a:ea typeface="Calibri (MS)"/>
                <a:cs typeface="Calibri (MS)"/>
                <a:sym typeface="Calibri (MS)"/>
              </a:rPr>
              <a:t>Machine learning phase</a:t>
            </a:r>
          </a:p>
        </p:txBody>
      </p:sp>
      <p:sp>
        <p:nvSpPr>
          <p:cNvPr name="TextBox 88" id="88"/>
          <p:cNvSpPr txBox="true"/>
          <p:nvPr/>
        </p:nvSpPr>
        <p:spPr>
          <a:xfrm rot="0">
            <a:off x="5760720" y="8529638"/>
            <a:ext cx="9017422" cy="339090"/>
          </a:xfrm>
          <a:prstGeom prst="rect">
            <a:avLst/>
          </a:prstGeom>
        </p:spPr>
        <p:txBody>
          <a:bodyPr anchor="t" rtlCol="false" tIns="0" lIns="0" bIns="0" rIns="0">
            <a:spAutoFit/>
          </a:bodyPr>
          <a:lstStyle/>
          <a:p>
            <a:pPr algn="l">
              <a:lnSpc>
                <a:spcPts val="2520"/>
              </a:lnSpc>
            </a:pPr>
            <a:r>
              <a:rPr lang="en-US" sz="1800">
                <a:solidFill>
                  <a:srgbClr val="0B2545"/>
                </a:solidFill>
                <a:latin typeface="Calibri (MS)"/>
                <a:ea typeface="Calibri (MS)"/>
                <a:cs typeface="Calibri (MS)"/>
                <a:sym typeface="Calibri (MS)"/>
              </a:rPr>
              <a:t>Application phase (in progress / planned). Backend, API and history are not claimed as working.</a:t>
            </a:r>
          </a:p>
        </p:txBody>
      </p:sp>
      <p:sp>
        <p:nvSpPr>
          <p:cNvPr name="TextBox 89" id="89"/>
          <p:cNvSpPr txBox="true"/>
          <p:nvPr/>
        </p:nvSpPr>
        <p:spPr>
          <a:xfrm rot="0">
            <a:off x="1180386" y="597098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1</a:t>
            </a:r>
          </a:p>
        </p:txBody>
      </p:sp>
      <p:sp>
        <p:nvSpPr>
          <p:cNvPr name="TextBox 90" id="90"/>
          <p:cNvSpPr txBox="true"/>
          <p:nvPr/>
        </p:nvSpPr>
        <p:spPr>
          <a:xfrm rot="0">
            <a:off x="1180386" y="734258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7</a:t>
            </a:r>
          </a:p>
        </p:txBody>
      </p:sp>
      <p:sp>
        <p:nvSpPr>
          <p:cNvPr name="TextBox 91" id="91"/>
          <p:cNvSpPr txBox="true"/>
          <p:nvPr/>
        </p:nvSpPr>
        <p:spPr>
          <a:xfrm rot="0">
            <a:off x="1989753" y="2661237"/>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1</a:t>
            </a:r>
          </a:p>
        </p:txBody>
      </p:sp>
      <p:sp>
        <p:nvSpPr>
          <p:cNvPr name="TextBox 92" id="92"/>
          <p:cNvSpPr txBox="true"/>
          <p:nvPr/>
        </p:nvSpPr>
        <p:spPr>
          <a:xfrm rot="0">
            <a:off x="4005882" y="597098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2</a:t>
            </a:r>
          </a:p>
        </p:txBody>
      </p:sp>
      <p:sp>
        <p:nvSpPr>
          <p:cNvPr name="TextBox 93" id="93"/>
          <p:cNvSpPr txBox="true"/>
          <p:nvPr/>
        </p:nvSpPr>
        <p:spPr>
          <a:xfrm rot="0">
            <a:off x="4005882" y="734258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8</a:t>
            </a:r>
          </a:p>
        </p:txBody>
      </p:sp>
      <p:sp>
        <p:nvSpPr>
          <p:cNvPr name="TextBox 94" id="94"/>
          <p:cNvSpPr txBox="true"/>
          <p:nvPr/>
        </p:nvSpPr>
        <p:spPr>
          <a:xfrm rot="0">
            <a:off x="4815249" y="2661237"/>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2</a:t>
            </a:r>
          </a:p>
        </p:txBody>
      </p:sp>
      <p:sp>
        <p:nvSpPr>
          <p:cNvPr name="TextBox 95" id="95"/>
          <p:cNvSpPr txBox="true"/>
          <p:nvPr/>
        </p:nvSpPr>
        <p:spPr>
          <a:xfrm rot="0">
            <a:off x="6831378" y="597098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3</a:t>
            </a:r>
          </a:p>
        </p:txBody>
      </p:sp>
      <p:sp>
        <p:nvSpPr>
          <p:cNvPr name="TextBox 96" id="96"/>
          <p:cNvSpPr txBox="true"/>
          <p:nvPr/>
        </p:nvSpPr>
        <p:spPr>
          <a:xfrm rot="0">
            <a:off x="6831378" y="734258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9</a:t>
            </a:r>
          </a:p>
        </p:txBody>
      </p:sp>
      <p:sp>
        <p:nvSpPr>
          <p:cNvPr name="TextBox 97" id="97"/>
          <p:cNvSpPr txBox="true"/>
          <p:nvPr/>
        </p:nvSpPr>
        <p:spPr>
          <a:xfrm rot="0">
            <a:off x="7640745" y="2661237"/>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3</a:t>
            </a:r>
          </a:p>
        </p:txBody>
      </p:sp>
      <p:sp>
        <p:nvSpPr>
          <p:cNvPr name="TextBox 98" id="98"/>
          <p:cNvSpPr txBox="true"/>
          <p:nvPr/>
        </p:nvSpPr>
        <p:spPr>
          <a:xfrm rot="0">
            <a:off x="9656874" y="597098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4</a:t>
            </a:r>
          </a:p>
        </p:txBody>
      </p:sp>
      <p:sp>
        <p:nvSpPr>
          <p:cNvPr name="TextBox 99" id="99"/>
          <p:cNvSpPr txBox="true"/>
          <p:nvPr/>
        </p:nvSpPr>
        <p:spPr>
          <a:xfrm rot="0">
            <a:off x="9589303" y="7342584"/>
            <a:ext cx="275749"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10</a:t>
            </a:r>
          </a:p>
        </p:txBody>
      </p:sp>
      <p:sp>
        <p:nvSpPr>
          <p:cNvPr name="TextBox 100" id="100"/>
          <p:cNvSpPr txBox="true"/>
          <p:nvPr/>
        </p:nvSpPr>
        <p:spPr>
          <a:xfrm rot="0">
            <a:off x="10466241" y="2661237"/>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4</a:t>
            </a:r>
          </a:p>
        </p:txBody>
      </p:sp>
      <p:sp>
        <p:nvSpPr>
          <p:cNvPr name="TextBox 101" id="101"/>
          <p:cNvSpPr txBox="true"/>
          <p:nvPr/>
        </p:nvSpPr>
        <p:spPr>
          <a:xfrm rot="0">
            <a:off x="12482370" y="597098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5</a:t>
            </a:r>
          </a:p>
        </p:txBody>
      </p:sp>
      <p:sp>
        <p:nvSpPr>
          <p:cNvPr name="TextBox 102" id="102"/>
          <p:cNvSpPr txBox="true"/>
          <p:nvPr/>
        </p:nvSpPr>
        <p:spPr>
          <a:xfrm rot="0">
            <a:off x="12414799" y="7342584"/>
            <a:ext cx="275749"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11</a:t>
            </a:r>
          </a:p>
        </p:txBody>
      </p:sp>
      <p:sp>
        <p:nvSpPr>
          <p:cNvPr name="TextBox 103" id="103"/>
          <p:cNvSpPr txBox="true"/>
          <p:nvPr/>
        </p:nvSpPr>
        <p:spPr>
          <a:xfrm rot="0">
            <a:off x="13291737" y="2661237"/>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5</a:t>
            </a:r>
          </a:p>
        </p:txBody>
      </p:sp>
      <p:sp>
        <p:nvSpPr>
          <p:cNvPr name="TextBox 104" id="104"/>
          <p:cNvSpPr txBox="true"/>
          <p:nvPr/>
        </p:nvSpPr>
        <p:spPr>
          <a:xfrm rot="0">
            <a:off x="15307866" y="5970984"/>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6</a:t>
            </a:r>
          </a:p>
        </p:txBody>
      </p:sp>
      <p:sp>
        <p:nvSpPr>
          <p:cNvPr name="TextBox 105" id="105"/>
          <p:cNvSpPr txBox="true"/>
          <p:nvPr/>
        </p:nvSpPr>
        <p:spPr>
          <a:xfrm rot="0">
            <a:off x="15240295" y="7342584"/>
            <a:ext cx="275749"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12</a:t>
            </a:r>
          </a:p>
        </p:txBody>
      </p:sp>
      <p:sp>
        <p:nvSpPr>
          <p:cNvPr name="TextBox 106" id="106"/>
          <p:cNvSpPr txBox="true"/>
          <p:nvPr/>
        </p:nvSpPr>
        <p:spPr>
          <a:xfrm rot="0">
            <a:off x="16117233" y="2661237"/>
            <a:ext cx="137874" cy="392430"/>
          </a:xfrm>
          <a:prstGeom prst="rect">
            <a:avLst/>
          </a:prstGeom>
        </p:spPr>
        <p:txBody>
          <a:bodyPr anchor="t" rtlCol="false" tIns="0" lIns="0" bIns="0" rIns="0">
            <a:spAutoFit/>
          </a:bodyPr>
          <a:lstStyle/>
          <a:p>
            <a:pPr algn="l">
              <a:lnSpc>
                <a:spcPts val="2940"/>
              </a:lnSpc>
            </a:pPr>
            <a:r>
              <a:rPr lang="en-US" b="true" sz="2100">
                <a:solidFill>
                  <a:srgbClr val="FFFFFF"/>
                </a:solidFill>
                <a:latin typeface="Calibri (MS) Bold"/>
                <a:ea typeface="Calibri (MS) Bold"/>
                <a:cs typeface="Calibri (MS) Bold"/>
                <a:sym typeface="Calibri (MS) Bold"/>
              </a:rPr>
              <a:t>6</a:t>
            </a:r>
          </a:p>
        </p:txBody>
      </p:sp>
      <p:sp>
        <p:nvSpPr>
          <p:cNvPr name="TextBox 107" id="107"/>
          <p:cNvSpPr txBox="true"/>
          <p:nvPr/>
        </p:nvSpPr>
        <p:spPr>
          <a:xfrm rot="0">
            <a:off x="1269387" y="3464500"/>
            <a:ext cx="1607382" cy="370522"/>
          </a:xfrm>
          <a:prstGeom prst="rect">
            <a:avLst/>
          </a:prstGeom>
        </p:spPr>
        <p:txBody>
          <a:bodyPr anchor="t" rtlCol="false" tIns="0" lIns="0" bIns="0" rIns="0">
            <a:spAutoFit/>
          </a:bodyPr>
          <a:lstStyle/>
          <a:p>
            <a:pPr algn="l">
              <a:lnSpc>
                <a:spcPts val="2729"/>
              </a:lnSpc>
            </a:pPr>
            <a:r>
              <a:rPr lang="en-US" b="true" sz="1950">
                <a:solidFill>
                  <a:srgbClr val="0B2545"/>
                </a:solidFill>
                <a:latin typeface="Calibri (MS) Bold"/>
                <a:ea typeface="Calibri (MS) Bold"/>
                <a:cs typeface="Calibri (MS) Bold"/>
                <a:sym typeface="Calibri (MS) Bold"/>
              </a:rPr>
              <a:t>React Frontend</a:t>
            </a:r>
          </a:p>
        </p:txBody>
      </p:sp>
      <p:sp>
        <p:nvSpPr>
          <p:cNvPr name="TextBox 108" id="108"/>
          <p:cNvSpPr txBox="true"/>
          <p:nvPr/>
        </p:nvSpPr>
        <p:spPr>
          <a:xfrm rot="0">
            <a:off x="4033561" y="3464500"/>
            <a:ext cx="1732455" cy="370522"/>
          </a:xfrm>
          <a:prstGeom prst="rect">
            <a:avLst/>
          </a:prstGeom>
        </p:spPr>
        <p:txBody>
          <a:bodyPr anchor="t" rtlCol="false" tIns="0" lIns="0" bIns="0" rIns="0">
            <a:spAutoFit/>
          </a:bodyPr>
          <a:lstStyle/>
          <a:p>
            <a:pPr algn="l">
              <a:lnSpc>
                <a:spcPts val="2729"/>
              </a:lnSpc>
            </a:pPr>
            <a:r>
              <a:rPr lang="en-US" b="true" sz="1950">
                <a:solidFill>
                  <a:srgbClr val="0B2545"/>
                </a:solidFill>
                <a:latin typeface="Calibri (MS) Bold"/>
                <a:ea typeface="Calibri (MS) Bold"/>
                <a:cs typeface="Calibri (MS) Bold"/>
                <a:sym typeface="Calibri (MS) Bold"/>
              </a:rPr>
              <a:t>FastAPI Backend</a:t>
            </a:r>
          </a:p>
        </p:txBody>
      </p:sp>
      <p:sp>
        <p:nvSpPr>
          <p:cNvPr name="TextBox 109" id="109"/>
          <p:cNvSpPr txBox="true"/>
          <p:nvPr/>
        </p:nvSpPr>
        <p:spPr>
          <a:xfrm rot="0">
            <a:off x="6665433" y="3359725"/>
            <a:ext cx="2127266" cy="1084936"/>
          </a:xfrm>
          <a:prstGeom prst="rect">
            <a:avLst/>
          </a:prstGeom>
        </p:spPr>
        <p:txBody>
          <a:bodyPr anchor="t" rtlCol="false" tIns="0" lIns="0" bIns="0" rIns="0">
            <a:spAutoFit/>
          </a:bodyPr>
          <a:lstStyle/>
          <a:p>
            <a:pPr algn="ctr">
              <a:lnSpc>
                <a:spcPts val="2324"/>
              </a:lnSpc>
            </a:pPr>
            <a:r>
              <a:rPr lang="en-US" b="true" sz="1950">
                <a:solidFill>
                  <a:srgbClr val="0B2545"/>
                </a:solidFill>
                <a:latin typeface="Calibri (MS) Bold"/>
                <a:ea typeface="Calibri (MS) Bold"/>
                <a:cs typeface="Calibri (MS) Bold"/>
                <a:sym typeface="Calibri (MS) Bold"/>
              </a:rPr>
              <a:t>Validation + Feature Alignment</a:t>
            </a:r>
          </a:p>
          <a:p>
            <a:pPr algn="ctr">
              <a:lnSpc>
                <a:spcPts val="1966"/>
              </a:lnSpc>
            </a:pPr>
            <a:r>
              <a:rPr lang="en-US" b="true" sz="1650">
                <a:solidFill>
                  <a:srgbClr val="FFFFFF"/>
                </a:solidFill>
                <a:latin typeface="Calibri (MS) Bold"/>
                <a:ea typeface="Calibri (MS) Bold"/>
                <a:cs typeface="Calibri (MS) Bold"/>
                <a:sym typeface="Calibri (MS) Bold"/>
              </a:rPr>
              <a:t>Planned</a:t>
            </a:r>
          </a:p>
        </p:txBody>
      </p:sp>
      <p:sp>
        <p:nvSpPr>
          <p:cNvPr name="TextBox 110" id="110"/>
          <p:cNvSpPr txBox="true"/>
          <p:nvPr/>
        </p:nvSpPr>
        <p:spPr>
          <a:xfrm rot="0">
            <a:off x="9767754" y="3359725"/>
            <a:ext cx="1562738" cy="1084936"/>
          </a:xfrm>
          <a:prstGeom prst="rect">
            <a:avLst/>
          </a:prstGeom>
        </p:spPr>
        <p:txBody>
          <a:bodyPr anchor="t" rtlCol="false" tIns="0" lIns="0" bIns="0" rIns="0">
            <a:spAutoFit/>
          </a:bodyPr>
          <a:lstStyle/>
          <a:p>
            <a:pPr algn="ctr">
              <a:lnSpc>
                <a:spcPts val="2324"/>
              </a:lnSpc>
            </a:pPr>
            <a:r>
              <a:rPr lang="en-US" b="true" sz="1950">
                <a:solidFill>
                  <a:srgbClr val="0B2545"/>
                </a:solidFill>
                <a:latin typeface="Calibri (MS) Bold"/>
                <a:ea typeface="Calibri (MS) Bold"/>
                <a:cs typeface="Calibri (MS) Bold"/>
                <a:sym typeface="Calibri (MS) Bold"/>
              </a:rPr>
              <a:t>Saved Random Forest Model</a:t>
            </a:r>
          </a:p>
          <a:p>
            <a:pPr algn="ctr">
              <a:lnSpc>
                <a:spcPts val="1966"/>
              </a:lnSpc>
            </a:pPr>
            <a:r>
              <a:rPr lang="en-US" b="true" sz="1650">
                <a:solidFill>
                  <a:srgbClr val="FFFFFF"/>
                </a:solidFill>
                <a:latin typeface="Calibri (MS) Bold"/>
                <a:ea typeface="Calibri (MS) Bold"/>
                <a:cs typeface="Calibri (MS) Bold"/>
                <a:sym typeface="Calibri (MS) Bold"/>
              </a:rPr>
              <a:t>Trained</a:t>
            </a:r>
          </a:p>
        </p:txBody>
      </p:sp>
      <p:sp>
        <p:nvSpPr>
          <p:cNvPr name="TextBox 111" id="111"/>
          <p:cNvSpPr txBox="true"/>
          <p:nvPr/>
        </p:nvSpPr>
        <p:spPr>
          <a:xfrm rot="0">
            <a:off x="12311367" y="3464500"/>
            <a:ext cx="2137753" cy="370522"/>
          </a:xfrm>
          <a:prstGeom prst="rect">
            <a:avLst/>
          </a:prstGeom>
        </p:spPr>
        <p:txBody>
          <a:bodyPr anchor="t" rtlCol="false" tIns="0" lIns="0" bIns="0" rIns="0">
            <a:spAutoFit/>
          </a:bodyPr>
          <a:lstStyle/>
          <a:p>
            <a:pPr algn="l">
              <a:lnSpc>
                <a:spcPts val="2729"/>
              </a:lnSpc>
            </a:pPr>
            <a:r>
              <a:rPr lang="en-US" b="true" sz="1950">
                <a:solidFill>
                  <a:srgbClr val="0B2545"/>
                </a:solidFill>
                <a:latin typeface="Calibri (MS) Bold"/>
                <a:ea typeface="Calibri (MS) Bold"/>
                <a:cs typeface="Calibri (MS) Bold"/>
                <a:sym typeface="Calibri (MS) Bold"/>
              </a:rPr>
              <a:t>Prediction Response</a:t>
            </a:r>
          </a:p>
        </p:txBody>
      </p:sp>
      <p:sp>
        <p:nvSpPr>
          <p:cNvPr name="TextBox 112" id="112"/>
          <p:cNvSpPr txBox="true"/>
          <p:nvPr/>
        </p:nvSpPr>
        <p:spPr>
          <a:xfrm rot="0">
            <a:off x="15538104" y="3464500"/>
            <a:ext cx="1319260" cy="370522"/>
          </a:xfrm>
          <a:prstGeom prst="rect">
            <a:avLst/>
          </a:prstGeom>
        </p:spPr>
        <p:txBody>
          <a:bodyPr anchor="t" rtlCol="false" tIns="0" lIns="0" bIns="0" rIns="0">
            <a:spAutoFit/>
          </a:bodyPr>
          <a:lstStyle/>
          <a:p>
            <a:pPr algn="l">
              <a:lnSpc>
                <a:spcPts val="2729"/>
              </a:lnSpc>
            </a:pPr>
            <a:r>
              <a:rPr lang="en-US" b="true" sz="1950">
                <a:solidFill>
                  <a:srgbClr val="0B2545"/>
                </a:solidFill>
                <a:latin typeface="Calibri (MS) Bold"/>
                <a:ea typeface="Calibri (MS) Bold"/>
                <a:cs typeface="Calibri (MS) Bold"/>
                <a:sym typeface="Calibri (MS) Bold"/>
              </a:rPr>
              <a:t>Results Page</a:t>
            </a:r>
          </a:p>
        </p:txBody>
      </p:sp>
      <p:sp>
        <p:nvSpPr>
          <p:cNvPr name="TextBox 113" id="113"/>
          <p:cNvSpPr txBox="true"/>
          <p:nvPr/>
        </p:nvSpPr>
        <p:spPr>
          <a:xfrm rot="0">
            <a:off x="1576445" y="4134145"/>
            <a:ext cx="981037" cy="307658"/>
          </a:xfrm>
          <a:prstGeom prst="rect">
            <a:avLst/>
          </a:prstGeom>
        </p:spPr>
        <p:txBody>
          <a:bodyPr anchor="t" rtlCol="false" tIns="0" lIns="0" bIns="0" rIns="0">
            <a:spAutoFit/>
          </a:bodyPr>
          <a:lstStyle/>
          <a:p>
            <a:pPr algn="l">
              <a:lnSpc>
                <a:spcPts val="2310"/>
              </a:lnSpc>
            </a:pPr>
            <a:r>
              <a:rPr lang="en-US" b="true" sz="1650">
                <a:solidFill>
                  <a:srgbClr val="0B2545"/>
                </a:solidFill>
                <a:latin typeface="Calibri (MS) Bold"/>
                <a:ea typeface="Calibri (MS) Bold"/>
                <a:cs typeface="Calibri (MS) Bold"/>
                <a:sym typeface="Calibri (MS) Bold"/>
              </a:rPr>
              <a:t>In progress</a:t>
            </a:r>
          </a:p>
        </p:txBody>
      </p:sp>
      <p:sp>
        <p:nvSpPr>
          <p:cNvPr name="TextBox 114" id="114"/>
          <p:cNvSpPr txBox="true"/>
          <p:nvPr/>
        </p:nvSpPr>
        <p:spPr>
          <a:xfrm rot="0">
            <a:off x="4528147" y="4134145"/>
            <a:ext cx="723462"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Planned</a:t>
            </a:r>
          </a:p>
        </p:txBody>
      </p:sp>
      <p:sp>
        <p:nvSpPr>
          <p:cNvPr name="TextBox 115" id="115"/>
          <p:cNvSpPr txBox="true"/>
          <p:nvPr/>
        </p:nvSpPr>
        <p:spPr>
          <a:xfrm rot="0">
            <a:off x="13004635" y="4134145"/>
            <a:ext cx="723462"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Planned</a:t>
            </a:r>
          </a:p>
        </p:txBody>
      </p:sp>
      <p:sp>
        <p:nvSpPr>
          <p:cNvPr name="TextBox 116" id="116"/>
          <p:cNvSpPr txBox="true"/>
          <p:nvPr/>
        </p:nvSpPr>
        <p:spPr>
          <a:xfrm rot="0">
            <a:off x="15703925" y="4134145"/>
            <a:ext cx="981037" cy="307658"/>
          </a:xfrm>
          <a:prstGeom prst="rect">
            <a:avLst/>
          </a:prstGeom>
        </p:spPr>
        <p:txBody>
          <a:bodyPr anchor="t" rtlCol="false" tIns="0" lIns="0" bIns="0" rIns="0">
            <a:spAutoFit/>
          </a:bodyPr>
          <a:lstStyle/>
          <a:p>
            <a:pPr algn="l">
              <a:lnSpc>
                <a:spcPts val="2310"/>
              </a:lnSpc>
            </a:pPr>
            <a:r>
              <a:rPr lang="en-US" b="true" sz="1650">
                <a:solidFill>
                  <a:srgbClr val="0B2545"/>
                </a:solidFill>
                <a:latin typeface="Calibri (MS) Bold"/>
                <a:ea typeface="Calibri (MS) Bold"/>
                <a:cs typeface="Calibri (MS) Bold"/>
                <a:sym typeface="Calibri (MS) Bold"/>
              </a:rPr>
              <a:t>In progress</a:t>
            </a:r>
          </a:p>
        </p:txBody>
      </p:sp>
      <p:sp>
        <p:nvSpPr>
          <p:cNvPr name="TextBox 117" id="117"/>
          <p:cNvSpPr txBox="true"/>
          <p:nvPr/>
        </p:nvSpPr>
        <p:spPr>
          <a:xfrm rot="0">
            <a:off x="1645920" y="6003160"/>
            <a:ext cx="780488" cy="350044"/>
          </a:xfrm>
          <a:prstGeom prst="rect">
            <a:avLst/>
          </a:prstGeom>
        </p:spPr>
        <p:txBody>
          <a:bodyPr anchor="t" rtlCol="false" tIns="0" lIns="0" bIns="0" rIns="0">
            <a:spAutoFit/>
          </a:bodyPr>
          <a:lstStyle/>
          <a:p>
            <a:pPr algn="l">
              <a:lnSpc>
                <a:spcPts val="2625"/>
              </a:lnSpc>
            </a:pPr>
            <a:r>
              <a:rPr lang="en-US" b="true" sz="1875">
                <a:solidFill>
                  <a:srgbClr val="0B2545"/>
                </a:solidFill>
                <a:latin typeface="Calibri (MS) Bold"/>
                <a:ea typeface="Calibri (MS) Bold"/>
                <a:cs typeface="Calibri (MS) Bold"/>
                <a:sym typeface="Calibri (MS) Bold"/>
              </a:rPr>
              <a:t>Dataset</a:t>
            </a:r>
          </a:p>
        </p:txBody>
      </p:sp>
      <p:sp>
        <p:nvSpPr>
          <p:cNvPr name="TextBox 118" id="118"/>
          <p:cNvSpPr txBox="true"/>
          <p:nvPr/>
        </p:nvSpPr>
        <p:spPr>
          <a:xfrm rot="0">
            <a:off x="1645920" y="7269985"/>
            <a:ext cx="925411" cy="597694"/>
          </a:xfrm>
          <a:prstGeom prst="rect">
            <a:avLst/>
          </a:prstGeom>
        </p:spPr>
        <p:txBody>
          <a:bodyPr anchor="t" rtlCol="false" tIns="0" lIns="0" bIns="0" rIns="0">
            <a:spAutoFit/>
          </a:bodyPr>
          <a:lstStyle/>
          <a:p>
            <a:pPr algn="l">
              <a:lnSpc>
                <a:spcPts val="2250"/>
              </a:lnSpc>
            </a:pPr>
            <a:r>
              <a:rPr lang="en-US" b="true" sz="1875">
                <a:solidFill>
                  <a:srgbClr val="0B2545"/>
                </a:solidFill>
                <a:latin typeface="Calibri (MS) Bold"/>
                <a:ea typeface="Calibri (MS) Bold"/>
                <a:cs typeface="Calibri (MS) Bold"/>
                <a:sym typeface="Calibri (MS) Bold"/>
              </a:rPr>
              <a:t>Feature Selection</a:t>
            </a:r>
          </a:p>
        </p:txBody>
      </p:sp>
      <p:sp>
        <p:nvSpPr>
          <p:cNvPr name="TextBox 119" id="119"/>
          <p:cNvSpPr txBox="true"/>
          <p:nvPr/>
        </p:nvSpPr>
        <p:spPr>
          <a:xfrm rot="0">
            <a:off x="4471416" y="7269985"/>
            <a:ext cx="1067972" cy="597694"/>
          </a:xfrm>
          <a:prstGeom prst="rect">
            <a:avLst/>
          </a:prstGeom>
        </p:spPr>
        <p:txBody>
          <a:bodyPr anchor="t" rtlCol="false" tIns="0" lIns="0" bIns="0" rIns="0">
            <a:spAutoFit/>
          </a:bodyPr>
          <a:lstStyle/>
          <a:p>
            <a:pPr algn="l">
              <a:lnSpc>
                <a:spcPts val="2250"/>
              </a:lnSpc>
            </a:pPr>
            <a:r>
              <a:rPr lang="en-US" b="true" sz="1875">
                <a:solidFill>
                  <a:srgbClr val="0B2545"/>
                </a:solidFill>
                <a:latin typeface="Calibri (MS) Bold"/>
                <a:ea typeface="Calibri (MS) Bold"/>
                <a:cs typeface="Calibri (MS) Bold"/>
                <a:sym typeface="Calibri (MS) Bold"/>
              </a:rPr>
              <a:t>Model Evaluation</a:t>
            </a:r>
          </a:p>
        </p:txBody>
      </p:sp>
      <p:sp>
        <p:nvSpPr>
          <p:cNvPr name="TextBox 120" id="120"/>
          <p:cNvSpPr txBox="true"/>
          <p:nvPr/>
        </p:nvSpPr>
        <p:spPr>
          <a:xfrm rot="0">
            <a:off x="4471416" y="6003160"/>
            <a:ext cx="1397908" cy="350044"/>
          </a:xfrm>
          <a:prstGeom prst="rect">
            <a:avLst/>
          </a:prstGeom>
        </p:spPr>
        <p:txBody>
          <a:bodyPr anchor="t" rtlCol="false" tIns="0" lIns="0" bIns="0" rIns="0">
            <a:spAutoFit/>
          </a:bodyPr>
          <a:lstStyle/>
          <a:p>
            <a:pPr algn="l">
              <a:lnSpc>
                <a:spcPts val="2625"/>
              </a:lnSpc>
            </a:pPr>
            <a:r>
              <a:rPr lang="en-US" b="true" sz="1875">
                <a:solidFill>
                  <a:srgbClr val="0B2545"/>
                </a:solidFill>
                <a:latin typeface="Calibri (MS) Bold"/>
                <a:ea typeface="Calibri (MS) Bold"/>
                <a:cs typeface="Calibri (MS) Bold"/>
                <a:sym typeface="Calibri (MS) Bold"/>
              </a:rPr>
              <a:t>Data Cleaning</a:t>
            </a:r>
          </a:p>
        </p:txBody>
      </p:sp>
      <p:sp>
        <p:nvSpPr>
          <p:cNvPr name="TextBox 121" id="121"/>
          <p:cNvSpPr txBox="true"/>
          <p:nvPr/>
        </p:nvSpPr>
        <p:spPr>
          <a:xfrm rot="0">
            <a:off x="7296912" y="5898385"/>
            <a:ext cx="1173051" cy="597694"/>
          </a:xfrm>
          <a:prstGeom prst="rect">
            <a:avLst/>
          </a:prstGeom>
        </p:spPr>
        <p:txBody>
          <a:bodyPr anchor="t" rtlCol="false" tIns="0" lIns="0" bIns="0" rIns="0">
            <a:spAutoFit/>
          </a:bodyPr>
          <a:lstStyle/>
          <a:p>
            <a:pPr algn="l">
              <a:lnSpc>
                <a:spcPts val="2250"/>
              </a:lnSpc>
            </a:pPr>
            <a:r>
              <a:rPr lang="en-US" b="true" sz="1875">
                <a:solidFill>
                  <a:srgbClr val="0B2545"/>
                </a:solidFill>
                <a:latin typeface="Calibri (MS) Bold"/>
                <a:ea typeface="Calibri (MS) Bold"/>
                <a:cs typeface="Calibri (MS) Bold"/>
                <a:sym typeface="Calibri (MS) Bold"/>
              </a:rPr>
              <a:t>Exploratory Analysis</a:t>
            </a:r>
          </a:p>
        </p:txBody>
      </p:sp>
      <p:sp>
        <p:nvSpPr>
          <p:cNvPr name="TextBox 122" id="122"/>
          <p:cNvSpPr txBox="true"/>
          <p:nvPr/>
        </p:nvSpPr>
        <p:spPr>
          <a:xfrm rot="0">
            <a:off x="7296912" y="7374760"/>
            <a:ext cx="1181938" cy="350044"/>
          </a:xfrm>
          <a:prstGeom prst="rect">
            <a:avLst/>
          </a:prstGeom>
        </p:spPr>
        <p:txBody>
          <a:bodyPr anchor="t" rtlCol="false" tIns="0" lIns="0" bIns="0" rIns="0">
            <a:spAutoFit/>
          </a:bodyPr>
          <a:lstStyle/>
          <a:p>
            <a:pPr algn="l">
              <a:lnSpc>
                <a:spcPts val="2625"/>
              </a:lnSpc>
            </a:pPr>
            <a:r>
              <a:rPr lang="en-US" b="true" sz="1875">
                <a:solidFill>
                  <a:srgbClr val="0B2545"/>
                </a:solidFill>
                <a:latin typeface="Calibri (MS) Bold"/>
                <a:ea typeface="Calibri (MS) Bold"/>
                <a:cs typeface="Calibri (MS) Bold"/>
                <a:sym typeface="Calibri (MS) Bold"/>
              </a:rPr>
              <a:t>Save Model</a:t>
            </a:r>
          </a:p>
        </p:txBody>
      </p:sp>
      <p:sp>
        <p:nvSpPr>
          <p:cNvPr name="TextBox 123" id="123"/>
          <p:cNvSpPr txBox="true"/>
          <p:nvPr/>
        </p:nvSpPr>
        <p:spPr>
          <a:xfrm rot="0">
            <a:off x="10122408" y="7374760"/>
            <a:ext cx="1058961" cy="350044"/>
          </a:xfrm>
          <a:prstGeom prst="rect">
            <a:avLst/>
          </a:prstGeom>
        </p:spPr>
        <p:txBody>
          <a:bodyPr anchor="t" rtlCol="false" tIns="0" lIns="0" bIns="0" rIns="0">
            <a:spAutoFit/>
          </a:bodyPr>
          <a:lstStyle/>
          <a:p>
            <a:pPr algn="l">
              <a:lnSpc>
                <a:spcPts val="2625"/>
              </a:lnSpc>
            </a:pPr>
            <a:r>
              <a:rPr lang="en-US" b="true" sz="1875">
                <a:solidFill>
                  <a:srgbClr val="0B2545"/>
                </a:solidFill>
                <a:latin typeface="Calibri (MS) Bold"/>
                <a:ea typeface="Calibri (MS) Bold"/>
                <a:cs typeface="Calibri (MS) Bold"/>
                <a:sym typeface="Calibri (MS) Bold"/>
              </a:rPr>
              <a:t>User Input</a:t>
            </a:r>
          </a:p>
        </p:txBody>
      </p:sp>
      <p:sp>
        <p:nvSpPr>
          <p:cNvPr name="TextBox 124" id="124"/>
          <p:cNvSpPr txBox="true"/>
          <p:nvPr/>
        </p:nvSpPr>
        <p:spPr>
          <a:xfrm rot="0">
            <a:off x="10122408" y="5898385"/>
            <a:ext cx="1199140" cy="597694"/>
          </a:xfrm>
          <a:prstGeom prst="rect">
            <a:avLst/>
          </a:prstGeom>
        </p:spPr>
        <p:txBody>
          <a:bodyPr anchor="t" rtlCol="false" tIns="0" lIns="0" bIns="0" rIns="0">
            <a:spAutoFit/>
          </a:bodyPr>
          <a:lstStyle/>
          <a:p>
            <a:pPr algn="l">
              <a:lnSpc>
                <a:spcPts val="2250"/>
              </a:lnSpc>
            </a:pPr>
            <a:r>
              <a:rPr lang="en-US" b="true" sz="1875">
                <a:solidFill>
                  <a:srgbClr val="0B2545"/>
                </a:solidFill>
                <a:latin typeface="Calibri (MS) Bold"/>
                <a:ea typeface="Calibri (MS) Bold"/>
                <a:cs typeface="Calibri (MS) Bold"/>
                <a:sym typeface="Calibri (MS) Bold"/>
              </a:rPr>
              <a:t>Feature Preparation</a:t>
            </a:r>
          </a:p>
        </p:txBody>
      </p:sp>
      <p:sp>
        <p:nvSpPr>
          <p:cNvPr name="TextBox 125" id="125"/>
          <p:cNvSpPr txBox="true"/>
          <p:nvPr/>
        </p:nvSpPr>
        <p:spPr>
          <a:xfrm rot="0">
            <a:off x="12947904" y="7269985"/>
            <a:ext cx="1034291" cy="597694"/>
          </a:xfrm>
          <a:prstGeom prst="rect">
            <a:avLst/>
          </a:prstGeom>
        </p:spPr>
        <p:txBody>
          <a:bodyPr anchor="t" rtlCol="false" tIns="0" lIns="0" bIns="0" rIns="0">
            <a:spAutoFit/>
          </a:bodyPr>
          <a:lstStyle/>
          <a:p>
            <a:pPr algn="l">
              <a:lnSpc>
                <a:spcPts val="2250"/>
              </a:lnSpc>
            </a:pPr>
            <a:r>
              <a:rPr lang="en-US" b="true" sz="1875">
                <a:solidFill>
                  <a:srgbClr val="0B2545"/>
                </a:solidFill>
                <a:latin typeface="Calibri (MS) Bold"/>
                <a:ea typeface="Calibri (MS) Bold"/>
                <a:cs typeface="Calibri (MS) Bold"/>
                <a:sym typeface="Calibri (MS) Bold"/>
              </a:rPr>
              <a:t>Backend Prediction</a:t>
            </a:r>
          </a:p>
        </p:txBody>
      </p:sp>
      <p:sp>
        <p:nvSpPr>
          <p:cNvPr name="TextBox 126" id="126"/>
          <p:cNvSpPr txBox="true"/>
          <p:nvPr/>
        </p:nvSpPr>
        <p:spPr>
          <a:xfrm rot="0">
            <a:off x="12947904" y="5898385"/>
            <a:ext cx="1154306" cy="597694"/>
          </a:xfrm>
          <a:prstGeom prst="rect">
            <a:avLst/>
          </a:prstGeom>
        </p:spPr>
        <p:txBody>
          <a:bodyPr anchor="t" rtlCol="false" tIns="0" lIns="0" bIns="0" rIns="0">
            <a:spAutoFit/>
          </a:bodyPr>
          <a:lstStyle/>
          <a:p>
            <a:pPr algn="l">
              <a:lnSpc>
                <a:spcPts val="2250"/>
              </a:lnSpc>
            </a:pPr>
            <a:r>
              <a:rPr lang="en-US" b="true" sz="1875">
                <a:solidFill>
                  <a:srgbClr val="0B2545"/>
                </a:solidFill>
                <a:latin typeface="Calibri (MS) Bold"/>
                <a:ea typeface="Calibri (MS) Bold"/>
                <a:cs typeface="Calibri (MS) Bold"/>
                <a:sym typeface="Calibri (MS) Bold"/>
              </a:rPr>
              <a:t>Train / Test Split</a:t>
            </a:r>
          </a:p>
        </p:txBody>
      </p:sp>
      <p:sp>
        <p:nvSpPr>
          <p:cNvPr name="TextBox 127" id="127"/>
          <p:cNvSpPr txBox="true"/>
          <p:nvPr/>
        </p:nvSpPr>
        <p:spPr>
          <a:xfrm rot="0">
            <a:off x="15773400" y="7374760"/>
            <a:ext cx="1516504" cy="350044"/>
          </a:xfrm>
          <a:prstGeom prst="rect">
            <a:avLst/>
          </a:prstGeom>
        </p:spPr>
        <p:txBody>
          <a:bodyPr anchor="t" rtlCol="false" tIns="0" lIns="0" bIns="0" rIns="0">
            <a:spAutoFit/>
          </a:bodyPr>
          <a:lstStyle/>
          <a:p>
            <a:pPr algn="l">
              <a:lnSpc>
                <a:spcPts val="2625"/>
              </a:lnSpc>
            </a:pPr>
            <a:r>
              <a:rPr lang="en-US" b="true" sz="1875">
                <a:solidFill>
                  <a:srgbClr val="0B2545"/>
                </a:solidFill>
                <a:latin typeface="Calibri (MS) Bold"/>
                <a:ea typeface="Calibri (MS) Bold"/>
                <a:cs typeface="Calibri (MS) Bold"/>
                <a:sym typeface="Calibri (MS) Bold"/>
              </a:rPr>
              <a:t>Results Display</a:t>
            </a:r>
          </a:p>
        </p:txBody>
      </p:sp>
      <p:sp>
        <p:nvSpPr>
          <p:cNvPr name="TextBox 128" id="128"/>
          <p:cNvSpPr txBox="true"/>
          <p:nvPr/>
        </p:nvSpPr>
        <p:spPr>
          <a:xfrm rot="0">
            <a:off x="15773400" y="5898385"/>
            <a:ext cx="1532163" cy="597694"/>
          </a:xfrm>
          <a:prstGeom prst="rect">
            <a:avLst/>
          </a:prstGeom>
        </p:spPr>
        <p:txBody>
          <a:bodyPr anchor="t" rtlCol="false" tIns="0" lIns="0" bIns="0" rIns="0">
            <a:spAutoFit/>
          </a:bodyPr>
          <a:lstStyle/>
          <a:p>
            <a:pPr algn="l">
              <a:lnSpc>
                <a:spcPts val="2250"/>
              </a:lnSpc>
            </a:pPr>
            <a:r>
              <a:rPr lang="en-US" b="true" sz="1875">
                <a:solidFill>
                  <a:srgbClr val="0B2545"/>
                </a:solidFill>
                <a:latin typeface="Calibri (MS) Bold"/>
                <a:ea typeface="Calibri (MS) Bold"/>
                <a:cs typeface="Calibri (MS) Bold"/>
                <a:sym typeface="Calibri (MS) Bold"/>
              </a:rPr>
              <a:t>Random Forest Training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4694" y="1851974"/>
            <a:ext cx="7270175" cy="1480690"/>
          </a:xfrm>
          <a:custGeom>
            <a:avLst/>
            <a:gdLst/>
            <a:ahLst/>
            <a:cxnLst/>
            <a:rect r="r" b="b" t="t" l="l"/>
            <a:pathLst>
              <a:path h="1480690" w="7270175">
                <a:moveTo>
                  <a:pt x="0" y="0"/>
                </a:moveTo>
                <a:lnTo>
                  <a:pt x="7270176" y="0"/>
                </a:lnTo>
                <a:lnTo>
                  <a:pt x="7270176" y="1480690"/>
                </a:lnTo>
                <a:lnTo>
                  <a:pt x="0" y="1480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4694" y="3388166"/>
            <a:ext cx="7270175" cy="1480690"/>
          </a:xfrm>
          <a:custGeom>
            <a:avLst/>
            <a:gdLst/>
            <a:ahLst/>
            <a:cxnLst/>
            <a:rect r="r" b="b" t="t" l="l"/>
            <a:pathLst>
              <a:path h="1480690" w="7270175">
                <a:moveTo>
                  <a:pt x="0" y="0"/>
                </a:moveTo>
                <a:lnTo>
                  <a:pt x="7270176" y="0"/>
                </a:lnTo>
                <a:lnTo>
                  <a:pt x="7270176" y="1480690"/>
                </a:lnTo>
                <a:lnTo>
                  <a:pt x="0" y="1480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54694" y="4924358"/>
            <a:ext cx="7270175" cy="1480690"/>
          </a:xfrm>
          <a:custGeom>
            <a:avLst/>
            <a:gdLst/>
            <a:ahLst/>
            <a:cxnLst/>
            <a:rect r="r" b="b" t="t" l="l"/>
            <a:pathLst>
              <a:path h="1480690" w="7270175">
                <a:moveTo>
                  <a:pt x="0" y="0"/>
                </a:moveTo>
                <a:lnTo>
                  <a:pt x="7270176" y="0"/>
                </a:lnTo>
                <a:lnTo>
                  <a:pt x="7270176" y="1480690"/>
                </a:lnTo>
                <a:lnTo>
                  <a:pt x="0" y="1480690"/>
                </a:lnTo>
                <a:lnTo>
                  <a:pt x="0" y="0"/>
                </a:lnTo>
                <a:close/>
              </a:path>
            </a:pathLst>
          </a:custGeom>
          <a:blipFill>
            <a:blip r:embed="rId4">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54694" y="6460550"/>
            <a:ext cx="7270175" cy="1480690"/>
          </a:xfrm>
          <a:custGeom>
            <a:avLst/>
            <a:gdLst/>
            <a:ahLst/>
            <a:cxnLst/>
            <a:rect r="r" b="b" t="t" l="l"/>
            <a:pathLst>
              <a:path h="1480690" w="7270175">
                <a:moveTo>
                  <a:pt x="0" y="0"/>
                </a:moveTo>
                <a:lnTo>
                  <a:pt x="7270176" y="0"/>
                </a:lnTo>
                <a:lnTo>
                  <a:pt x="7270176" y="1480690"/>
                </a:lnTo>
                <a:lnTo>
                  <a:pt x="0" y="1480690"/>
                </a:lnTo>
                <a:lnTo>
                  <a:pt x="0" y="0"/>
                </a:lnTo>
                <a:close/>
              </a:path>
            </a:pathLst>
          </a:custGeom>
          <a:blipFill>
            <a:blip r:embed="rId2">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303020" y="2386584"/>
            <a:ext cx="411480" cy="411480"/>
            <a:chOff x="0" y="0"/>
            <a:chExt cx="548640" cy="548640"/>
          </a:xfrm>
        </p:grpSpPr>
        <p:sp>
          <p:nvSpPr>
            <p:cNvPr name="Freeform 7" id="7"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8"/>
              <a:stretch>
                <a:fillRect l="0" t="0" r="0" b="0"/>
              </a:stretch>
            </a:blipFill>
          </p:spPr>
        </p:sp>
      </p:grpSp>
      <p:grpSp>
        <p:nvGrpSpPr>
          <p:cNvPr name="Group 8" id="8"/>
          <p:cNvGrpSpPr/>
          <p:nvPr/>
        </p:nvGrpSpPr>
        <p:grpSpPr>
          <a:xfrm rot="0">
            <a:off x="1303020" y="3922776"/>
            <a:ext cx="411480" cy="411480"/>
            <a:chOff x="0" y="0"/>
            <a:chExt cx="548640" cy="548640"/>
          </a:xfrm>
        </p:grpSpPr>
        <p:sp>
          <p:nvSpPr>
            <p:cNvPr name="Freeform 9" id="9"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9"/>
              <a:stretch>
                <a:fillRect l="0" t="0" r="0" b="0"/>
              </a:stretch>
            </a:blipFill>
          </p:spPr>
        </p:sp>
      </p:grpSp>
      <p:grpSp>
        <p:nvGrpSpPr>
          <p:cNvPr name="Group 10" id="10"/>
          <p:cNvGrpSpPr/>
          <p:nvPr/>
        </p:nvGrpSpPr>
        <p:grpSpPr>
          <a:xfrm rot="0">
            <a:off x="1303020" y="5458968"/>
            <a:ext cx="411480" cy="411480"/>
            <a:chOff x="0" y="0"/>
            <a:chExt cx="548640" cy="548640"/>
          </a:xfrm>
        </p:grpSpPr>
        <p:sp>
          <p:nvSpPr>
            <p:cNvPr name="Freeform 11" id="11"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0"/>
              <a:stretch>
                <a:fillRect l="0" t="0" r="0" b="0"/>
              </a:stretch>
            </a:blipFill>
          </p:spPr>
        </p:sp>
      </p:grpSp>
      <p:grpSp>
        <p:nvGrpSpPr>
          <p:cNvPr name="Group 12" id="12"/>
          <p:cNvGrpSpPr/>
          <p:nvPr/>
        </p:nvGrpSpPr>
        <p:grpSpPr>
          <a:xfrm rot="0">
            <a:off x="1303020" y="6995160"/>
            <a:ext cx="411480" cy="411480"/>
            <a:chOff x="0" y="0"/>
            <a:chExt cx="548640" cy="548640"/>
          </a:xfrm>
        </p:grpSpPr>
        <p:sp>
          <p:nvSpPr>
            <p:cNvPr name="Freeform 13" id="13"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1"/>
              <a:stretch>
                <a:fillRect l="0" t="0" r="0" b="0"/>
              </a:stretch>
            </a:blipFill>
          </p:spPr>
        </p:sp>
      </p:grpSp>
      <p:grpSp>
        <p:nvGrpSpPr>
          <p:cNvPr name="Group 14" id="14"/>
          <p:cNvGrpSpPr/>
          <p:nvPr/>
        </p:nvGrpSpPr>
        <p:grpSpPr>
          <a:xfrm rot="0">
            <a:off x="8538210" y="6560820"/>
            <a:ext cx="66675" cy="66675"/>
            <a:chOff x="0" y="0"/>
            <a:chExt cx="66675" cy="66675"/>
          </a:xfrm>
        </p:grpSpPr>
        <p:sp>
          <p:nvSpPr>
            <p:cNvPr name="Freeform 15" id="15"/>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827"/>
                    <a:pt x="9779" y="9779"/>
                  </a:cubicBezTo>
                  <a:cubicBezTo>
                    <a:pt x="12954" y="6731"/>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0B2545"/>
            </a:solidFill>
          </p:spPr>
        </p:sp>
      </p:grpSp>
      <p:grpSp>
        <p:nvGrpSpPr>
          <p:cNvPr name="Group 16" id="16"/>
          <p:cNvGrpSpPr/>
          <p:nvPr/>
        </p:nvGrpSpPr>
        <p:grpSpPr>
          <a:xfrm rot="0">
            <a:off x="8538210" y="6865620"/>
            <a:ext cx="66675" cy="66675"/>
            <a:chOff x="0" y="0"/>
            <a:chExt cx="66675" cy="66675"/>
          </a:xfrm>
        </p:grpSpPr>
        <p:sp>
          <p:nvSpPr>
            <p:cNvPr name="Freeform 17" id="17"/>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827"/>
                    <a:pt x="9779" y="9779"/>
                  </a:cubicBezTo>
                  <a:cubicBezTo>
                    <a:pt x="12954" y="6731"/>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0B2545"/>
            </a:solidFill>
          </p:spPr>
        </p:sp>
      </p:grpSp>
      <p:grpSp>
        <p:nvGrpSpPr>
          <p:cNvPr name="Group 18" id="18"/>
          <p:cNvGrpSpPr/>
          <p:nvPr/>
        </p:nvGrpSpPr>
        <p:grpSpPr>
          <a:xfrm rot="0">
            <a:off x="8538210" y="7475220"/>
            <a:ext cx="66675" cy="66675"/>
            <a:chOff x="0" y="0"/>
            <a:chExt cx="66675" cy="66675"/>
          </a:xfrm>
        </p:grpSpPr>
        <p:sp>
          <p:nvSpPr>
            <p:cNvPr name="Freeform 19" id="19"/>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827"/>
                    <a:pt x="9779" y="9779"/>
                  </a:cubicBezTo>
                  <a:cubicBezTo>
                    <a:pt x="12954" y="6731"/>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0B2545"/>
            </a:solidFill>
          </p:spPr>
        </p:sp>
      </p:grpSp>
      <p:sp>
        <p:nvSpPr>
          <p:cNvPr name="Freeform 20" id="20"/>
          <p:cNvSpPr/>
          <p:nvPr/>
        </p:nvSpPr>
        <p:spPr>
          <a:xfrm flipH="false" flipV="false" rot="0">
            <a:off x="754694" y="8229914"/>
            <a:ext cx="16733396" cy="1233802"/>
          </a:xfrm>
          <a:custGeom>
            <a:avLst/>
            <a:gdLst/>
            <a:ahLst/>
            <a:cxnLst/>
            <a:rect r="r" b="b" t="t" l="l"/>
            <a:pathLst>
              <a:path h="1233802" w="16733396">
                <a:moveTo>
                  <a:pt x="0" y="0"/>
                </a:moveTo>
                <a:lnTo>
                  <a:pt x="16733396" y="0"/>
                </a:lnTo>
                <a:lnTo>
                  <a:pt x="16733396" y="1233802"/>
                </a:lnTo>
                <a:lnTo>
                  <a:pt x="0" y="12338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0">
            <a:off x="9027462" y="2327043"/>
            <a:ext cx="8455352" cy="558479"/>
          </a:xfrm>
          <a:custGeom>
            <a:avLst/>
            <a:gdLst/>
            <a:ahLst/>
            <a:cxnLst/>
            <a:rect r="r" b="b" t="t" l="l"/>
            <a:pathLst>
              <a:path h="558479" w="8455352">
                <a:moveTo>
                  <a:pt x="0" y="0"/>
                </a:moveTo>
                <a:lnTo>
                  <a:pt x="8455352" y="0"/>
                </a:lnTo>
                <a:lnTo>
                  <a:pt x="8455352" y="558480"/>
                </a:lnTo>
                <a:lnTo>
                  <a:pt x="0" y="55848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2" id="22"/>
          <p:cNvSpPr/>
          <p:nvPr/>
        </p:nvSpPr>
        <p:spPr>
          <a:xfrm flipH="false" flipV="false" rot="0">
            <a:off x="9027462" y="3363478"/>
            <a:ext cx="8455352" cy="2584904"/>
          </a:xfrm>
          <a:custGeom>
            <a:avLst/>
            <a:gdLst/>
            <a:ahLst/>
            <a:cxnLst/>
            <a:rect r="r" b="b" t="t" l="l"/>
            <a:pathLst>
              <a:path h="2584904" w="8455352">
                <a:moveTo>
                  <a:pt x="0" y="0"/>
                </a:moveTo>
                <a:lnTo>
                  <a:pt x="8455352" y="0"/>
                </a:lnTo>
                <a:lnTo>
                  <a:pt x="8455352" y="2584904"/>
                </a:lnTo>
                <a:lnTo>
                  <a:pt x="0" y="258490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3" id="23"/>
          <p:cNvGrpSpPr/>
          <p:nvPr/>
        </p:nvGrpSpPr>
        <p:grpSpPr>
          <a:xfrm rot="0">
            <a:off x="15784954" y="200911"/>
            <a:ext cx="2179863" cy="828675"/>
            <a:chOff x="0" y="0"/>
            <a:chExt cx="2906484" cy="1104900"/>
          </a:xfrm>
        </p:grpSpPr>
        <p:sp>
          <p:nvSpPr>
            <p:cNvPr name="Freeform 24" id="24"/>
            <p:cNvSpPr/>
            <p:nvPr/>
          </p:nvSpPr>
          <p:spPr>
            <a:xfrm flipH="false" flipV="false" rot="0">
              <a:off x="0" y="0"/>
              <a:ext cx="2906522" cy="1104900"/>
            </a:xfrm>
            <a:custGeom>
              <a:avLst/>
              <a:gdLst/>
              <a:ahLst/>
              <a:cxnLst/>
              <a:rect r="r" b="b" t="t" l="l"/>
              <a:pathLst>
                <a:path h="1104900" w="2906522">
                  <a:moveTo>
                    <a:pt x="0" y="0"/>
                  </a:moveTo>
                  <a:lnTo>
                    <a:pt x="2906522" y="0"/>
                  </a:lnTo>
                  <a:lnTo>
                    <a:pt x="2906522" y="1104900"/>
                  </a:lnTo>
                  <a:lnTo>
                    <a:pt x="0" y="1104900"/>
                  </a:lnTo>
                  <a:lnTo>
                    <a:pt x="0" y="0"/>
                  </a:lnTo>
                  <a:close/>
                </a:path>
              </a:pathLst>
            </a:custGeom>
            <a:blipFill>
              <a:blip r:embed="rId18"/>
              <a:stretch>
                <a:fillRect l="-3558" t="-4895" r="1" b="-4300"/>
              </a:stretch>
            </a:blipFill>
          </p:spPr>
        </p:sp>
      </p:grpSp>
      <p:grpSp>
        <p:nvGrpSpPr>
          <p:cNvPr name="Group 25" id="25"/>
          <p:cNvGrpSpPr/>
          <p:nvPr/>
        </p:nvGrpSpPr>
        <p:grpSpPr>
          <a:xfrm rot="0">
            <a:off x="754694" y="1851974"/>
            <a:ext cx="7268842" cy="1480690"/>
            <a:chOff x="0" y="0"/>
            <a:chExt cx="7268845" cy="1480693"/>
          </a:xfrm>
        </p:grpSpPr>
        <p:sp>
          <p:nvSpPr>
            <p:cNvPr name="Freeform 26" id="26"/>
            <p:cNvSpPr/>
            <p:nvPr/>
          </p:nvSpPr>
          <p:spPr>
            <a:xfrm flipH="false" flipV="false" rot="0">
              <a:off x="63500" y="63500"/>
              <a:ext cx="7141845" cy="1353693"/>
            </a:xfrm>
            <a:custGeom>
              <a:avLst/>
              <a:gdLst/>
              <a:ahLst/>
              <a:cxnLst/>
              <a:rect r="r" b="b" t="t" l="l"/>
              <a:pathLst>
                <a:path h="1353693" w="7141845">
                  <a:moveTo>
                    <a:pt x="0" y="1353693"/>
                  </a:moveTo>
                  <a:lnTo>
                    <a:pt x="7141845" y="1353693"/>
                  </a:lnTo>
                  <a:lnTo>
                    <a:pt x="7141845" y="0"/>
                  </a:lnTo>
                  <a:lnTo>
                    <a:pt x="0" y="0"/>
                  </a:lnTo>
                  <a:close/>
                </a:path>
              </a:pathLst>
            </a:custGeom>
            <a:solidFill>
              <a:srgbClr val="000000">
                <a:alpha val="0"/>
              </a:srgbClr>
            </a:solidFill>
          </p:spPr>
        </p:sp>
        <p:sp>
          <p:nvSpPr>
            <p:cNvPr name="Freeform 27" id="27"/>
            <p:cNvSpPr/>
            <p:nvPr/>
          </p:nvSpPr>
          <p:spPr>
            <a:xfrm flipH="false" flipV="false" rot="0">
              <a:off x="337820" y="324104"/>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28" id="28"/>
          <p:cNvGrpSpPr/>
          <p:nvPr/>
        </p:nvGrpSpPr>
        <p:grpSpPr>
          <a:xfrm rot="0">
            <a:off x="754694" y="3388166"/>
            <a:ext cx="7268842" cy="1480690"/>
            <a:chOff x="0" y="0"/>
            <a:chExt cx="7268845" cy="1480693"/>
          </a:xfrm>
        </p:grpSpPr>
        <p:sp>
          <p:nvSpPr>
            <p:cNvPr name="Freeform 29" id="29"/>
            <p:cNvSpPr/>
            <p:nvPr/>
          </p:nvSpPr>
          <p:spPr>
            <a:xfrm flipH="false" flipV="false" rot="0">
              <a:off x="63500" y="63500"/>
              <a:ext cx="7141845" cy="1353693"/>
            </a:xfrm>
            <a:custGeom>
              <a:avLst/>
              <a:gdLst/>
              <a:ahLst/>
              <a:cxnLst/>
              <a:rect r="r" b="b" t="t" l="l"/>
              <a:pathLst>
                <a:path h="1353693" w="7141845">
                  <a:moveTo>
                    <a:pt x="0" y="1353693"/>
                  </a:moveTo>
                  <a:lnTo>
                    <a:pt x="7141845" y="1353693"/>
                  </a:lnTo>
                  <a:lnTo>
                    <a:pt x="7141845" y="0"/>
                  </a:lnTo>
                  <a:lnTo>
                    <a:pt x="0" y="0"/>
                  </a:lnTo>
                  <a:close/>
                </a:path>
              </a:pathLst>
            </a:custGeom>
            <a:solidFill>
              <a:srgbClr val="000000">
                <a:alpha val="0"/>
              </a:srgbClr>
            </a:solidFill>
          </p:spPr>
        </p:sp>
        <p:sp>
          <p:nvSpPr>
            <p:cNvPr name="Freeform 30" id="30"/>
            <p:cNvSpPr/>
            <p:nvPr/>
          </p:nvSpPr>
          <p:spPr>
            <a:xfrm flipH="false" flipV="false" rot="0">
              <a:off x="337820" y="324104"/>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31" id="31"/>
          <p:cNvGrpSpPr/>
          <p:nvPr/>
        </p:nvGrpSpPr>
        <p:grpSpPr>
          <a:xfrm rot="0">
            <a:off x="754694" y="4924358"/>
            <a:ext cx="7268842" cy="1480690"/>
            <a:chOff x="0" y="0"/>
            <a:chExt cx="7268845" cy="1480693"/>
          </a:xfrm>
        </p:grpSpPr>
        <p:sp>
          <p:nvSpPr>
            <p:cNvPr name="Freeform 32" id="32"/>
            <p:cNvSpPr/>
            <p:nvPr/>
          </p:nvSpPr>
          <p:spPr>
            <a:xfrm flipH="false" flipV="false" rot="0">
              <a:off x="63500" y="63500"/>
              <a:ext cx="7141845" cy="1353693"/>
            </a:xfrm>
            <a:custGeom>
              <a:avLst/>
              <a:gdLst/>
              <a:ahLst/>
              <a:cxnLst/>
              <a:rect r="r" b="b" t="t" l="l"/>
              <a:pathLst>
                <a:path h="1353693" w="7141845">
                  <a:moveTo>
                    <a:pt x="0" y="1353693"/>
                  </a:moveTo>
                  <a:lnTo>
                    <a:pt x="7141845" y="1353693"/>
                  </a:lnTo>
                  <a:lnTo>
                    <a:pt x="7141845" y="0"/>
                  </a:lnTo>
                  <a:lnTo>
                    <a:pt x="0" y="0"/>
                  </a:lnTo>
                  <a:close/>
                </a:path>
              </a:pathLst>
            </a:custGeom>
            <a:solidFill>
              <a:srgbClr val="000000">
                <a:alpha val="0"/>
              </a:srgbClr>
            </a:solidFill>
          </p:spPr>
        </p:sp>
        <p:sp>
          <p:nvSpPr>
            <p:cNvPr name="Freeform 33" id="33"/>
            <p:cNvSpPr/>
            <p:nvPr/>
          </p:nvSpPr>
          <p:spPr>
            <a:xfrm flipH="false" flipV="false" rot="0">
              <a:off x="337820" y="324104"/>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34" id="34"/>
          <p:cNvGrpSpPr/>
          <p:nvPr/>
        </p:nvGrpSpPr>
        <p:grpSpPr>
          <a:xfrm rot="0">
            <a:off x="754694" y="6460550"/>
            <a:ext cx="7268842" cy="1480690"/>
            <a:chOff x="0" y="0"/>
            <a:chExt cx="7268845" cy="1480693"/>
          </a:xfrm>
        </p:grpSpPr>
        <p:sp>
          <p:nvSpPr>
            <p:cNvPr name="Freeform 35" id="35"/>
            <p:cNvSpPr/>
            <p:nvPr/>
          </p:nvSpPr>
          <p:spPr>
            <a:xfrm flipH="false" flipV="false" rot="0">
              <a:off x="63500" y="63500"/>
              <a:ext cx="7141845" cy="1353693"/>
            </a:xfrm>
            <a:custGeom>
              <a:avLst/>
              <a:gdLst/>
              <a:ahLst/>
              <a:cxnLst/>
              <a:rect r="r" b="b" t="t" l="l"/>
              <a:pathLst>
                <a:path h="1353693" w="7141845">
                  <a:moveTo>
                    <a:pt x="0" y="1353693"/>
                  </a:moveTo>
                  <a:lnTo>
                    <a:pt x="7141845" y="1353693"/>
                  </a:lnTo>
                  <a:lnTo>
                    <a:pt x="7141845" y="0"/>
                  </a:lnTo>
                  <a:lnTo>
                    <a:pt x="0" y="0"/>
                  </a:lnTo>
                  <a:close/>
                </a:path>
              </a:pathLst>
            </a:custGeom>
            <a:solidFill>
              <a:srgbClr val="000000">
                <a:alpha val="0"/>
              </a:srgbClr>
            </a:solidFill>
          </p:spPr>
        </p:sp>
        <p:sp>
          <p:nvSpPr>
            <p:cNvPr name="Freeform 36" id="36"/>
            <p:cNvSpPr/>
            <p:nvPr/>
          </p:nvSpPr>
          <p:spPr>
            <a:xfrm flipH="false" flipV="false" rot="0">
              <a:off x="337820" y="324104"/>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37" id="37"/>
          <p:cNvGrpSpPr/>
          <p:nvPr/>
        </p:nvGrpSpPr>
        <p:grpSpPr>
          <a:xfrm rot="0">
            <a:off x="818198" y="8293418"/>
            <a:ext cx="16605885" cy="1106805"/>
            <a:chOff x="0" y="0"/>
            <a:chExt cx="16605885" cy="1106805"/>
          </a:xfrm>
        </p:grpSpPr>
        <p:sp>
          <p:nvSpPr>
            <p:cNvPr name="Freeform 38" id="38"/>
            <p:cNvSpPr/>
            <p:nvPr/>
          </p:nvSpPr>
          <p:spPr>
            <a:xfrm flipH="false" flipV="false" rot="0">
              <a:off x="0" y="0"/>
              <a:ext cx="16605884" cy="1106805"/>
            </a:xfrm>
            <a:custGeom>
              <a:avLst/>
              <a:gdLst/>
              <a:ahLst/>
              <a:cxnLst/>
              <a:rect r="r" b="b" t="t" l="l"/>
              <a:pathLst>
                <a:path h="1106805" w="16605884">
                  <a:moveTo>
                    <a:pt x="0" y="1106805"/>
                  </a:moveTo>
                  <a:lnTo>
                    <a:pt x="16605884" y="1106805"/>
                  </a:lnTo>
                  <a:lnTo>
                    <a:pt x="16605884" y="0"/>
                  </a:lnTo>
                  <a:lnTo>
                    <a:pt x="0" y="0"/>
                  </a:lnTo>
                  <a:close/>
                </a:path>
              </a:pathLst>
            </a:custGeom>
            <a:solidFill>
              <a:srgbClr val="000000">
                <a:alpha val="0"/>
              </a:srgbClr>
            </a:solidFill>
          </p:spPr>
        </p:sp>
      </p:grpSp>
      <p:grpSp>
        <p:nvGrpSpPr>
          <p:cNvPr name="Group 39" id="39"/>
          <p:cNvGrpSpPr/>
          <p:nvPr/>
        </p:nvGrpSpPr>
        <p:grpSpPr>
          <a:xfrm rot="0">
            <a:off x="8366760" y="1851660"/>
            <a:ext cx="9052560" cy="4389120"/>
            <a:chOff x="0" y="0"/>
            <a:chExt cx="9052560" cy="4389120"/>
          </a:xfrm>
        </p:grpSpPr>
        <p:sp>
          <p:nvSpPr>
            <p:cNvPr name="Freeform 40" id="40"/>
            <p:cNvSpPr/>
            <p:nvPr/>
          </p:nvSpPr>
          <p:spPr>
            <a:xfrm flipH="false" flipV="false" rot="0">
              <a:off x="0" y="0"/>
              <a:ext cx="9052560" cy="4389120"/>
            </a:xfrm>
            <a:custGeom>
              <a:avLst/>
              <a:gdLst/>
              <a:ahLst/>
              <a:cxnLst/>
              <a:rect r="r" b="b" t="t" l="l"/>
              <a:pathLst>
                <a:path h="4389120" w="9052560">
                  <a:moveTo>
                    <a:pt x="0" y="4389120"/>
                  </a:moveTo>
                  <a:lnTo>
                    <a:pt x="9052560" y="4389120"/>
                  </a:lnTo>
                  <a:lnTo>
                    <a:pt x="9052560" y="0"/>
                  </a:lnTo>
                  <a:lnTo>
                    <a:pt x="0" y="0"/>
                  </a:lnTo>
                  <a:close/>
                </a:path>
              </a:pathLst>
            </a:custGeom>
            <a:solidFill>
              <a:srgbClr val="000000">
                <a:alpha val="0"/>
              </a:srgbClr>
            </a:solidFill>
          </p:spPr>
        </p:sp>
      </p:grpSp>
      <p:sp>
        <p:nvSpPr>
          <p:cNvPr name="TextBox 41" id="41"/>
          <p:cNvSpPr txBox="true"/>
          <p:nvPr/>
        </p:nvSpPr>
        <p:spPr>
          <a:xfrm rot="0">
            <a:off x="822960" y="9673876"/>
            <a:ext cx="2720912"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AI Patient Risk Assessment System</a:t>
            </a:r>
          </a:p>
        </p:txBody>
      </p:sp>
      <p:sp>
        <p:nvSpPr>
          <p:cNvPr name="TextBox 42" id="42"/>
          <p:cNvSpPr txBox="true"/>
          <p:nvPr/>
        </p:nvSpPr>
        <p:spPr>
          <a:xfrm rot="0">
            <a:off x="17272397" y="9624346"/>
            <a:ext cx="98479"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8</a:t>
            </a:r>
          </a:p>
        </p:txBody>
      </p:sp>
      <p:sp>
        <p:nvSpPr>
          <p:cNvPr name="TextBox 43" id="43"/>
          <p:cNvSpPr txBox="true"/>
          <p:nvPr/>
        </p:nvSpPr>
        <p:spPr>
          <a:xfrm rot="0">
            <a:off x="822960" y="598456"/>
            <a:ext cx="9196330" cy="832085"/>
          </a:xfrm>
          <a:prstGeom prst="rect">
            <a:avLst/>
          </a:prstGeom>
        </p:spPr>
        <p:txBody>
          <a:bodyPr anchor="t" rtlCol="false" tIns="0" lIns="0" bIns="0" rIns="0">
            <a:spAutoFit/>
          </a:bodyPr>
          <a:lstStyle/>
          <a:p>
            <a:pPr algn="l">
              <a:lnSpc>
                <a:spcPts val="6719"/>
              </a:lnSpc>
            </a:pPr>
            <a:r>
              <a:rPr lang="en-US" b="true" sz="4800">
                <a:solidFill>
                  <a:srgbClr val="0B2545"/>
                </a:solidFill>
                <a:latin typeface="Cambria Bold"/>
                <a:ea typeface="Cambria Bold"/>
                <a:cs typeface="Cambria Bold"/>
                <a:sym typeface="Cambria Bold"/>
              </a:rPr>
              <a:t>Model Development and Results</a:t>
            </a:r>
          </a:p>
        </p:txBody>
      </p:sp>
      <p:sp>
        <p:nvSpPr>
          <p:cNvPr name="TextBox 44" id="44"/>
          <p:cNvSpPr txBox="true"/>
          <p:nvPr/>
        </p:nvSpPr>
        <p:spPr>
          <a:xfrm rot="0">
            <a:off x="2194560" y="3758460"/>
            <a:ext cx="1225344" cy="423862"/>
          </a:xfrm>
          <a:prstGeom prst="rect">
            <a:avLst/>
          </a:prstGeom>
        </p:spPr>
        <p:txBody>
          <a:bodyPr anchor="t" rtlCol="false" tIns="0" lIns="0" bIns="0" rIns="0">
            <a:spAutoFit/>
          </a:bodyPr>
          <a:lstStyle/>
          <a:p>
            <a:pPr algn="l">
              <a:lnSpc>
                <a:spcPts val="3149"/>
              </a:lnSpc>
            </a:pPr>
            <a:r>
              <a:rPr lang="en-US" b="true" sz="2250">
                <a:solidFill>
                  <a:srgbClr val="0B2545"/>
                </a:solidFill>
                <a:latin typeface="Calibri (MS) Bold"/>
                <a:ea typeface="Calibri (MS) Bold"/>
                <a:cs typeface="Calibri (MS) Bold"/>
                <a:sym typeface="Calibri (MS) Bold"/>
              </a:rPr>
              <a:t>Multiclass</a:t>
            </a:r>
          </a:p>
        </p:txBody>
      </p:sp>
      <p:sp>
        <p:nvSpPr>
          <p:cNvPr name="TextBox 45" id="45"/>
          <p:cNvSpPr txBox="true"/>
          <p:nvPr/>
        </p:nvSpPr>
        <p:spPr>
          <a:xfrm rot="0">
            <a:off x="2554186" y="4098636"/>
            <a:ext cx="54912" cy="350044"/>
          </a:xfrm>
          <a:prstGeom prst="rect">
            <a:avLst/>
          </a:prstGeom>
        </p:spPr>
        <p:txBody>
          <a:bodyPr anchor="t" rtlCol="false" tIns="0" lIns="0" bIns="0" rIns="0">
            <a:spAutoFit/>
          </a:bodyPr>
          <a:lstStyle/>
          <a:p>
            <a:pPr algn="l">
              <a:lnSpc>
                <a:spcPts val="2625"/>
              </a:lnSpc>
            </a:pPr>
            <a:r>
              <a:rPr lang="en-US" sz="1875">
                <a:solidFill>
                  <a:srgbClr val="5A6B82"/>
                </a:solidFill>
                <a:latin typeface="Calibri (MS)"/>
                <a:ea typeface="Calibri (MS)"/>
                <a:cs typeface="Calibri (MS)"/>
                <a:sym typeface="Calibri (MS)"/>
              </a:rPr>
              <a:t> </a:t>
            </a:r>
          </a:p>
        </p:txBody>
      </p:sp>
      <p:sp>
        <p:nvSpPr>
          <p:cNvPr name="TextBox 46" id="46"/>
          <p:cNvSpPr txBox="true"/>
          <p:nvPr/>
        </p:nvSpPr>
        <p:spPr>
          <a:xfrm rot="0">
            <a:off x="2194560" y="2222268"/>
            <a:ext cx="1838592" cy="423862"/>
          </a:xfrm>
          <a:prstGeom prst="rect">
            <a:avLst/>
          </a:prstGeom>
        </p:spPr>
        <p:txBody>
          <a:bodyPr anchor="t" rtlCol="false" tIns="0" lIns="0" bIns="0" rIns="0">
            <a:spAutoFit/>
          </a:bodyPr>
          <a:lstStyle/>
          <a:p>
            <a:pPr algn="l">
              <a:lnSpc>
                <a:spcPts val="3149"/>
              </a:lnSpc>
            </a:pPr>
            <a:r>
              <a:rPr lang="en-US" b="true" sz="2250">
                <a:solidFill>
                  <a:srgbClr val="0B2545"/>
                </a:solidFill>
                <a:latin typeface="Calibri (MS) Bold"/>
                <a:ea typeface="Calibri (MS) Bold"/>
                <a:cs typeface="Calibri (MS) Bold"/>
                <a:sym typeface="Calibri (MS) Bold"/>
              </a:rPr>
              <a:t>Random Forest</a:t>
            </a:r>
          </a:p>
        </p:txBody>
      </p:sp>
      <p:sp>
        <p:nvSpPr>
          <p:cNvPr name="TextBox 47" id="47"/>
          <p:cNvSpPr txBox="true"/>
          <p:nvPr/>
        </p:nvSpPr>
        <p:spPr>
          <a:xfrm rot="0">
            <a:off x="2745105" y="2562444"/>
            <a:ext cx="54912" cy="350044"/>
          </a:xfrm>
          <a:prstGeom prst="rect">
            <a:avLst/>
          </a:prstGeom>
        </p:spPr>
        <p:txBody>
          <a:bodyPr anchor="t" rtlCol="false" tIns="0" lIns="0" bIns="0" rIns="0">
            <a:spAutoFit/>
          </a:bodyPr>
          <a:lstStyle/>
          <a:p>
            <a:pPr algn="l">
              <a:lnSpc>
                <a:spcPts val="2625"/>
              </a:lnSpc>
            </a:pPr>
            <a:r>
              <a:rPr lang="en-US" sz="1875">
                <a:solidFill>
                  <a:srgbClr val="5A6B82"/>
                </a:solidFill>
                <a:latin typeface="Calibri (MS)"/>
                <a:ea typeface="Calibri (MS)"/>
                <a:cs typeface="Calibri (MS)"/>
                <a:sym typeface="Calibri (MS)"/>
              </a:rPr>
              <a:t> </a:t>
            </a:r>
          </a:p>
        </p:txBody>
      </p:sp>
      <p:sp>
        <p:nvSpPr>
          <p:cNvPr name="TextBox 48" id="48"/>
          <p:cNvSpPr txBox="true"/>
          <p:nvPr/>
        </p:nvSpPr>
        <p:spPr>
          <a:xfrm rot="0">
            <a:off x="2194560" y="6830844"/>
            <a:ext cx="2087080" cy="423862"/>
          </a:xfrm>
          <a:prstGeom prst="rect">
            <a:avLst/>
          </a:prstGeom>
        </p:spPr>
        <p:txBody>
          <a:bodyPr anchor="t" rtlCol="false" tIns="0" lIns="0" bIns="0" rIns="0">
            <a:spAutoFit/>
          </a:bodyPr>
          <a:lstStyle/>
          <a:p>
            <a:pPr algn="l">
              <a:lnSpc>
                <a:spcPts val="3149"/>
              </a:lnSpc>
            </a:pPr>
            <a:r>
              <a:rPr lang="en-US" b="true" sz="2250">
                <a:solidFill>
                  <a:srgbClr val="0B2545"/>
                </a:solidFill>
                <a:latin typeface="Calibri (MS) Bold"/>
                <a:ea typeface="Calibri (MS) Bold"/>
                <a:cs typeface="Calibri (MS) Bold"/>
                <a:sym typeface="Calibri (MS) Bold"/>
              </a:rPr>
              <a:t>Feature selection</a:t>
            </a:r>
          </a:p>
        </p:txBody>
      </p:sp>
      <p:sp>
        <p:nvSpPr>
          <p:cNvPr name="TextBox 49" id="49"/>
          <p:cNvSpPr txBox="true"/>
          <p:nvPr/>
        </p:nvSpPr>
        <p:spPr>
          <a:xfrm rot="0">
            <a:off x="2435943" y="7171020"/>
            <a:ext cx="54912" cy="350044"/>
          </a:xfrm>
          <a:prstGeom prst="rect">
            <a:avLst/>
          </a:prstGeom>
        </p:spPr>
        <p:txBody>
          <a:bodyPr anchor="t" rtlCol="false" tIns="0" lIns="0" bIns="0" rIns="0">
            <a:spAutoFit/>
          </a:bodyPr>
          <a:lstStyle/>
          <a:p>
            <a:pPr algn="l">
              <a:lnSpc>
                <a:spcPts val="2625"/>
              </a:lnSpc>
            </a:pPr>
            <a:r>
              <a:rPr lang="en-US" sz="1875">
                <a:solidFill>
                  <a:srgbClr val="5A6B82"/>
                </a:solidFill>
                <a:latin typeface="Calibri (MS)"/>
                <a:ea typeface="Calibri (MS)"/>
                <a:cs typeface="Calibri (MS)"/>
                <a:sym typeface="Calibri (MS)"/>
              </a:rPr>
              <a:t> </a:t>
            </a:r>
          </a:p>
        </p:txBody>
      </p:sp>
      <p:sp>
        <p:nvSpPr>
          <p:cNvPr name="TextBox 50" id="50"/>
          <p:cNvSpPr txBox="true"/>
          <p:nvPr/>
        </p:nvSpPr>
        <p:spPr>
          <a:xfrm rot="0">
            <a:off x="2194560" y="5294652"/>
            <a:ext cx="2544337" cy="423862"/>
          </a:xfrm>
          <a:prstGeom prst="rect">
            <a:avLst/>
          </a:prstGeom>
        </p:spPr>
        <p:txBody>
          <a:bodyPr anchor="t" rtlCol="false" tIns="0" lIns="0" bIns="0" rIns="0">
            <a:spAutoFit/>
          </a:bodyPr>
          <a:lstStyle/>
          <a:p>
            <a:pPr algn="l">
              <a:lnSpc>
                <a:spcPts val="3149"/>
              </a:lnSpc>
            </a:pPr>
            <a:r>
              <a:rPr lang="en-US" b="true" sz="2250">
                <a:solidFill>
                  <a:srgbClr val="0B2545"/>
                </a:solidFill>
                <a:latin typeface="Calibri (MS) Bold"/>
                <a:ea typeface="Calibri (MS) Bold"/>
                <a:cs typeface="Calibri (MS) Bold"/>
                <a:sym typeface="Calibri (MS) Bold"/>
              </a:rPr>
              <a:t>80/20 split, stratified</a:t>
            </a:r>
          </a:p>
        </p:txBody>
      </p:sp>
      <p:sp>
        <p:nvSpPr>
          <p:cNvPr name="TextBox 51" id="51"/>
          <p:cNvSpPr txBox="true"/>
          <p:nvPr/>
        </p:nvSpPr>
        <p:spPr>
          <a:xfrm rot="0">
            <a:off x="2601973" y="5634828"/>
            <a:ext cx="54912" cy="350044"/>
          </a:xfrm>
          <a:prstGeom prst="rect">
            <a:avLst/>
          </a:prstGeom>
        </p:spPr>
        <p:txBody>
          <a:bodyPr anchor="t" rtlCol="false" tIns="0" lIns="0" bIns="0" rIns="0">
            <a:spAutoFit/>
          </a:bodyPr>
          <a:lstStyle/>
          <a:p>
            <a:pPr algn="l">
              <a:lnSpc>
                <a:spcPts val="2625"/>
              </a:lnSpc>
            </a:pPr>
            <a:r>
              <a:rPr lang="en-US" sz="1875">
                <a:solidFill>
                  <a:srgbClr val="5A6B82"/>
                </a:solidFill>
                <a:latin typeface="Calibri (MS)"/>
                <a:ea typeface="Calibri (MS)"/>
                <a:cs typeface="Calibri (MS)"/>
                <a:sym typeface="Calibri (MS)"/>
              </a:rPr>
              <a:t> </a:t>
            </a:r>
          </a:p>
        </p:txBody>
      </p:sp>
      <p:sp>
        <p:nvSpPr>
          <p:cNvPr name="TextBox 52" id="52"/>
          <p:cNvSpPr txBox="true"/>
          <p:nvPr/>
        </p:nvSpPr>
        <p:spPr>
          <a:xfrm rot="0">
            <a:off x="2194560" y="5634828"/>
            <a:ext cx="4681633" cy="350044"/>
          </a:xfrm>
          <a:prstGeom prst="rect">
            <a:avLst/>
          </a:prstGeom>
        </p:spPr>
        <p:txBody>
          <a:bodyPr anchor="t" rtlCol="false" tIns="0" lIns="0" bIns="0" rIns="0">
            <a:spAutoFit/>
          </a:bodyPr>
          <a:lstStyle/>
          <a:p>
            <a:pPr algn="l">
              <a:lnSpc>
                <a:spcPts val="2625"/>
              </a:lnSpc>
            </a:pPr>
            <a:r>
              <a:rPr lang="en-US" sz="1875">
                <a:solidFill>
                  <a:srgbClr val="5A6B82"/>
                </a:solidFill>
                <a:latin typeface="Calibri (MS)"/>
                <a:ea typeface="Calibri (MS)"/>
                <a:cs typeface="Calibri (MS)"/>
                <a:sym typeface="Calibri (MS)"/>
              </a:rPr>
              <a:t>Testonunseendata;eachclass keeps its share.</a:t>
            </a:r>
          </a:p>
        </p:txBody>
      </p:sp>
      <p:sp>
        <p:nvSpPr>
          <p:cNvPr name="TextBox 53" id="53"/>
          <p:cNvSpPr txBox="true"/>
          <p:nvPr/>
        </p:nvSpPr>
        <p:spPr>
          <a:xfrm rot="0">
            <a:off x="2194560" y="4098636"/>
            <a:ext cx="4832966" cy="350044"/>
          </a:xfrm>
          <a:prstGeom prst="rect">
            <a:avLst/>
          </a:prstGeom>
        </p:spPr>
        <p:txBody>
          <a:bodyPr anchor="t" rtlCol="false" tIns="0" lIns="0" bIns="0" rIns="0">
            <a:spAutoFit/>
          </a:bodyPr>
          <a:lstStyle/>
          <a:p>
            <a:pPr algn="l">
              <a:lnSpc>
                <a:spcPts val="2625"/>
              </a:lnSpc>
            </a:pPr>
            <a:r>
              <a:rPr lang="en-US" sz="1875">
                <a:solidFill>
                  <a:srgbClr val="5A6B82"/>
                </a:solidFill>
                <a:latin typeface="Calibri (MS)"/>
                <a:ea typeface="Calibri (MS)"/>
                <a:cs typeface="Calibri (MS)"/>
                <a:sym typeface="Calibri (MS)"/>
              </a:rPr>
              <a:t>Themodelpicks 1 of 8 classes, not just yes or no.</a:t>
            </a:r>
          </a:p>
        </p:txBody>
      </p:sp>
      <p:sp>
        <p:nvSpPr>
          <p:cNvPr name="TextBox 54" id="54"/>
          <p:cNvSpPr txBox="true"/>
          <p:nvPr/>
        </p:nvSpPr>
        <p:spPr>
          <a:xfrm rot="0">
            <a:off x="2194560" y="7171020"/>
            <a:ext cx="5116525" cy="350044"/>
          </a:xfrm>
          <a:prstGeom prst="rect">
            <a:avLst/>
          </a:prstGeom>
        </p:spPr>
        <p:txBody>
          <a:bodyPr anchor="t" rtlCol="false" tIns="0" lIns="0" bIns="0" rIns="0">
            <a:spAutoFit/>
          </a:bodyPr>
          <a:lstStyle/>
          <a:p>
            <a:pPr algn="l">
              <a:lnSpc>
                <a:spcPts val="2625"/>
              </a:lnSpc>
            </a:pPr>
            <a:r>
              <a:rPr lang="en-US" sz="1875">
                <a:solidFill>
                  <a:srgbClr val="5A6B82"/>
                </a:solidFill>
                <a:latin typeface="Calibri (MS)"/>
                <a:ea typeface="Calibri (MS)"/>
                <a:cs typeface="Calibri (MS)"/>
                <a:sym typeface="Calibri (MS)"/>
              </a:rPr>
              <a:t>41featuresreducedto 15. Model saved with Joblib.</a:t>
            </a:r>
          </a:p>
        </p:txBody>
      </p:sp>
      <p:sp>
        <p:nvSpPr>
          <p:cNvPr name="TextBox 55" id="55"/>
          <p:cNvSpPr txBox="true"/>
          <p:nvPr/>
        </p:nvSpPr>
        <p:spPr>
          <a:xfrm rot="0">
            <a:off x="2194560" y="2562444"/>
            <a:ext cx="5215318" cy="350044"/>
          </a:xfrm>
          <a:prstGeom prst="rect">
            <a:avLst/>
          </a:prstGeom>
        </p:spPr>
        <p:txBody>
          <a:bodyPr anchor="t" rtlCol="false" tIns="0" lIns="0" bIns="0" rIns="0">
            <a:spAutoFit/>
          </a:bodyPr>
          <a:lstStyle/>
          <a:p>
            <a:pPr algn="l">
              <a:lnSpc>
                <a:spcPts val="2625"/>
              </a:lnSpc>
            </a:pPr>
            <a:r>
              <a:rPr lang="en-US" sz="1875">
                <a:solidFill>
                  <a:srgbClr val="5A6B82"/>
                </a:solidFill>
                <a:latin typeface="Calibri (MS)"/>
                <a:ea typeface="Calibri (MS)"/>
                <a:cs typeface="Calibri (MS)"/>
                <a:sym typeface="Calibri (MS)"/>
              </a:rPr>
              <a:t>Manydecisiontrees vote; the most-voted class wins.</a:t>
            </a:r>
          </a:p>
        </p:txBody>
      </p:sp>
      <p:sp>
        <p:nvSpPr>
          <p:cNvPr name="TextBox 56" id="56"/>
          <p:cNvSpPr txBox="true"/>
          <p:nvPr/>
        </p:nvSpPr>
        <p:spPr>
          <a:xfrm rot="0">
            <a:off x="11573999" y="1947815"/>
            <a:ext cx="3045009" cy="326736"/>
          </a:xfrm>
          <a:prstGeom prst="rect">
            <a:avLst/>
          </a:prstGeom>
        </p:spPr>
        <p:txBody>
          <a:bodyPr anchor="t" rtlCol="false" tIns="0" lIns="0" bIns="0" rIns="0">
            <a:spAutoFit/>
          </a:bodyPr>
          <a:lstStyle/>
          <a:p>
            <a:pPr algn="l">
              <a:lnSpc>
                <a:spcPts val="2520"/>
              </a:lnSpc>
            </a:pPr>
            <a:r>
              <a:rPr lang="en-US" sz="1800">
                <a:solidFill>
                  <a:srgbClr val="000000"/>
                </a:solidFill>
                <a:latin typeface="Arimo"/>
                <a:ea typeface="Arimo"/>
                <a:cs typeface="Arimo"/>
                <a:sym typeface="Arimo"/>
              </a:rPr>
              <a:t>Test-set metrics (scale 0 to 1)</a:t>
            </a:r>
          </a:p>
        </p:txBody>
      </p:sp>
      <p:sp>
        <p:nvSpPr>
          <p:cNvPr name="TextBox 57" id="57"/>
          <p:cNvSpPr txBox="true"/>
          <p:nvPr/>
        </p:nvSpPr>
        <p:spPr>
          <a:xfrm rot="0">
            <a:off x="8759561" y="2707538"/>
            <a:ext cx="216094" cy="217827"/>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1.0</a:t>
            </a:r>
          </a:p>
        </p:txBody>
      </p:sp>
      <p:sp>
        <p:nvSpPr>
          <p:cNvPr name="TextBox 58" id="58"/>
          <p:cNvSpPr txBox="true"/>
          <p:nvPr/>
        </p:nvSpPr>
        <p:spPr>
          <a:xfrm rot="0">
            <a:off x="8759561" y="3322015"/>
            <a:ext cx="216094" cy="217827"/>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0.8</a:t>
            </a:r>
          </a:p>
        </p:txBody>
      </p:sp>
      <p:sp>
        <p:nvSpPr>
          <p:cNvPr name="TextBox 59" id="59"/>
          <p:cNvSpPr txBox="true"/>
          <p:nvPr/>
        </p:nvSpPr>
        <p:spPr>
          <a:xfrm rot="0">
            <a:off x="8759561" y="3936492"/>
            <a:ext cx="216094" cy="217827"/>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0.6</a:t>
            </a:r>
          </a:p>
        </p:txBody>
      </p:sp>
      <p:sp>
        <p:nvSpPr>
          <p:cNvPr name="TextBox 60" id="60"/>
          <p:cNvSpPr txBox="true"/>
          <p:nvPr/>
        </p:nvSpPr>
        <p:spPr>
          <a:xfrm rot="0">
            <a:off x="8759561" y="4550969"/>
            <a:ext cx="216094" cy="217827"/>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0.4</a:t>
            </a:r>
          </a:p>
        </p:txBody>
      </p:sp>
      <p:sp>
        <p:nvSpPr>
          <p:cNvPr name="TextBox 61" id="61"/>
          <p:cNvSpPr txBox="true"/>
          <p:nvPr/>
        </p:nvSpPr>
        <p:spPr>
          <a:xfrm rot="0">
            <a:off x="8759561" y="5165446"/>
            <a:ext cx="216094" cy="217827"/>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0.2</a:t>
            </a:r>
          </a:p>
        </p:txBody>
      </p:sp>
      <p:sp>
        <p:nvSpPr>
          <p:cNvPr name="TextBox 62" id="62"/>
          <p:cNvSpPr txBox="true"/>
          <p:nvPr/>
        </p:nvSpPr>
        <p:spPr>
          <a:xfrm rot="0">
            <a:off x="8886663" y="5779922"/>
            <a:ext cx="86449" cy="217827"/>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0</a:t>
            </a:r>
          </a:p>
        </p:txBody>
      </p:sp>
      <p:sp>
        <p:nvSpPr>
          <p:cNvPr name="TextBox 63" id="63"/>
          <p:cNvSpPr txBox="true"/>
          <p:nvPr/>
        </p:nvSpPr>
        <p:spPr>
          <a:xfrm rot="0">
            <a:off x="9549060" y="3513887"/>
            <a:ext cx="216094" cy="217827"/>
          </a:xfrm>
          <a:prstGeom prst="rect">
            <a:avLst/>
          </a:prstGeom>
        </p:spPr>
        <p:txBody>
          <a:bodyPr anchor="t" rtlCol="false" tIns="0" lIns="0" bIns="0" rIns="0">
            <a:spAutoFit/>
          </a:bodyPr>
          <a:lstStyle/>
          <a:p>
            <a:pPr algn="l">
              <a:lnSpc>
                <a:spcPts val="1679"/>
              </a:lnSpc>
            </a:pPr>
            <a:r>
              <a:rPr lang="en-US" sz="1200">
                <a:solidFill>
                  <a:srgbClr val="FFFFFF"/>
                </a:solidFill>
                <a:latin typeface="Arimo"/>
                <a:ea typeface="Arimo"/>
                <a:cs typeface="Arimo"/>
                <a:sym typeface="Arimo"/>
              </a:rPr>
              <a:t>0.8</a:t>
            </a:r>
          </a:p>
        </p:txBody>
      </p:sp>
      <p:sp>
        <p:nvSpPr>
          <p:cNvPr name="TextBox 64" id="64"/>
          <p:cNvSpPr txBox="true"/>
          <p:nvPr/>
        </p:nvSpPr>
        <p:spPr>
          <a:xfrm rot="0">
            <a:off x="10138753" y="5913272"/>
            <a:ext cx="216094" cy="217827"/>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1.0</a:t>
            </a:r>
          </a:p>
        </p:txBody>
      </p:sp>
      <p:sp>
        <p:nvSpPr>
          <p:cNvPr name="TextBox 65" id="65"/>
          <p:cNvSpPr txBox="true"/>
          <p:nvPr/>
        </p:nvSpPr>
        <p:spPr>
          <a:xfrm rot="0">
            <a:off x="10737752" y="3511506"/>
            <a:ext cx="216094" cy="217827"/>
          </a:xfrm>
          <a:prstGeom prst="rect">
            <a:avLst/>
          </a:prstGeom>
        </p:spPr>
        <p:txBody>
          <a:bodyPr anchor="t" rtlCol="false" tIns="0" lIns="0" bIns="0" rIns="0">
            <a:spAutoFit/>
          </a:bodyPr>
          <a:lstStyle/>
          <a:p>
            <a:pPr algn="l">
              <a:lnSpc>
                <a:spcPts val="1679"/>
              </a:lnSpc>
            </a:pPr>
            <a:r>
              <a:rPr lang="en-US" sz="1200">
                <a:solidFill>
                  <a:srgbClr val="FFFFFF"/>
                </a:solidFill>
                <a:latin typeface="Arimo"/>
                <a:ea typeface="Arimo"/>
                <a:cs typeface="Arimo"/>
                <a:sym typeface="Arimo"/>
              </a:rPr>
              <a:t>0.8</a:t>
            </a:r>
          </a:p>
        </p:txBody>
      </p:sp>
      <p:sp>
        <p:nvSpPr>
          <p:cNvPr name="TextBox 66" id="66"/>
          <p:cNvSpPr txBox="true"/>
          <p:nvPr/>
        </p:nvSpPr>
        <p:spPr>
          <a:xfrm rot="0">
            <a:off x="12554198" y="4757052"/>
            <a:ext cx="216094" cy="217827"/>
          </a:xfrm>
          <a:prstGeom prst="rect">
            <a:avLst/>
          </a:prstGeom>
        </p:spPr>
        <p:txBody>
          <a:bodyPr anchor="t" rtlCol="false" tIns="0" lIns="0" bIns="0" rIns="0">
            <a:spAutoFit/>
          </a:bodyPr>
          <a:lstStyle/>
          <a:p>
            <a:pPr algn="l">
              <a:lnSpc>
                <a:spcPts val="1679"/>
              </a:lnSpc>
            </a:pPr>
            <a:r>
              <a:rPr lang="en-US" sz="1200">
                <a:solidFill>
                  <a:srgbClr val="FFFFFF"/>
                </a:solidFill>
                <a:latin typeface="Arimo"/>
                <a:ea typeface="Arimo"/>
                <a:cs typeface="Arimo"/>
                <a:sym typeface="Arimo"/>
              </a:rPr>
              <a:t>0.4</a:t>
            </a:r>
          </a:p>
        </p:txBody>
      </p:sp>
      <p:sp>
        <p:nvSpPr>
          <p:cNvPr name="TextBox 67" id="67"/>
          <p:cNvSpPr txBox="true"/>
          <p:nvPr/>
        </p:nvSpPr>
        <p:spPr>
          <a:xfrm rot="0">
            <a:off x="11657733" y="2433218"/>
            <a:ext cx="1175194" cy="217827"/>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15-feature model</a:t>
            </a:r>
          </a:p>
        </p:txBody>
      </p:sp>
      <p:sp>
        <p:nvSpPr>
          <p:cNvPr name="TextBox 68" id="68"/>
          <p:cNvSpPr txBox="true"/>
          <p:nvPr/>
        </p:nvSpPr>
        <p:spPr>
          <a:xfrm rot="0">
            <a:off x="13148691" y="5913272"/>
            <a:ext cx="216094" cy="217827"/>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2.0</a:t>
            </a:r>
          </a:p>
        </p:txBody>
      </p:sp>
      <p:sp>
        <p:nvSpPr>
          <p:cNvPr name="TextBox 69" id="69"/>
          <p:cNvSpPr txBox="true"/>
          <p:nvPr/>
        </p:nvSpPr>
        <p:spPr>
          <a:xfrm rot="0">
            <a:off x="13743032" y="4788008"/>
            <a:ext cx="216094" cy="217827"/>
          </a:xfrm>
          <a:prstGeom prst="rect">
            <a:avLst/>
          </a:prstGeom>
        </p:spPr>
        <p:txBody>
          <a:bodyPr anchor="t" rtlCol="false" tIns="0" lIns="0" bIns="0" rIns="0">
            <a:spAutoFit/>
          </a:bodyPr>
          <a:lstStyle/>
          <a:p>
            <a:pPr algn="l">
              <a:lnSpc>
                <a:spcPts val="1679"/>
              </a:lnSpc>
            </a:pPr>
            <a:r>
              <a:rPr lang="en-US" sz="1200">
                <a:solidFill>
                  <a:srgbClr val="FFFFFF"/>
                </a:solidFill>
                <a:latin typeface="Arimo"/>
                <a:ea typeface="Arimo"/>
                <a:cs typeface="Arimo"/>
                <a:sym typeface="Arimo"/>
              </a:rPr>
              <a:t>0.4</a:t>
            </a:r>
          </a:p>
        </p:txBody>
      </p:sp>
      <p:sp>
        <p:nvSpPr>
          <p:cNvPr name="TextBox 70" id="70"/>
          <p:cNvSpPr txBox="true"/>
          <p:nvPr/>
        </p:nvSpPr>
        <p:spPr>
          <a:xfrm rot="0">
            <a:off x="13312597" y="2433218"/>
            <a:ext cx="1330871" cy="217827"/>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41-feature baseline</a:t>
            </a:r>
          </a:p>
        </p:txBody>
      </p:sp>
      <p:sp>
        <p:nvSpPr>
          <p:cNvPr name="TextBox 71" id="71"/>
          <p:cNvSpPr txBox="true"/>
          <p:nvPr/>
        </p:nvSpPr>
        <p:spPr>
          <a:xfrm rot="0">
            <a:off x="15559478" y="3594697"/>
            <a:ext cx="216094" cy="217827"/>
          </a:xfrm>
          <a:prstGeom prst="rect">
            <a:avLst/>
          </a:prstGeom>
        </p:spPr>
        <p:txBody>
          <a:bodyPr anchor="t" rtlCol="false" tIns="0" lIns="0" bIns="0" rIns="0">
            <a:spAutoFit/>
          </a:bodyPr>
          <a:lstStyle/>
          <a:p>
            <a:pPr algn="l">
              <a:lnSpc>
                <a:spcPts val="1679"/>
              </a:lnSpc>
            </a:pPr>
            <a:r>
              <a:rPr lang="en-US" sz="1200">
                <a:solidFill>
                  <a:srgbClr val="FFFFFF"/>
                </a:solidFill>
                <a:latin typeface="Arimo"/>
                <a:ea typeface="Arimo"/>
                <a:cs typeface="Arimo"/>
                <a:sym typeface="Arimo"/>
              </a:rPr>
              <a:t>0.7</a:t>
            </a:r>
          </a:p>
        </p:txBody>
      </p:sp>
      <p:sp>
        <p:nvSpPr>
          <p:cNvPr name="TextBox 72" id="72"/>
          <p:cNvSpPr txBox="true"/>
          <p:nvPr/>
        </p:nvSpPr>
        <p:spPr>
          <a:xfrm rot="0">
            <a:off x="16153867" y="5913272"/>
            <a:ext cx="216094" cy="217827"/>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3.0</a:t>
            </a:r>
          </a:p>
        </p:txBody>
      </p:sp>
      <p:sp>
        <p:nvSpPr>
          <p:cNvPr name="TextBox 73" id="73"/>
          <p:cNvSpPr txBox="true"/>
          <p:nvPr/>
        </p:nvSpPr>
        <p:spPr>
          <a:xfrm rot="0">
            <a:off x="16748169" y="3592620"/>
            <a:ext cx="216094" cy="217827"/>
          </a:xfrm>
          <a:prstGeom prst="rect">
            <a:avLst/>
          </a:prstGeom>
        </p:spPr>
        <p:txBody>
          <a:bodyPr anchor="t" rtlCol="false" tIns="0" lIns="0" bIns="0" rIns="0">
            <a:spAutoFit/>
          </a:bodyPr>
          <a:lstStyle/>
          <a:p>
            <a:pPr algn="l">
              <a:lnSpc>
                <a:spcPts val="1679"/>
              </a:lnSpc>
            </a:pPr>
            <a:r>
              <a:rPr lang="en-US" sz="1200">
                <a:solidFill>
                  <a:srgbClr val="FFFFFF"/>
                </a:solidFill>
                <a:latin typeface="Arimo"/>
                <a:ea typeface="Arimo"/>
                <a:cs typeface="Arimo"/>
                <a:sym typeface="Arimo"/>
              </a:rPr>
              <a:t>0.7</a:t>
            </a:r>
          </a:p>
        </p:txBody>
      </p:sp>
      <p:sp>
        <p:nvSpPr>
          <p:cNvPr name="TextBox 74" id="74"/>
          <p:cNvSpPr txBox="true"/>
          <p:nvPr/>
        </p:nvSpPr>
        <p:spPr>
          <a:xfrm rot="0">
            <a:off x="8733177" y="6431404"/>
            <a:ext cx="8610781" cy="1238726"/>
          </a:xfrm>
          <a:prstGeom prst="rect">
            <a:avLst/>
          </a:prstGeom>
        </p:spPr>
        <p:txBody>
          <a:bodyPr anchor="t" rtlCol="false" tIns="0" lIns="0" bIns="0" rIns="0">
            <a:spAutoFit/>
          </a:bodyPr>
          <a:lstStyle/>
          <a:p>
            <a:pPr algn="l">
              <a:lnSpc>
                <a:spcPts val="2399"/>
              </a:lnSpc>
            </a:pPr>
            <a:r>
              <a:rPr lang="en-US" sz="2025">
                <a:solidFill>
                  <a:srgbClr val="0B2545"/>
                </a:solidFill>
                <a:latin typeface="Calibri (MS)"/>
                <a:ea typeface="Calibri (MS)"/>
                <a:cs typeface="Calibri (MS)"/>
                <a:sym typeface="Calibri (MS)"/>
              </a:rPr>
              <a:t>15 features: slightly lower accuracy (77.10% vs 77.18%), slightly higher macro F1. Macro F1 is still low: rare classes have very low recall, so accuracy alone is not enough.</a:t>
            </a:r>
          </a:p>
          <a:p>
            <a:pPr algn="l">
              <a:lnSpc>
                <a:spcPts val="2399"/>
              </a:lnSpc>
            </a:pPr>
            <a:r>
              <a:rPr lang="en-US" sz="2025">
                <a:solidFill>
                  <a:srgbClr val="0B2545"/>
                </a:solidFill>
                <a:latin typeface="Calibri (MS)"/>
                <a:ea typeface="Calibri (MS)"/>
                <a:cs typeface="Calibri (MS)"/>
                <a:sym typeface="Calibri (MS)"/>
              </a:rPr>
              <a:t>Research prototype. Not clinically validated.</a:t>
            </a:r>
          </a:p>
        </p:txBody>
      </p:sp>
      <p:sp>
        <p:nvSpPr>
          <p:cNvPr name="TextBox 75" id="75"/>
          <p:cNvSpPr txBox="true"/>
          <p:nvPr/>
        </p:nvSpPr>
        <p:spPr>
          <a:xfrm rot="0">
            <a:off x="1097280" y="8562022"/>
            <a:ext cx="16284959" cy="567690"/>
          </a:xfrm>
          <a:prstGeom prst="rect">
            <a:avLst/>
          </a:prstGeom>
        </p:spPr>
        <p:txBody>
          <a:bodyPr anchor="t" rtlCol="false" tIns="0" lIns="0" bIns="0" rIns="0">
            <a:spAutoFit/>
          </a:bodyPr>
          <a:lstStyle/>
          <a:p>
            <a:pPr algn="l">
              <a:lnSpc>
                <a:spcPts val="2100"/>
              </a:lnSpc>
            </a:pPr>
            <a:r>
              <a:rPr lang="en-US" b="true" sz="1800">
                <a:solidFill>
                  <a:srgbClr val="0F6E73"/>
                </a:solidFill>
                <a:latin typeface="Calibri (MS) Bold"/>
                <a:ea typeface="Calibri (MS) Bold"/>
                <a:cs typeface="Calibri (MS) Bold"/>
                <a:sym typeface="Calibri (MS) Bold"/>
              </a:rPr>
              <a:t>Final 15 features: </a:t>
            </a:r>
            <a:r>
              <a:rPr lang="en-US" sz="1800">
                <a:solidFill>
                  <a:srgbClr val="0B2545"/>
                </a:solidFill>
                <a:latin typeface="Calibri (MS)"/>
                <a:ea typeface="Calibri (MS)"/>
                <a:cs typeface="Calibri (MS)"/>
                <a:sym typeface="Calibri (MS)"/>
              </a:rPr>
              <a:t>HbA1c_level, bmi, glucose, age, age_normalized, high_blood_pressure_Yes, systolic_bp, ldl, alcohol_intake, diastolic_bp, hdl, heart_rate, blood_pressure, triglycerides, salt_intake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4694" y="1851974"/>
            <a:ext cx="3291202" cy="4526480"/>
          </a:xfrm>
          <a:custGeom>
            <a:avLst/>
            <a:gdLst/>
            <a:ahLst/>
            <a:cxnLst/>
            <a:rect r="r" b="b" t="t" l="l"/>
            <a:pathLst>
              <a:path h="4526480" w="3291202">
                <a:moveTo>
                  <a:pt x="0" y="0"/>
                </a:moveTo>
                <a:lnTo>
                  <a:pt x="3291202" y="0"/>
                </a:lnTo>
                <a:lnTo>
                  <a:pt x="3291202" y="4526480"/>
                </a:lnTo>
                <a:lnTo>
                  <a:pt x="0" y="45264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15114" y="1851974"/>
            <a:ext cx="3291202" cy="4526480"/>
          </a:xfrm>
          <a:custGeom>
            <a:avLst/>
            <a:gdLst/>
            <a:ahLst/>
            <a:cxnLst/>
            <a:rect r="r" b="b" t="t" l="l"/>
            <a:pathLst>
              <a:path h="4526480" w="3291202">
                <a:moveTo>
                  <a:pt x="0" y="0"/>
                </a:moveTo>
                <a:lnTo>
                  <a:pt x="3291202" y="0"/>
                </a:lnTo>
                <a:lnTo>
                  <a:pt x="3291202" y="4526480"/>
                </a:lnTo>
                <a:lnTo>
                  <a:pt x="0" y="45264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475534" y="1851974"/>
            <a:ext cx="3291202" cy="4526480"/>
          </a:xfrm>
          <a:custGeom>
            <a:avLst/>
            <a:gdLst/>
            <a:ahLst/>
            <a:cxnLst/>
            <a:rect r="r" b="b" t="t" l="l"/>
            <a:pathLst>
              <a:path h="4526480" w="3291202">
                <a:moveTo>
                  <a:pt x="0" y="0"/>
                </a:moveTo>
                <a:lnTo>
                  <a:pt x="3291202" y="0"/>
                </a:lnTo>
                <a:lnTo>
                  <a:pt x="3291202" y="4526480"/>
                </a:lnTo>
                <a:lnTo>
                  <a:pt x="0" y="4526480"/>
                </a:lnTo>
                <a:lnTo>
                  <a:pt x="0" y="0"/>
                </a:lnTo>
                <a:close/>
              </a:path>
            </a:pathLst>
          </a:custGeom>
          <a:blipFill>
            <a:blip r:embed="rId2">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835954" y="1851974"/>
            <a:ext cx="3291202" cy="4526480"/>
          </a:xfrm>
          <a:custGeom>
            <a:avLst/>
            <a:gdLst/>
            <a:ahLst/>
            <a:cxnLst/>
            <a:rect r="r" b="b" t="t" l="l"/>
            <a:pathLst>
              <a:path h="4526480" w="3291202">
                <a:moveTo>
                  <a:pt x="0" y="0"/>
                </a:moveTo>
                <a:lnTo>
                  <a:pt x="3291202" y="0"/>
                </a:lnTo>
                <a:lnTo>
                  <a:pt x="3291202" y="4526480"/>
                </a:lnTo>
                <a:lnTo>
                  <a:pt x="0" y="45264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4196374" y="1851974"/>
            <a:ext cx="3291202" cy="4526480"/>
          </a:xfrm>
          <a:custGeom>
            <a:avLst/>
            <a:gdLst/>
            <a:ahLst/>
            <a:cxnLst/>
            <a:rect r="r" b="b" t="t" l="l"/>
            <a:pathLst>
              <a:path h="4526480" w="3291202">
                <a:moveTo>
                  <a:pt x="0" y="0"/>
                </a:moveTo>
                <a:lnTo>
                  <a:pt x="3291202" y="0"/>
                </a:lnTo>
                <a:lnTo>
                  <a:pt x="3291202" y="4526480"/>
                </a:lnTo>
                <a:lnTo>
                  <a:pt x="0" y="4526480"/>
                </a:lnTo>
                <a:lnTo>
                  <a:pt x="0" y="0"/>
                </a:lnTo>
                <a:close/>
              </a:path>
            </a:pathLst>
          </a:custGeom>
          <a:blipFill>
            <a:blip r:embed="rId2">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2194560" y="2400300"/>
            <a:ext cx="411480" cy="411480"/>
            <a:chOff x="0" y="0"/>
            <a:chExt cx="548640" cy="548640"/>
          </a:xfrm>
        </p:grpSpPr>
        <p:sp>
          <p:nvSpPr>
            <p:cNvPr name="Freeform 8" id="8"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0"/>
              <a:stretch>
                <a:fillRect l="0" t="0" r="0" b="0"/>
              </a:stretch>
            </a:blipFill>
          </p:spPr>
        </p:sp>
      </p:grpSp>
      <p:grpSp>
        <p:nvGrpSpPr>
          <p:cNvPr name="Group 9" id="9"/>
          <p:cNvGrpSpPr/>
          <p:nvPr/>
        </p:nvGrpSpPr>
        <p:grpSpPr>
          <a:xfrm rot="0">
            <a:off x="5554980" y="2400300"/>
            <a:ext cx="411480" cy="411480"/>
            <a:chOff x="0" y="0"/>
            <a:chExt cx="548640" cy="548640"/>
          </a:xfrm>
        </p:grpSpPr>
        <p:sp>
          <p:nvSpPr>
            <p:cNvPr name="Freeform 10" id="10"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1"/>
              <a:stretch>
                <a:fillRect l="0" t="0" r="0" b="0"/>
              </a:stretch>
            </a:blipFill>
          </p:spPr>
        </p:sp>
      </p:grpSp>
      <p:grpSp>
        <p:nvGrpSpPr>
          <p:cNvPr name="Group 11" id="11"/>
          <p:cNvGrpSpPr/>
          <p:nvPr/>
        </p:nvGrpSpPr>
        <p:grpSpPr>
          <a:xfrm rot="0">
            <a:off x="8915400" y="2400300"/>
            <a:ext cx="411480" cy="411480"/>
            <a:chOff x="0" y="0"/>
            <a:chExt cx="548640" cy="548640"/>
          </a:xfrm>
        </p:grpSpPr>
        <p:sp>
          <p:nvSpPr>
            <p:cNvPr name="Freeform 12" id="12"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2"/>
              <a:stretch>
                <a:fillRect l="0" t="0" r="0" b="0"/>
              </a:stretch>
            </a:blipFill>
          </p:spPr>
        </p:sp>
      </p:grpSp>
      <p:grpSp>
        <p:nvGrpSpPr>
          <p:cNvPr name="Group 13" id="13"/>
          <p:cNvGrpSpPr/>
          <p:nvPr/>
        </p:nvGrpSpPr>
        <p:grpSpPr>
          <a:xfrm rot="0">
            <a:off x="12275820" y="2400300"/>
            <a:ext cx="411480" cy="411480"/>
            <a:chOff x="0" y="0"/>
            <a:chExt cx="548640" cy="548640"/>
          </a:xfrm>
        </p:grpSpPr>
        <p:sp>
          <p:nvSpPr>
            <p:cNvPr name="Freeform 14" id="14"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3"/>
              <a:stretch>
                <a:fillRect l="0" t="0" r="0" b="0"/>
              </a:stretch>
            </a:blipFill>
          </p:spPr>
        </p:sp>
      </p:grpSp>
      <p:grpSp>
        <p:nvGrpSpPr>
          <p:cNvPr name="Group 15" id="15"/>
          <p:cNvGrpSpPr/>
          <p:nvPr/>
        </p:nvGrpSpPr>
        <p:grpSpPr>
          <a:xfrm rot="0">
            <a:off x="15636240" y="2400300"/>
            <a:ext cx="411480" cy="411480"/>
            <a:chOff x="0" y="0"/>
            <a:chExt cx="548640" cy="548640"/>
          </a:xfrm>
        </p:grpSpPr>
        <p:sp>
          <p:nvSpPr>
            <p:cNvPr name="Freeform 16" id="16"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4"/>
              <a:stretch>
                <a:fillRect l="0" t="0" r="0" b="0"/>
              </a:stretch>
            </a:blipFill>
          </p:spPr>
        </p:sp>
      </p:grpSp>
      <p:sp>
        <p:nvSpPr>
          <p:cNvPr name="Freeform 17" id="17"/>
          <p:cNvSpPr/>
          <p:nvPr/>
        </p:nvSpPr>
        <p:spPr>
          <a:xfrm flipH="false" flipV="false" rot="0">
            <a:off x="754694" y="7201214"/>
            <a:ext cx="4113857" cy="1069210"/>
          </a:xfrm>
          <a:custGeom>
            <a:avLst/>
            <a:gdLst/>
            <a:ahLst/>
            <a:cxnLst/>
            <a:rect r="r" b="b" t="t" l="l"/>
            <a:pathLst>
              <a:path h="1069210" w="4113857">
                <a:moveTo>
                  <a:pt x="0" y="0"/>
                </a:moveTo>
                <a:lnTo>
                  <a:pt x="4113857" y="0"/>
                </a:lnTo>
                <a:lnTo>
                  <a:pt x="4113857" y="1069210"/>
                </a:lnTo>
                <a:lnTo>
                  <a:pt x="0" y="106921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8" id="18"/>
          <p:cNvSpPr/>
          <p:nvPr/>
        </p:nvSpPr>
        <p:spPr>
          <a:xfrm flipH="false" flipV="false" rot="0">
            <a:off x="754694" y="8298494"/>
            <a:ext cx="4113857" cy="1069210"/>
          </a:xfrm>
          <a:custGeom>
            <a:avLst/>
            <a:gdLst/>
            <a:ahLst/>
            <a:cxnLst/>
            <a:rect r="r" b="b" t="t" l="l"/>
            <a:pathLst>
              <a:path h="1069210" w="4113857">
                <a:moveTo>
                  <a:pt x="0" y="0"/>
                </a:moveTo>
                <a:lnTo>
                  <a:pt x="4113857" y="0"/>
                </a:lnTo>
                <a:lnTo>
                  <a:pt x="4113857" y="1069210"/>
                </a:lnTo>
                <a:lnTo>
                  <a:pt x="0" y="106921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9" id="19"/>
          <p:cNvSpPr/>
          <p:nvPr/>
        </p:nvSpPr>
        <p:spPr>
          <a:xfrm flipH="false" flipV="false" rot="0">
            <a:off x="4965506" y="7201214"/>
            <a:ext cx="4113857" cy="1069210"/>
          </a:xfrm>
          <a:custGeom>
            <a:avLst/>
            <a:gdLst/>
            <a:ahLst/>
            <a:cxnLst/>
            <a:rect r="r" b="b" t="t" l="l"/>
            <a:pathLst>
              <a:path h="1069210" w="4113857">
                <a:moveTo>
                  <a:pt x="0" y="0"/>
                </a:moveTo>
                <a:lnTo>
                  <a:pt x="4113857" y="0"/>
                </a:lnTo>
                <a:lnTo>
                  <a:pt x="4113857" y="1069210"/>
                </a:lnTo>
                <a:lnTo>
                  <a:pt x="0" y="106921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0" id="20"/>
          <p:cNvSpPr/>
          <p:nvPr/>
        </p:nvSpPr>
        <p:spPr>
          <a:xfrm flipH="false" flipV="false" rot="0">
            <a:off x="4965506" y="8298494"/>
            <a:ext cx="4113857" cy="1069210"/>
          </a:xfrm>
          <a:custGeom>
            <a:avLst/>
            <a:gdLst/>
            <a:ahLst/>
            <a:cxnLst/>
            <a:rect r="r" b="b" t="t" l="l"/>
            <a:pathLst>
              <a:path h="1069210" w="4113857">
                <a:moveTo>
                  <a:pt x="0" y="0"/>
                </a:moveTo>
                <a:lnTo>
                  <a:pt x="4113857" y="0"/>
                </a:lnTo>
                <a:lnTo>
                  <a:pt x="4113857" y="1069210"/>
                </a:lnTo>
                <a:lnTo>
                  <a:pt x="0" y="106921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1" id="21"/>
          <p:cNvSpPr/>
          <p:nvPr/>
        </p:nvSpPr>
        <p:spPr>
          <a:xfrm flipH="false" flipV="false" rot="0">
            <a:off x="9176318" y="7201214"/>
            <a:ext cx="4113857" cy="1069210"/>
          </a:xfrm>
          <a:custGeom>
            <a:avLst/>
            <a:gdLst/>
            <a:ahLst/>
            <a:cxnLst/>
            <a:rect r="r" b="b" t="t" l="l"/>
            <a:pathLst>
              <a:path h="1069210" w="4113857">
                <a:moveTo>
                  <a:pt x="0" y="0"/>
                </a:moveTo>
                <a:lnTo>
                  <a:pt x="4113857" y="0"/>
                </a:lnTo>
                <a:lnTo>
                  <a:pt x="4113857" y="1069210"/>
                </a:lnTo>
                <a:lnTo>
                  <a:pt x="0" y="106921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2" id="22"/>
          <p:cNvSpPr/>
          <p:nvPr/>
        </p:nvSpPr>
        <p:spPr>
          <a:xfrm flipH="false" flipV="false" rot="0">
            <a:off x="9176318" y="8298494"/>
            <a:ext cx="4113857" cy="1069210"/>
          </a:xfrm>
          <a:custGeom>
            <a:avLst/>
            <a:gdLst/>
            <a:ahLst/>
            <a:cxnLst/>
            <a:rect r="r" b="b" t="t" l="l"/>
            <a:pathLst>
              <a:path h="1069210" w="4113857">
                <a:moveTo>
                  <a:pt x="0" y="0"/>
                </a:moveTo>
                <a:lnTo>
                  <a:pt x="4113857" y="0"/>
                </a:lnTo>
                <a:lnTo>
                  <a:pt x="4113857" y="1069210"/>
                </a:lnTo>
                <a:lnTo>
                  <a:pt x="0" y="1069210"/>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23" id="23"/>
          <p:cNvSpPr/>
          <p:nvPr/>
        </p:nvSpPr>
        <p:spPr>
          <a:xfrm flipH="false" flipV="false" rot="0">
            <a:off x="13387130" y="7201214"/>
            <a:ext cx="4113857" cy="1069210"/>
          </a:xfrm>
          <a:custGeom>
            <a:avLst/>
            <a:gdLst/>
            <a:ahLst/>
            <a:cxnLst/>
            <a:rect r="r" b="b" t="t" l="l"/>
            <a:pathLst>
              <a:path h="1069210" w="4113857">
                <a:moveTo>
                  <a:pt x="0" y="0"/>
                </a:moveTo>
                <a:lnTo>
                  <a:pt x="4113857" y="0"/>
                </a:lnTo>
                <a:lnTo>
                  <a:pt x="4113857" y="1069210"/>
                </a:lnTo>
                <a:lnTo>
                  <a:pt x="0" y="1069210"/>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24" id="24"/>
          <p:cNvSpPr/>
          <p:nvPr/>
        </p:nvSpPr>
        <p:spPr>
          <a:xfrm flipH="false" flipV="false" rot="0">
            <a:off x="13387130" y="8298494"/>
            <a:ext cx="4113857" cy="1069210"/>
          </a:xfrm>
          <a:custGeom>
            <a:avLst/>
            <a:gdLst/>
            <a:ahLst/>
            <a:cxnLst/>
            <a:rect r="r" b="b" t="t" l="l"/>
            <a:pathLst>
              <a:path h="1069210" w="4113857">
                <a:moveTo>
                  <a:pt x="0" y="0"/>
                </a:moveTo>
                <a:lnTo>
                  <a:pt x="4113857" y="0"/>
                </a:lnTo>
                <a:lnTo>
                  <a:pt x="4113857" y="1069210"/>
                </a:lnTo>
                <a:lnTo>
                  <a:pt x="0" y="1069210"/>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25" id="25"/>
          <p:cNvGrpSpPr/>
          <p:nvPr/>
        </p:nvGrpSpPr>
        <p:grpSpPr>
          <a:xfrm rot="0">
            <a:off x="15784954" y="200911"/>
            <a:ext cx="2179863" cy="828675"/>
            <a:chOff x="0" y="0"/>
            <a:chExt cx="2906484" cy="1104900"/>
          </a:xfrm>
        </p:grpSpPr>
        <p:sp>
          <p:nvSpPr>
            <p:cNvPr name="Freeform 26" id="26"/>
            <p:cNvSpPr/>
            <p:nvPr/>
          </p:nvSpPr>
          <p:spPr>
            <a:xfrm flipH="false" flipV="false" rot="0">
              <a:off x="0" y="0"/>
              <a:ext cx="2906522" cy="1104900"/>
            </a:xfrm>
            <a:custGeom>
              <a:avLst/>
              <a:gdLst/>
              <a:ahLst/>
              <a:cxnLst/>
              <a:rect r="r" b="b" t="t" l="l"/>
              <a:pathLst>
                <a:path h="1104900" w="2906522">
                  <a:moveTo>
                    <a:pt x="0" y="0"/>
                  </a:moveTo>
                  <a:lnTo>
                    <a:pt x="2906522" y="0"/>
                  </a:lnTo>
                  <a:lnTo>
                    <a:pt x="2906522" y="1104900"/>
                  </a:lnTo>
                  <a:lnTo>
                    <a:pt x="0" y="1104900"/>
                  </a:lnTo>
                  <a:lnTo>
                    <a:pt x="0" y="0"/>
                  </a:lnTo>
                  <a:close/>
                </a:path>
              </a:pathLst>
            </a:custGeom>
            <a:blipFill>
              <a:blip r:embed="rId31"/>
              <a:stretch>
                <a:fillRect l="-3558" t="-4895" r="1" b="-4300"/>
              </a:stretch>
            </a:blipFill>
          </p:spPr>
        </p:sp>
      </p:grpSp>
      <p:grpSp>
        <p:nvGrpSpPr>
          <p:cNvPr name="Group 27" id="27"/>
          <p:cNvGrpSpPr/>
          <p:nvPr/>
        </p:nvGrpSpPr>
        <p:grpSpPr>
          <a:xfrm rot="0">
            <a:off x="754694" y="1851974"/>
            <a:ext cx="3291202" cy="4525642"/>
            <a:chOff x="0" y="0"/>
            <a:chExt cx="3291205" cy="4525645"/>
          </a:xfrm>
        </p:grpSpPr>
        <p:sp>
          <p:nvSpPr>
            <p:cNvPr name="Freeform 28" id="28"/>
            <p:cNvSpPr/>
            <p:nvPr/>
          </p:nvSpPr>
          <p:spPr>
            <a:xfrm flipH="false" flipV="false" rot="0">
              <a:off x="63500" y="63500"/>
              <a:ext cx="3164205" cy="4398645"/>
            </a:xfrm>
            <a:custGeom>
              <a:avLst/>
              <a:gdLst/>
              <a:ahLst/>
              <a:cxnLst/>
              <a:rect r="r" b="b" t="t" l="l"/>
              <a:pathLst>
                <a:path h="4398645" w="3164205">
                  <a:moveTo>
                    <a:pt x="0" y="4398645"/>
                  </a:moveTo>
                  <a:lnTo>
                    <a:pt x="3164205" y="4398645"/>
                  </a:lnTo>
                  <a:lnTo>
                    <a:pt x="3164205" y="0"/>
                  </a:lnTo>
                  <a:lnTo>
                    <a:pt x="0" y="0"/>
                  </a:lnTo>
                  <a:close/>
                </a:path>
              </a:pathLst>
            </a:custGeom>
            <a:solidFill>
              <a:srgbClr val="000000">
                <a:alpha val="0"/>
              </a:srgbClr>
            </a:solidFill>
          </p:spPr>
        </p:sp>
        <p:sp>
          <p:nvSpPr>
            <p:cNvPr name="Freeform 29" id="29"/>
            <p:cNvSpPr/>
            <p:nvPr/>
          </p:nvSpPr>
          <p:spPr>
            <a:xfrm flipH="false" flipV="false" rot="0">
              <a:off x="1229360" y="337820"/>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30" id="30"/>
          <p:cNvGrpSpPr/>
          <p:nvPr/>
        </p:nvGrpSpPr>
        <p:grpSpPr>
          <a:xfrm rot="0">
            <a:off x="754694" y="7201214"/>
            <a:ext cx="4114162" cy="1069210"/>
            <a:chOff x="0" y="0"/>
            <a:chExt cx="4114165" cy="1069213"/>
          </a:xfrm>
        </p:grpSpPr>
        <p:sp>
          <p:nvSpPr>
            <p:cNvPr name="Freeform 31" id="31"/>
            <p:cNvSpPr/>
            <p:nvPr/>
          </p:nvSpPr>
          <p:spPr>
            <a:xfrm flipH="false" flipV="false" rot="0">
              <a:off x="63500" y="63500"/>
              <a:ext cx="3987165" cy="942213"/>
            </a:xfrm>
            <a:custGeom>
              <a:avLst/>
              <a:gdLst/>
              <a:ahLst/>
              <a:cxnLst/>
              <a:rect r="r" b="b" t="t" l="l"/>
              <a:pathLst>
                <a:path h="942213" w="3987165">
                  <a:moveTo>
                    <a:pt x="0" y="942213"/>
                  </a:moveTo>
                  <a:lnTo>
                    <a:pt x="3987165" y="942213"/>
                  </a:lnTo>
                  <a:lnTo>
                    <a:pt x="3987165" y="0"/>
                  </a:lnTo>
                  <a:lnTo>
                    <a:pt x="0" y="0"/>
                  </a:lnTo>
                  <a:close/>
                </a:path>
              </a:pathLst>
            </a:custGeom>
            <a:solidFill>
              <a:srgbClr val="000000">
                <a:alpha val="0"/>
              </a:srgbClr>
            </a:solidFill>
          </p:spPr>
        </p:sp>
        <p:sp>
          <p:nvSpPr>
            <p:cNvPr name="Freeform 32" id="32"/>
            <p:cNvSpPr/>
            <p:nvPr/>
          </p:nvSpPr>
          <p:spPr>
            <a:xfrm flipH="false" flipV="false" rot="0">
              <a:off x="269240" y="584708"/>
              <a:ext cx="1724025" cy="338709"/>
            </a:xfrm>
            <a:custGeom>
              <a:avLst/>
              <a:gdLst/>
              <a:ahLst/>
              <a:cxnLst/>
              <a:rect r="r" b="b" t="t" l="l"/>
              <a:pathLst>
                <a:path h="338709" w="1724025">
                  <a:moveTo>
                    <a:pt x="0" y="338709"/>
                  </a:moveTo>
                  <a:lnTo>
                    <a:pt x="1724025" y="338709"/>
                  </a:lnTo>
                  <a:lnTo>
                    <a:pt x="1724025" y="0"/>
                  </a:lnTo>
                  <a:lnTo>
                    <a:pt x="0" y="0"/>
                  </a:lnTo>
                  <a:close/>
                </a:path>
              </a:pathLst>
            </a:custGeom>
            <a:solidFill>
              <a:srgbClr val="000000">
                <a:alpha val="0"/>
              </a:srgbClr>
            </a:solidFill>
          </p:spPr>
        </p:sp>
      </p:grpSp>
      <p:grpSp>
        <p:nvGrpSpPr>
          <p:cNvPr name="Group 33" id="33"/>
          <p:cNvGrpSpPr/>
          <p:nvPr/>
        </p:nvGrpSpPr>
        <p:grpSpPr>
          <a:xfrm rot="0">
            <a:off x="754694" y="8298494"/>
            <a:ext cx="4114162" cy="1069210"/>
            <a:chOff x="0" y="0"/>
            <a:chExt cx="4114165" cy="1069213"/>
          </a:xfrm>
        </p:grpSpPr>
        <p:sp>
          <p:nvSpPr>
            <p:cNvPr name="Freeform 34" id="34"/>
            <p:cNvSpPr/>
            <p:nvPr/>
          </p:nvSpPr>
          <p:spPr>
            <a:xfrm flipH="false" flipV="false" rot="0">
              <a:off x="63500" y="63500"/>
              <a:ext cx="3987165" cy="942213"/>
            </a:xfrm>
            <a:custGeom>
              <a:avLst/>
              <a:gdLst/>
              <a:ahLst/>
              <a:cxnLst/>
              <a:rect r="r" b="b" t="t" l="l"/>
              <a:pathLst>
                <a:path h="942213" w="3987165">
                  <a:moveTo>
                    <a:pt x="0" y="942213"/>
                  </a:moveTo>
                  <a:lnTo>
                    <a:pt x="3987165" y="942213"/>
                  </a:lnTo>
                  <a:lnTo>
                    <a:pt x="3987165" y="0"/>
                  </a:lnTo>
                  <a:lnTo>
                    <a:pt x="0" y="0"/>
                  </a:lnTo>
                  <a:close/>
                </a:path>
              </a:pathLst>
            </a:custGeom>
            <a:solidFill>
              <a:srgbClr val="000000">
                <a:alpha val="0"/>
              </a:srgbClr>
            </a:solidFill>
          </p:spPr>
        </p:sp>
        <p:sp>
          <p:nvSpPr>
            <p:cNvPr name="Freeform 35" id="35"/>
            <p:cNvSpPr/>
            <p:nvPr/>
          </p:nvSpPr>
          <p:spPr>
            <a:xfrm flipH="false" flipV="false" rot="0">
              <a:off x="269240" y="584708"/>
              <a:ext cx="1724025" cy="338709"/>
            </a:xfrm>
            <a:custGeom>
              <a:avLst/>
              <a:gdLst/>
              <a:ahLst/>
              <a:cxnLst/>
              <a:rect r="r" b="b" t="t" l="l"/>
              <a:pathLst>
                <a:path h="338709" w="1724025">
                  <a:moveTo>
                    <a:pt x="0" y="338709"/>
                  </a:moveTo>
                  <a:lnTo>
                    <a:pt x="1724025" y="338709"/>
                  </a:lnTo>
                  <a:lnTo>
                    <a:pt x="1724025" y="0"/>
                  </a:lnTo>
                  <a:lnTo>
                    <a:pt x="0" y="0"/>
                  </a:lnTo>
                  <a:close/>
                </a:path>
              </a:pathLst>
            </a:custGeom>
            <a:solidFill>
              <a:srgbClr val="000000">
                <a:alpha val="0"/>
              </a:srgbClr>
            </a:solidFill>
          </p:spPr>
        </p:sp>
      </p:grpSp>
      <p:grpSp>
        <p:nvGrpSpPr>
          <p:cNvPr name="Group 36" id="36"/>
          <p:cNvGrpSpPr/>
          <p:nvPr/>
        </p:nvGrpSpPr>
        <p:grpSpPr>
          <a:xfrm rot="0">
            <a:off x="4115114" y="1851974"/>
            <a:ext cx="3291202" cy="4525642"/>
            <a:chOff x="0" y="0"/>
            <a:chExt cx="3291205" cy="4525645"/>
          </a:xfrm>
        </p:grpSpPr>
        <p:sp>
          <p:nvSpPr>
            <p:cNvPr name="Freeform 37" id="37"/>
            <p:cNvSpPr/>
            <p:nvPr/>
          </p:nvSpPr>
          <p:spPr>
            <a:xfrm flipH="false" flipV="false" rot="0">
              <a:off x="63500" y="63500"/>
              <a:ext cx="3164205" cy="4398645"/>
            </a:xfrm>
            <a:custGeom>
              <a:avLst/>
              <a:gdLst/>
              <a:ahLst/>
              <a:cxnLst/>
              <a:rect r="r" b="b" t="t" l="l"/>
              <a:pathLst>
                <a:path h="4398645" w="3164205">
                  <a:moveTo>
                    <a:pt x="0" y="4398645"/>
                  </a:moveTo>
                  <a:lnTo>
                    <a:pt x="3164205" y="4398645"/>
                  </a:lnTo>
                  <a:lnTo>
                    <a:pt x="3164205" y="0"/>
                  </a:lnTo>
                  <a:lnTo>
                    <a:pt x="0" y="0"/>
                  </a:lnTo>
                  <a:close/>
                </a:path>
              </a:pathLst>
            </a:custGeom>
            <a:solidFill>
              <a:srgbClr val="000000">
                <a:alpha val="0"/>
              </a:srgbClr>
            </a:solidFill>
          </p:spPr>
        </p:sp>
        <p:sp>
          <p:nvSpPr>
            <p:cNvPr name="Freeform 38" id="38"/>
            <p:cNvSpPr/>
            <p:nvPr/>
          </p:nvSpPr>
          <p:spPr>
            <a:xfrm flipH="false" flipV="false" rot="0">
              <a:off x="1229360" y="337820"/>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39" id="39"/>
          <p:cNvGrpSpPr/>
          <p:nvPr/>
        </p:nvGrpSpPr>
        <p:grpSpPr>
          <a:xfrm rot="0">
            <a:off x="4965506" y="7201214"/>
            <a:ext cx="4114162" cy="1069210"/>
            <a:chOff x="0" y="0"/>
            <a:chExt cx="4114165" cy="1069213"/>
          </a:xfrm>
        </p:grpSpPr>
        <p:sp>
          <p:nvSpPr>
            <p:cNvPr name="Freeform 40" id="40"/>
            <p:cNvSpPr/>
            <p:nvPr/>
          </p:nvSpPr>
          <p:spPr>
            <a:xfrm flipH="false" flipV="false" rot="0">
              <a:off x="63500" y="63500"/>
              <a:ext cx="3987165" cy="942213"/>
            </a:xfrm>
            <a:custGeom>
              <a:avLst/>
              <a:gdLst/>
              <a:ahLst/>
              <a:cxnLst/>
              <a:rect r="r" b="b" t="t" l="l"/>
              <a:pathLst>
                <a:path h="942213" w="3987165">
                  <a:moveTo>
                    <a:pt x="0" y="942213"/>
                  </a:moveTo>
                  <a:lnTo>
                    <a:pt x="3987165" y="942213"/>
                  </a:lnTo>
                  <a:lnTo>
                    <a:pt x="3987165" y="0"/>
                  </a:lnTo>
                  <a:lnTo>
                    <a:pt x="0" y="0"/>
                  </a:lnTo>
                  <a:close/>
                </a:path>
              </a:pathLst>
            </a:custGeom>
            <a:solidFill>
              <a:srgbClr val="000000">
                <a:alpha val="0"/>
              </a:srgbClr>
            </a:solidFill>
          </p:spPr>
        </p:sp>
        <p:sp>
          <p:nvSpPr>
            <p:cNvPr name="Freeform 41" id="41"/>
            <p:cNvSpPr/>
            <p:nvPr/>
          </p:nvSpPr>
          <p:spPr>
            <a:xfrm flipH="false" flipV="false" rot="0">
              <a:off x="269240" y="584708"/>
              <a:ext cx="1724025" cy="338709"/>
            </a:xfrm>
            <a:custGeom>
              <a:avLst/>
              <a:gdLst/>
              <a:ahLst/>
              <a:cxnLst/>
              <a:rect r="r" b="b" t="t" l="l"/>
              <a:pathLst>
                <a:path h="338709" w="1724025">
                  <a:moveTo>
                    <a:pt x="0" y="338709"/>
                  </a:moveTo>
                  <a:lnTo>
                    <a:pt x="1724025" y="338709"/>
                  </a:lnTo>
                  <a:lnTo>
                    <a:pt x="1724025" y="0"/>
                  </a:lnTo>
                  <a:lnTo>
                    <a:pt x="0" y="0"/>
                  </a:lnTo>
                  <a:close/>
                </a:path>
              </a:pathLst>
            </a:custGeom>
            <a:solidFill>
              <a:srgbClr val="000000">
                <a:alpha val="0"/>
              </a:srgbClr>
            </a:solidFill>
          </p:spPr>
        </p:sp>
      </p:grpSp>
      <p:grpSp>
        <p:nvGrpSpPr>
          <p:cNvPr name="Group 42" id="42"/>
          <p:cNvGrpSpPr/>
          <p:nvPr/>
        </p:nvGrpSpPr>
        <p:grpSpPr>
          <a:xfrm rot="0">
            <a:off x="4965506" y="8298494"/>
            <a:ext cx="4114162" cy="1069210"/>
            <a:chOff x="0" y="0"/>
            <a:chExt cx="4114165" cy="1069213"/>
          </a:xfrm>
        </p:grpSpPr>
        <p:sp>
          <p:nvSpPr>
            <p:cNvPr name="Freeform 43" id="43"/>
            <p:cNvSpPr/>
            <p:nvPr/>
          </p:nvSpPr>
          <p:spPr>
            <a:xfrm flipH="false" flipV="false" rot="0">
              <a:off x="63500" y="63500"/>
              <a:ext cx="3987165" cy="942213"/>
            </a:xfrm>
            <a:custGeom>
              <a:avLst/>
              <a:gdLst/>
              <a:ahLst/>
              <a:cxnLst/>
              <a:rect r="r" b="b" t="t" l="l"/>
              <a:pathLst>
                <a:path h="942213" w="3987165">
                  <a:moveTo>
                    <a:pt x="0" y="942213"/>
                  </a:moveTo>
                  <a:lnTo>
                    <a:pt x="3987165" y="942213"/>
                  </a:lnTo>
                  <a:lnTo>
                    <a:pt x="3987165" y="0"/>
                  </a:lnTo>
                  <a:lnTo>
                    <a:pt x="0" y="0"/>
                  </a:lnTo>
                  <a:close/>
                </a:path>
              </a:pathLst>
            </a:custGeom>
            <a:solidFill>
              <a:srgbClr val="000000">
                <a:alpha val="0"/>
              </a:srgbClr>
            </a:solidFill>
          </p:spPr>
        </p:sp>
        <p:sp>
          <p:nvSpPr>
            <p:cNvPr name="Freeform 44" id="44"/>
            <p:cNvSpPr/>
            <p:nvPr/>
          </p:nvSpPr>
          <p:spPr>
            <a:xfrm flipH="false" flipV="false" rot="0">
              <a:off x="269240" y="584708"/>
              <a:ext cx="1724025" cy="338709"/>
            </a:xfrm>
            <a:custGeom>
              <a:avLst/>
              <a:gdLst/>
              <a:ahLst/>
              <a:cxnLst/>
              <a:rect r="r" b="b" t="t" l="l"/>
              <a:pathLst>
                <a:path h="338709" w="1724025">
                  <a:moveTo>
                    <a:pt x="0" y="338709"/>
                  </a:moveTo>
                  <a:lnTo>
                    <a:pt x="1724025" y="338709"/>
                  </a:lnTo>
                  <a:lnTo>
                    <a:pt x="1724025" y="0"/>
                  </a:lnTo>
                  <a:lnTo>
                    <a:pt x="0" y="0"/>
                  </a:lnTo>
                  <a:close/>
                </a:path>
              </a:pathLst>
            </a:custGeom>
            <a:solidFill>
              <a:srgbClr val="000000">
                <a:alpha val="0"/>
              </a:srgbClr>
            </a:solidFill>
          </p:spPr>
        </p:sp>
      </p:grpSp>
      <p:grpSp>
        <p:nvGrpSpPr>
          <p:cNvPr name="Group 45" id="45"/>
          <p:cNvGrpSpPr/>
          <p:nvPr/>
        </p:nvGrpSpPr>
        <p:grpSpPr>
          <a:xfrm rot="0">
            <a:off x="7475534" y="1851974"/>
            <a:ext cx="3291202" cy="4525642"/>
            <a:chOff x="0" y="0"/>
            <a:chExt cx="3291205" cy="4525645"/>
          </a:xfrm>
        </p:grpSpPr>
        <p:sp>
          <p:nvSpPr>
            <p:cNvPr name="Freeform 46" id="46"/>
            <p:cNvSpPr/>
            <p:nvPr/>
          </p:nvSpPr>
          <p:spPr>
            <a:xfrm flipH="false" flipV="false" rot="0">
              <a:off x="63500" y="63500"/>
              <a:ext cx="3164205" cy="4398645"/>
            </a:xfrm>
            <a:custGeom>
              <a:avLst/>
              <a:gdLst/>
              <a:ahLst/>
              <a:cxnLst/>
              <a:rect r="r" b="b" t="t" l="l"/>
              <a:pathLst>
                <a:path h="4398645" w="3164205">
                  <a:moveTo>
                    <a:pt x="0" y="4398645"/>
                  </a:moveTo>
                  <a:lnTo>
                    <a:pt x="3164205" y="4398645"/>
                  </a:lnTo>
                  <a:lnTo>
                    <a:pt x="3164205" y="0"/>
                  </a:lnTo>
                  <a:lnTo>
                    <a:pt x="0" y="0"/>
                  </a:lnTo>
                  <a:close/>
                </a:path>
              </a:pathLst>
            </a:custGeom>
            <a:solidFill>
              <a:srgbClr val="000000">
                <a:alpha val="0"/>
              </a:srgbClr>
            </a:solidFill>
          </p:spPr>
        </p:sp>
        <p:sp>
          <p:nvSpPr>
            <p:cNvPr name="Freeform 47" id="47"/>
            <p:cNvSpPr/>
            <p:nvPr/>
          </p:nvSpPr>
          <p:spPr>
            <a:xfrm flipH="false" flipV="false" rot="0">
              <a:off x="1229360" y="337820"/>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48" id="48"/>
          <p:cNvGrpSpPr/>
          <p:nvPr/>
        </p:nvGrpSpPr>
        <p:grpSpPr>
          <a:xfrm rot="0">
            <a:off x="9176318" y="7201214"/>
            <a:ext cx="4114162" cy="1069210"/>
            <a:chOff x="0" y="0"/>
            <a:chExt cx="4114165" cy="1069213"/>
          </a:xfrm>
        </p:grpSpPr>
        <p:sp>
          <p:nvSpPr>
            <p:cNvPr name="Freeform 49" id="49"/>
            <p:cNvSpPr/>
            <p:nvPr/>
          </p:nvSpPr>
          <p:spPr>
            <a:xfrm flipH="false" flipV="false" rot="0">
              <a:off x="63500" y="63500"/>
              <a:ext cx="3987165" cy="942213"/>
            </a:xfrm>
            <a:custGeom>
              <a:avLst/>
              <a:gdLst/>
              <a:ahLst/>
              <a:cxnLst/>
              <a:rect r="r" b="b" t="t" l="l"/>
              <a:pathLst>
                <a:path h="942213" w="3987165">
                  <a:moveTo>
                    <a:pt x="0" y="942213"/>
                  </a:moveTo>
                  <a:lnTo>
                    <a:pt x="3987165" y="942213"/>
                  </a:lnTo>
                  <a:lnTo>
                    <a:pt x="3987165" y="0"/>
                  </a:lnTo>
                  <a:lnTo>
                    <a:pt x="0" y="0"/>
                  </a:lnTo>
                  <a:close/>
                </a:path>
              </a:pathLst>
            </a:custGeom>
            <a:solidFill>
              <a:srgbClr val="000000">
                <a:alpha val="0"/>
              </a:srgbClr>
            </a:solidFill>
          </p:spPr>
        </p:sp>
        <p:sp>
          <p:nvSpPr>
            <p:cNvPr name="Freeform 50" id="50"/>
            <p:cNvSpPr/>
            <p:nvPr/>
          </p:nvSpPr>
          <p:spPr>
            <a:xfrm flipH="false" flipV="false" rot="0">
              <a:off x="269240" y="584708"/>
              <a:ext cx="1724025" cy="338709"/>
            </a:xfrm>
            <a:custGeom>
              <a:avLst/>
              <a:gdLst/>
              <a:ahLst/>
              <a:cxnLst/>
              <a:rect r="r" b="b" t="t" l="l"/>
              <a:pathLst>
                <a:path h="338709" w="1724025">
                  <a:moveTo>
                    <a:pt x="0" y="338709"/>
                  </a:moveTo>
                  <a:lnTo>
                    <a:pt x="1724025" y="338709"/>
                  </a:lnTo>
                  <a:lnTo>
                    <a:pt x="1724025" y="0"/>
                  </a:lnTo>
                  <a:lnTo>
                    <a:pt x="0" y="0"/>
                  </a:lnTo>
                  <a:close/>
                </a:path>
              </a:pathLst>
            </a:custGeom>
            <a:solidFill>
              <a:srgbClr val="000000">
                <a:alpha val="0"/>
              </a:srgbClr>
            </a:solidFill>
          </p:spPr>
        </p:sp>
      </p:grpSp>
      <p:grpSp>
        <p:nvGrpSpPr>
          <p:cNvPr name="Group 51" id="51"/>
          <p:cNvGrpSpPr/>
          <p:nvPr/>
        </p:nvGrpSpPr>
        <p:grpSpPr>
          <a:xfrm rot="0">
            <a:off x="9176318" y="8298494"/>
            <a:ext cx="4114162" cy="1069210"/>
            <a:chOff x="0" y="0"/>
            <a:chExt cx="4114165" cy="1069213"/>
          </a:xfrm>
        </p:grpSpPr>
        <p:sp>
          <p:nvSpPr>
            <p:cNvPr name="Freeform 52" id="52"/>
            <p:cNvSpPr/>
            <p:nvPr/>
          </p:nvSpPr>
          <p:spPr>
            <a:xfrm flipH="false" flipV="false" rot="0">
              <a:off x="63500" y="63500"/>
              <a:ext cx="3987165" cy="942213"/>
            </a:xfrm>
            <a:custGeom>
              <a:avLst/>
              <a:gdLst/>
              <a:ahLst/>
              <a:cxnLst/>
              <a:rect r="r" b="b" t="t" l="l"/>
              <a:pathLst>
                <a:path h="942213" w="3987165">
                  <a:moveTo>
                    <a:pt x="0" y="942213"/>
                  </a:moveTo>
                  <a:lnTo>
                    <a:pt x="3987165" y="942213"/>
                  </a:lnTo>
                  <a:lnTo>
                    <a:pt x="3987165" y="0"/>
                  </a:lnTo>
                  <a:lnTo>
                    <a:pt x="0" y="0"/>
                  </a:lnTo>
                  <a:close/>
                </a:path>
              </a:pathLst>
            </a:custGeom>
            <a:solidFill>
              <a:srgbClr val="000000">
                <a:alpha val="0"/>
              </a:srgbClr>
            </a:solidFill>
          </p:spPr>
        </p:sp>
        <p:sp>
          <p:nvSpPr>
            <p:cNvPr name="Freeform 53" id="53"/>
            <p:cNvSpPr/>
            <p:nvPr/>
          </p:nvSpPr>
          <p:spPr>
            <a:xfrm flipH="false" flipV="false" rot="0">
              <a:off x="269240" y="584708"/>
              <a:ext cx="1724025" cy="338709"/>
            </a:xfrm>
            <a:custGeom>
              <a:avLst/>
              <a:gdLst/>
              <a:ahLst/>
              <a:cxnLst/>
              <a:rect r="r" b="b" t="t" l="l"/>
              <a:pathLst>
                <a:path h="338709" w="1724025">
                  <a:moveTo>
                    <a:pt x="0" y="338709"/>
                  </a:moveTo>
                  <a:lnTo>
                    <a:pt x="1724025" y="338709"/>
                  </a:lnTo>
                  <a:lnTo>
                    <a:pt x="1724025" y="0"/>
                  </a:lnTo>
                  <a:lnTo>
                    <a:pt x="0" y="0"/>
                  </a:lnTo>
                  <a:close/>
                </a:path>
              </a:pathLst>
            </a:custGeom>
            <a:solidFill>
              <a:srgbClr val="000000">
                <a:alpha val="0"/>
              </a:srgbClr>
            </a:solidFill>
          </p:spPr>
        </p:sp>
      </p:grpSp>
      <p:grpSp>
        <p:nvGrpSpPr>
          <p:cNvPr name="Group 54" id="54"/>
          <p:cNvGrpSpPr/>
          <p:nvPr/>
        </p:nvGrpSpPr>
        <p:grpSpPr>
          <a:xfrm rot="0">
            <a:off x="10835954" y="1851974"/>
            <a:ext cx="3291202" cy="4525642"/>
            <a:chOff x="0" y="0"/>
            <a:chExt cx="3291205" cy="4525645"/>
          </a:xfrm>
        </p:grpSpPr>
        <p:sp>
          <p:nvSpPr>
            <p:cNvPr name="Freeform 55" id="55"/>
            <p:cNvSpPr/>
            <p:nvPr/>
          </p:nvSpPr>
          <p:spPr>
            <a:xfrm flipH="false" flipV="false" rot="0">
              <a:off x="63500" y="63500"/>
              <a:ext cx="3164205" cy="4398645"/>
            </a:xfrm>
            <a:custGeom>
              <a:avLst/>
              <a:gdLst/>
              <a:ahLst/>
              <a:cxnLst/>
              <a:rect r="r" b="b" t="t" l="l"/>
              <a:pathLst>
                <a:path h="4398645" w="3164205">
                  <a:moveTo>
                    <a:pt x="0" y="4398645"/>
                  </a:moveTo>
                  <a:lnTo>
                    <a:pt x="3164205" y="4398645"/>
                  </a:lnTo>
                  <a:lnTo>
                    <a:pt x="3164205" y="0"/>
                  </a:lnTo>
                  <a:lnTo>
                    <a:pt x="0" y="0"/>
                  </a:lnTo>
                  <a:close/>
                </a:path>
              </a:pathLst>
            </a:custGeom>
            <a:solidFill>
              <a:srgbClr val="000000">
                <a:alpha val="0"/>
              </a:srgbClr>
            </a:solidFill>
          </p:spPr>
        </p:sp>
        <p:sp>
          <p:nvSpPr>
            <p:cNvPr name="Freeform 56" id="56"/>
            <p:cNvSpPr/>
            <p:nvPr/>
          </p:nvSpPr>
          <p:spPr>
            <a:xfrm flipH="false" flipV="false" rot="0">
              <a:off x="1229360" y="337820"/>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57" id="57"/>
          <p:cNvGrpSpPr/>
          <p:nvPr/>
        </p:nvGrpSpPr>
        <p:grpSpPr>
          <a:xfrm rot="0">
            <a:off x="13387130" y="7201214"/>
            <a:ext cx="4114162" cy="1069210"/>
            <a:chOff x="0" y="0"/>
            <a:chExt cx="4114165" cy="1069213"/>
          </a:xfrm>
        </p:grpSpPr>
        <p:sp>
          <p:nvSpPr>
            <p:cNvPr name="Freeform 58" id="58"/>
            <p:cNvSpPr/>
            <p:nvPr/>
          </p:nvSpPr>
          <p:spPr>
            <a:xfrm flipH="false" flipV="false" rot="0">
              <a:off x="63500" y="63500"/>
              <a:ext cx="3987166" cy="942213"/>
            </a:xfrm>
            <a:custGeom>
              <a:avLst/>
              <a:gdLst/>
              <a:ahLst/>
              <a:cxnLst/>
              <a:rect r="r" b="b" t="t" l="l"/>
              <a:pathLst>
                <a:path h="942213" w="3987166">
                  <a:moveTo>
                    <a:pt x="0" y="942213"/>
                  </a:moveTo>
                  <a:lnTo>
                    <a:pt x="3987166" y="942213"/>
                  </a:lnTo>
                  <a:lnTo>
                    <a:pt x="3987166" y="0"/>
                  </a:lnTo>
                  <a:lnTo>
                    <a:pt x="0" y="0"/>
                  </a:lnTo>
                  <a:close/>
                </a:path>
              </a:pathLst>
            </a:custGeom>
            <a:solidFill>
              <a:srgbClr val="000000">
                <a:alpha val="0"/>
              </a:srgbClr>
            </a:solidFill>
          </p:spPr>
        </p:sp>
        <p:sp>
          <p:nvSpPr>
            <p:cNvPr name="Freeform 59" id="59"/>
            <p:cNvSpPr/>
            <p:nvPr/>
          </p:nvSpPr>
          <p:spPr>
            <a:xfrm flipH="false" flipV="false" rot="0">
              <a:off x="269240" y="584708"/>
              <a:ext cx="1724025" cy="338709"/>
            </a:xfrm>
            <a:custGeom>
              <a:avLst/>
              <a:gdLst/>
              <a:ahLst/>
              <a:cxnLst/>
              <a:rect r="r" b="b" t="t" l="l"/>
              <a:pathLst>
                <a:path h="338709" w="1724025">
                  <a:moveTo>
                    <a:pt x="0" y="338709"/>
                  </a:moveTo>
                  <a:lnTo>
                    <a:pt x="1724025" y="338709"/>
                  </a:lnTo>
                  <a:lnTo>
                    <a:pt x="1724025" y="0"/>
                  </a:lnTo>
                  <a:lnTo>
                    <a:pt x="0" y="0"/>
                  </a:lnTo>
                  <a:close/>
                </a:path>
              </a:pathLst>
            </a:custGeom>
            <a:solidFill>
              <a:srgbClr val="000000">
                <a:alpha val="0"/>
              </a:srgbClr>
            </a:solidFill>
          </p:spPr>
        </p:sp>
      </p:grpSp>
      <p:grpSp>
        <p:nvGrpSpPr>
          <p:cNvPr name="Group 60" id="60"/>
          <p:cNvGrpSpPr/>
          <p:nvPr/>
        </p:nvGrpSpPr>
        <p:grpSpPr>
          <a:xfrm rot="0">
            <a:off x="13387130" y="8298494"/>
            <a:ext cx="4114162" cy="1069210"/>
            <a:chOff x="0" y="0"/>
            <a:chExt cx="4114165" cy="1069213"/>
          </a:xfrm>
        </p:grpSpPr>
        <p:sp>
          <p:nvSpPr>
            <p:cNvPr name="Freeform 61" id="61"/>
            <p:cNvSpPr/>
            <p:nvPr/>
          </p:nvSpPr>
          <p:spPr>
            <a:xfrm flipH="false" flipV="false" rot="0">
              <a:off x="63500" y="63500"/>
              <a:ext cx="3987166" cy="942213"/>
            </a:xfrm>
            <a:custGeom>
              <a:avLst/>
              <a:gdLst/>
              <a:ahLst/>
              <a:cxnLst/>
              <a:rect r="r" b="b" t="t" l="l"/>
              <a:pathLst>
                <a:path h="942213" w="3987166">
                  <a:moveTo>
                    <a:pt x="0" y="942213"/>
                  </a:moveTo>
                  <a:lnTo>
                    <a:pt x="3987166" y="942213"/>
                  </a:lnTo>
                  <a:lnTo>
                    <a:pt x="3987166" y="0"/>
                  </a:lnTo>
                  <a:lnTo>
                    <a:pt x="0" y="0"/>
                  </a:lnTo>
                  <a:close/>
                </a:path>
              </a:pathLst>
            </a:custGeom>
            <a:solidFill>
              <a:srgbClr val="000000">
                <a:alpha val="0"/>
              </a:srgbClr>
            </a:solidFill>
          </p:spPr>
        </p:sp>
        <p:sp>
          <p:nvSpPr>
            <p:cNvPr name="Freeform 62" id="62"/>
            <p:cNvSpPr/>
            <p:nvPr/>
          </p:nvSpPr>
          <p:spPr>
            <a:xfrm flipH="false" flipV="false" rot="0">
              <a:off x="269240" y="584708"/>
              <a:ext cx="1724025" cy="338709"/>
            </a:xfrm>
            <a:custGeom>
              <a:avLst/>
              <a:gdLst/>
              <a:ahLst/>
              <a:cxnLst/>
              <a:rect r="r" b="b" t="t" l="l"/>
              <a:pathLst>
                <a:path h="338709" w="1724025">
                  <a:moveTo>
                    <a:pt x="0" y="338709"/>
                  </a:moveTo>
                  <a:lnTo>
                    <a:pt x="1724025" y="338709"/>
                  </a:lnTo>
                  <a:lnTo>
                    <a:pt x="1724025" y="0"/>
                  </a:lnTo>
                  <a:lnTo>
                    <a:pt x="0" y="0"/>
                  </a:lnTo>
                  <a:close/>
                </a:path>
              </a:pathLst>
            </a:custGeom>
            <a:solidFill>
              <a:srgbClr val="000000">
                <a:alpha val="0"/>
              </a:srgbClr>
            </a:solidFill>
          </p:spPr>
        </p:sp>
      </p:grpSp>
      <p:grpSp>
        <p:nvGrpSpPr>
          <p:cNvPr name="Group 63" id="63"/>
          <p:cNvGrpSpPr/>
          <p:nvPr/>
        </p:nvGrpSpPr>
        <p:grpSpPr>
          <a:xfrm rot="0">
            <a:off x="14196374" y="1851974"/>
            <a:ext cx="3291202" cy="4525642"/>
            <a:chOff x="0" y="0"/>
            <a:chExt cx="3291205" cy="4525645"/>
          </a:xfrm>
        </p:grpSpPr>
        <p:sp>
          <p:nvSpPr>
            <p:cNvPr name="Freeform 64" id="64"/>
            <p:cNvSpPr/>
            <p:nvPr/>
          </p:nvSpPr>
          <p:spPr>
            <a:xfrm flipH="false" flipV="false" rot="0">
              <a:off x="63500" y="63500"/>
              <a:ext cx="3164205" cy="4398645"/>
            </a:xfrm>
            <a:custGeom>
              <a:avLst/>
              <a:gdLst/>
              <a:ahLst/>
              <a:cxnLst/>
              <a:rect r="r" b="b" t="t" l="l"/>
              <a:pathLst>
                <a:path h="4398645" w="3164205">
                  <a:moveTo>
                    <a:pt x="0" y="4398645"/>
                  </a:moveTo>
                  <a:lnTo>
                    <a:pt x="3164205" y="4398645"/>
                  </a:lnTo>
                  <a:lnTo>
                    <a:pt x="3164205" y="0"/>
                  </a:lnTo>
                  <a:lnTo>
                    <a:pt x="0" y="0"/>
                  </a:lnTo>
                  <a:close/>
                </a:path>
              </a:pathLst>
            </a:custGeom>
            <a:solidFill>
              <a:srgbClr val="000000">
                <a:alpha val="0"/>
              </a:srgbClr>
            </a:solidFill>
          </p:spPr>
        </p:sp>
        <p:sp>
          <p:nvSpPr>
            <p:cNvPr name="Freeform 65" id="65"/>
            <p:cNvSpPr/>
            <p:nvPr/>
          </p:nvSpPr>
          <p:spPr>
            <a:xfrm flipH="false" flipV="false" rot="0">
              <a:off x="1229360" y="337820"/>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sp>
        <p:nvSpPr>
          <p:cNvPr name="TextBox 66" id="66"/>
          <p:cNvSpPr txBox="true"/>
          <p:nvPr/>
        </p:nvSpPr>
        <p:spPr>
          <a:xfrm rot="0">
            <a:off x="822960" y="9673876"/>
            <a:ext cx="2720912"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AI Patient Risk Assessment System</a:t>
            </a:r>
          </a:p>
        </p:txBody>
      </p:sp>
      <p:sp>
        <p:nvSpPr>
          <p:cNvPr name="TextBox 67" id="67"/>
          <p:cNvSpPr txBox="true"/>
          <p:nvPr/>
        </p:nvSpPr>
        <p:spPr>
          <a:xfrm rot="0">
            <a:off x="17272397" y="9624346"/>
            <a:ext cx="98479"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9</a:t>
            </a:r>
          </a:p>
        </p:txBody>
      </p:sp>
      <p:sp>
        <p:nvSpPr>
          <p:cNvPr name="TextBox 68" id="68"/>
          <p:cNvSpPr txBox="true"/>
          <p:nvPr/>
        </p:nvSpPr>
        <p:spPr>
          <a:xfrm rot="0">
            <a:off x="822960" y="598456"/>
            <a:ext cx="7711983" cy="832085"/>
          </a:xfrm>
          <a:prstGeom prst="rect">
            <a:avLst/>
          </a:prstGeom>
        </p:spPr>
        <p:txBody>
          <a:bodyPr anchor="t" rtlCol="false" tIns="0" lIns="0" bIns="0" rIns="0">
            <a:spAutoFit/>
          </a:bodyPr>
          <a:lstStyle/>
          <a:p>
            <a:pPr algn="l">
              <a:lnSpc>
                <a:spcPts val="6719"/>
              </a:lnSpc>
            </a:pPr>
            <a:r>
              <a:rPr lang="en-US" b="true" sz="4800">
                <a:solidFill>
                  <a:srgbClr val="0B2545"/>
                </a:solidFill>
                <a:latin typeface="Cambria Bold"/>
                <a:ea typeface="Cambria Bold"/>
                <a:cs typeface="Cambria Bold"/>
                <a:sym typeface="Cambria Bold"/>
              </a:rPr>
              <a:t>Outputs and Main Features</a:t>
            </a:r>
          </a:p>
        </p:txBody>
      </p:sp>
      <p:sp>
        <p:nvSpPr>
          <p:cNvPr name="TextBox 69" id="69"/>
          <p:cNvSpPr txBox="true"/>
          <p:nvPr/>
        </p:nvSpPr>
        <p:spPr>
          <a:xfrm rot="0">
            <a:off x="1563919" y="3382089"/>
            <a:ext cx="1705927"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Predicted Class</a:t>
            </a:r>
          </a:p>
        </p:txBody>
      </p:sp>
      <p:sp>
        <p:nvSpPr>
          <p:cNvPr name="TextBox 70" id="70"/>
          <p:cNvSpPr txBox="true"/>
          <p:nvPr/>
        </p:nvSpPr>
        <p:spPr>
          <a:xfrm rot="0">
            <a:off x="4674156" y="3382089"/>
            <a:ext cx="2216248"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Model Probabilities</a:t>
            </a:r>
          </a:p>
        </p:txBody>
      </p:sp>
      <p:sp>
        <p:nvSpPr>
          <p:cNvPr name="TextBox 71" id="71"/>
          <p:cNvSpPr txBox="true"/>
          <p:nvPr/>
        </p:nvSpPr>
        <p:spPr>
          <a:xfrm rot="0">
            <a:off x="7981588" y="3382089"/>
            <a:ext cx="2324376"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Validation Messages</a:t>
            </a:r>
          </a:p>
        </p:txBody>
      </p:sp>
      <p:sp>
        <p:nvSpPr>
          <p:cNvPr name="TextBox 72" id="72"/>
          <p:cNvSpPr txBox="true"/>
          <p:nvPr/>
        </p:nvSpPr>
        <p:spPr>
          <a:xfrm rot="0">
            <a:off x="11355553" y="3382089"/>
            <a:ext cx="2296878"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Prediction Summary</a:t>
            </a:r>
          </a:p>
        </p:txBody>
      </p:sp>
      <p:sp>
        <p:nvSpPr>
          <p:cNvPr name="TextBox 73" id="73"/>
          <p:cNvSpPr txBox="true"/>
          <p:nvPr/>
        </p:nvSpPr>
        <p:spPr>
          <a:xfrm rot="0">
            <a:off x="14758988" y="3382089"/>
            <a:ext cx="2208952" cy="392430"/>
          </a:xfrm>
          <a:prstGeom prst="rect">
            <a:avLst/>
          </a:prstGeom>
        </p:spPr>
        <p:txBody>
          <a:bodyPr anchor="t" rtlCol="false" tIns="0" lIns="0" bIns="0" rIns="0">
            <a:spAutoFit/>
          </a:bodyPr>
          <a:lstStyle/>
          <a:p>
            <a:pPr algn="l">
              <a:lnSpc>
                <a:spcPts val="2940"/>
              </a:lnSpc>
            </a:pPr>
            <a:r>
              <a:rPr lang="en-US" b="true" sz="2100">
                <a:solidFill>
                  <a:srgbClr val="0B2545"/>
                </a:solidFill>
                <a:latin typeface="Calibri (MS) Bold"/>
                <a:ea typeface="Calibri (MS) Bold"/>
                <a:cs typeface="Calibri (MS) Bold"/>
                <a:sym typeface="Calibri (MS) Bold"/>
              </a:rPr>
              <a:t>Assessment History</a:t>
            </a:r>
          </a:p>
        </p:txBody>
      </p:sp>
      <p:sp>
        <p:nvSpPr>
          <p:cNvPr name="TextBox 74" id="74"/>
          <p:cNvSpPr txBox="true"/>
          <p:nvPr/>
        </p:nvSpPr>
        <p:spPr>
          <a:xfrm rot="0">
            <a:off x="1079002" y="4019312"/>
            <a:ext cx="2695375" cy="1218248"/>
          </a:xfrm>
          <a:prstGeom prst="rect">
            <a:avLst/>
          </a:prstGeom>
        </p:spPr>
        <p:txBody>
          <a:bodyPr anchor="t" rtlCol="false" tIns="0" lIns="0" bIns="0" rIns="0">
            <a:spAutoFit/>
          </a:bodyPr>
          <a:lstStyle/>
          <a:p>
            <a:pPr algn="ctr">
              <a:lnSpc>
                <a:spcPts val="2324"/>
              </a:lnSpc>
            </a:pPr>
            <a:r>
              <a:rPr lang="en-US" sz="1950">
                <a:solidFill>
                  <a:srgbClr val="5A6B82"/>
                </a:solidFill>
                <a:latin typeface="Calibri (MS)"/>
                <a:ea typeface="Calibri (MS)"/>
                <a:cs typeface="Calibri (MS)"/>
                <a:sym typeface="Calibri (MS)"/>
              </a:rPr>
              <a:t>The model picks one of 8 classes, for example N (normal) or DI_HY (diabetes + hypertension).</a:t>
            </a:r>
          </a:p>
        </p:txBody>
      </p:sp>
      <p:sp>
        <p:nvSpPr>
          <p:cNvPr name="TextBox 75" id="75"/>
          <p:cNvSpPr txBox="true"/>
          <p:nvPr/>
        </p:nvSpPr>
        <p:spPr>
          <a:xfrm rot="0">
            <a:off x="4390911" y="4019312"/>
            <a:ext cx="2794302" cy="1218248"/>
          </a:xfrm>
          <a:prstGeom prst="rect">
            <a:avLst/>
          </a:prstGeom>
        </p:spPr>
        <p:txBody>
          <a:bodyPr anchor="t" rtlCol="false" tIns="0" lIns="0" bIns="0" rIns="0">
            <a:spAutoFit/>
          </a:bodyPr>
          <a:lstStyle/>
          <a:p>
            <a:pPr algn="ctr">
              <a:lnSpc>
                <a:spcPts val="2324"/>
              </a:lnSpc>
            </a:pPr>
            <a:r>
              <a:rPr lang="en-US" sz="1950">
                <a:solidFill>
                  <a:srgbClr val="5A6B82"/>
                </a:solidFill>
                <a:latin typeface="Calibri (MS)"/>
                <a:ea typeface="Calibri (MS)"/>
                <a:cs typeface="Calibri (MS)"/>
                <a:sym typeface="Calibri (MS)"/>
              </a:rPr>
              <a:t>Shows how strongly the model favours each class,</a:t>
            </a:r>
          </a:p>
          <a:p>
            <a:pPr algn="ctr">
              <a:lnSpc>
                <a:spcPts val="2324"/>
              </a:lnSpc>
            </a:pPr>
            <a:r>
              <a:rPr lang="en-US" sz="1950">
                <a:solidFill>
                  <a:srgbClr val="5A6B82"/>
                </a:solidFill>
                <a:latin typeface="Calibri (MS)"/>
                <a:ea typeface="Calibri (MS)"/>
                <a:cs typeface="Calibri (MS)"/>
                <a:sym typeface="Calibri (MS)"/>
              </a:rPr>
              <a:t>if supported. Not a medical risk percentage.</a:t>
            </a:r>
          </a:p>
        </p:txBody>
      </p:sp>
      <p:sp>
        <p:nvSpPr>
          <p:cNvPr name="TextBox 76" id="76"/>
          <p:cNvSpPr txBox="true"/>
          <p:nvPr/>
        </p:nvSpPr>
        <p:spPr>
          <a:xfrm rot="0">
            <a:off x="7929324" y="4019312"/>
            <a:ext cx="2431056" cy="1218248"/>
          </a:xfrm>
          <a:prstGeom prst="rect">
            <a:avLst/>
          </a:prstGeom>
        </p:spPr>
        <p:txBody>
          <a:bodyPr anchor="t" rtlCol="false" tIns="0" lIns="0" bIns="0" rIns="0">
            <a:spAutoFit/>
          </a:bodyPr>
          <a:lstStyle/>
          <a:p>
            <a:pPr algn="ctr">
              <a:lnSpc>
                <a:spcPts val="2324"/>
              </a:lnSpc>
            </a:pPr>
            <a:r>
              <a:rPr lang="en-US" sz="1950">
                <a:solidFill>
                  <a:srgbClr val="5A6B82"/>
                </a:solidFill>
                <a:latin typeface="Calibri (MS)"/>
                <a:ea typeface="Calibri (MS)"/>
                <a:cs typeface="Calibri (MS)"/>
                <a:sym typeface="Calibri (MS)"/>
              </a:rPr>
              <a:t>Warns when a value is missing or out of range, before any prediction is made.</a:t>
            </a:r>
          </a:p>
        </p:txBody>
      </p:sp>
      <p:sp>
        <p:nvSpPr>
          <p:cNvPr name="TextBox 77" id="77"/>
          <p:cNvSpPr txBox="true"/>
          <p:nvPr/>
        </p:nvSpPr>
        <p:spPr>
          <a:xfrm rot="0">
            <a:off x="11137640" y="4019312"/>
            <a:ext cx="2741381" cy="1218248"/>
          </a:xfrm>
          <a:prstGeom prst="rect">
            <a:avLst/>
          </a:prstGeom>
        </p:spPr>
        <p:txBody>
          <a:bodyPr anchor="t" rtlCol="false" tIns="0" lIns="0" bIns="0" rIns="0">
            <a:spAutoFit/>
          </a:bodyPr>
          <a:lstStyle/>
          <a:p>
            <a:pPr algn="ctr">
              <a:lnSpc>
                <a:spcPts val="2324"/>
              </a:lnSpc>
            </a:pPr>
            <a:r>
              <a:rPr lang="en-US" sz="1950">
                <a:solidFill>
                  <a:srgbClr val="5A6B82"/>
                </a:solidFill>
                <a:latin typeface="Calibri (MS)"/>
                <a:ea typeface="Calibri (MS)"/>
                <a:cs typeface="Calibri (MS)"/>
                <a:sym typeface="Calibri (MS)"/>
              </a:rPr>
              <a:t>A readable result: entered values, predicted class and a reminder that it is not a diagnosis.</a:t>
            </a:r>
          </a:p>
        </p:txBody>
      </p:sp>
      <p:sp>
        <p:nvSpPr>
          <p:cNvPr name="TextBox 78" id="78"/>
          <p:cNvSpPr txBox="true"/>
          <p:nvPr/>
        </p:nvSpPr>
        <p:spPr>
          <a:xfrm rot="0">
            <a:off x="14485115" y="4019312"/>
            <a:ext cx="2767898" cy="922973"/>
          </a:xfrm>
          <a:prstGeom prst="rect">
            <a:avLst/>
          </a:prstGeom>
        </p:spPr>
        <p:txBody>
          <a:bodyPr anchor="t" rtlCol="false" tIns="0" lIns="0" bIns="0" rIns="0">
            <a:spAutoFit/>
          </a:bodyPr>
          <a:lstStyle/>
          <a:p>
            <a:pPr algn="ctr">
              <a:lnSpc>
                <a:spcPts val="2324"/>
              </a:lnSpc>
            </a:pPr>
            <a:r>
              <a:rPr lang="en-US" sz="1950">
                <a:solidFill>
                  <a:srgbClr val="5A6B82"/>
                </a:solidFill>
                <a:latin typeface="Calibri (MS)"/>
                <a:ea typeface="Calibri (MS)"/>
                <a:cs typeface="Calibri (MS)"/>
                <a:sym typeface="Calibri (MS)"/>
              </a:rPr>
              <a:t>Saves past assessments for review. Only if saving is built (planned).</a:t>
            </a:r>
          </a:p>
        </p:txBody>
      </p:sp>
      <p:sp>
        <p:nvSpPr>
          <p:cNvPr name="TextBox 79" id="79"/>
          <p:cNvSpPr txBox="true"/>
          <p:nvPr/>
        </p:nvSpPr>
        <p:spPr>
          <a:xfrm rot="0">
            <a:off x="822960" y="6588633"/>
            <a:ext cx="5032162" cy="467678"/>
          </a:xfrm>
          <a:prstGeom prst="rect">
            <a:avLst/>
          </a:prstGeom>
        </p:spPr>
        <p:txBody>
          <a:bodyPr anchor="t" rtlCol="false" tIns="0" lIns="0" bIns="0" rIns="0">
            <a:spAutoFit/>
          </a:bodyPr>
          <a:lstStyle/>
          <a:p>
            <a:pPr algn="l">
              <a:lnSpc>
                <a:spcPts val="3569"/>
              </a:lnSpc>
            </a:pPr>
            <a:r>
              <a:rPr lang="en-US" b="true" sz="2550">
                <a:solidFill>
                  <a:srgbClr val="0B2545"/>
                </a:solidFill>
                <a:latin typeface="Calibri (MS) Bold"/>
                <a:ea typeface="Calibri (MS) Bold"/>
                <a:cs typeface="Calibri (MS) Bold"/>
                <a:sym typeface="Calibri (MS) Bold"/>
              </a:rPr>
              <a:t>Main application features and status</a:t>
            </a:r>
          </a:p>
        </p:txBody>
      </p:sp>
      <p:sp>
        <p:nvSpPr>
          <p:cNvPr name="TextBox 80" id="80"/>
          <p:cNvSpPr txBox="true"/>
          <p:nvPr/>
        </p:nvSpPr>
        <p:spPr>
          <a:xfrm rot="0">
            <a:off x="1028700" y="8441560"/>
            <a:ext cx="1949386" cy="350044"/>
          </a:xfrm>
          <a:prstGeom prst="rect">
            <a:avLst/>
          </a:prstGeom>
        </p:spPr>
        <p:txBody>
          <a:bodyPr anchor="t" rtlCol="false" tIns="0" lIns="0" bIns="0" rIns="0">
            <a:spAutoFit/>
          </a:bodyPr>
          <a:lstStyle/>
          <a:p>
            <a:pPr algn="l">
              <a:lnSpc>
                <a:spcPts val="2625"/>
              </a:lnSpc>
            </a:pPr>
            <a:r>
              <a:rPr lang="en-US" b="true" sz="1875">
                <a:solidFill>
                  <a:srgbClr val="0B2545"/>
                </a:solidFill>
                <a:latin typeface="Calibri (MS) Bold"/>
                <a:ea typeface="Calibri (MS) Bold"/>
                <a:cs typeface="Calibri (MS) Bold"/>
                <a:sym typeface="Calibri (MS) Bold"/>
              </a:rPr>
              <a:t>Assessment history</a:t>
            </a:r>
          </a:p>
        </p:txBody>
      </p:sp>
      <p:sp>
        <p:nvSpPr>
          <p:cNvPr name="TextBox 81" id="81"/>
          <p:cNvSpPr txBox="true"/>
          <p:nvPr/>
        </p:nvSpPr>
        <p:spPr>
          <a:xfrm rot="0">
            <a:off x="1028700" y="7344280"/>
            <a:ext cx="2401357" cy="350044"/>
          </a:xfrm>
          <a:prstGeom prst="rect">
            <a:avLst/>
          </a:prstGeom>
        </p:spPr>
        <p:txBody>
          <a:bodyPr anchor="t" rtlCol="false" tIns="0" lIns="0" bIns="0" rIns="0">
            <a:spAutoFit/>
          </a:bodyPr>
          <a:lstStyle/>
          <a:p>
            <a:pPr algn="l">
              <a:lnSpc>
                <a:spcPts val="2625"/>
              </a:lnSpc>
            </a:pPr>
            <a:r>
              <a:rPr lang="en-US" b="true" sz="1875">
                <a:solidFill>
                  <a:srgbClr val="0B2545"/>
                </a:solidFill>
                <a:latin typeface="Calibri (MS) Bold"/>
                <a:ea typeface="Calibri (MS) Bold"/>
                <a:cs typeface="Calibri (MS) Bold"/>
                <a:sym typeface="Calibri (MS) Bold"/>
              </a:rPr>
              <a:t>Clinical-style dashboard</a:t>
            </a:r>
          </a:p>
        </p:txBody>
      </p:sp>
      <p:sp>
        <p:nvSpPr>
          <p:cNvPr name="TextBox 82" id="82"/>
          <p:cNvSpPr txBox="true"/>
          <p:nvPr/>
        </p:nvSpPr>
        <p:spPr>
          <a:xfrm rot="0">
            <a:off x="5239512" y="8441560"/>
            <a:ext cx="1850479" cy="350044"/>
          </a:xfrm>
          <a:prstGeom prst="rect">
            <a:avLst/>
          </a:prstGeom>
        </p:spPr>
        <p:txBody>
          <a:bodyPr anchor="t" rtlCol="false" tIns="0" lIns="0" bIns="0" rIns="0">
            <a:spAutoFit/>
          </a:bodyPr>
          <a:lstStyle/>
          <a:p>
            <a:pPr algn="l">
              <a:lnSpc>
                <a:spcPts val="2625"/>
              </a:lnSpc>
            </a:pPr>
            <a:r>
              <a:rPr lang="en-US" b="true" sz="1875">
                <a:solidFill>
                  <a:srgbClr val="0B2545"/>
                </a:solidFill>
                <a:latin typeface="Calibri (MS) Bold"/>
                <a:ea typeface="Calibri (MS) Bold"/>
                <a:cs typeface="Calibri (MS) Bold"/>
                <a:sym typeface="Calibri (MS) Bold"/>
              </a:rPr>
              <a:t>Responsive design</a:t>
            </a:r>
          </a:p>
        </p:txBody>
      </p:sp>
      <p:sp>
        <p:nvSpPr>
          <p:cNvPr name="TextBox 83" id="83"/>
          <p:cNvSpPr txBox="true"/>
          <p:nvPr/>
        </p:nvSpPr>
        <p:spPr>
          <a:xfrm rot="0">
            <a:off x="5239512" y="7344280"/>
            <a:ext cx="2495169" cy="350044"/>
          </a:xfrm>
          <a:prstGeom prst="rect">
            <a:avLst/>
          </a:prstGeom>
        </p:spPr>
        <p:txBody>
          <a:bodyPr anchor="t" rtlCol="false" tIns="0" lIns="0" bIns="0" rIns="0">
            <a:spAutoFit/>
          </a:bodyPr>
          <a:lstStyle/>
          <a:p>
            <a:pPr algn="l">
              <a:lnSpc>
                <a:spcPts val="2625"/>
              </a:lnSpc>
            </a:pPr>
            <a:r>
              <a:rPr lang="en-US" b="true" sz="1875">
                <a:solidFill>
                  <a:srgbClr val="0B2545"/>
                </a:solidFill>
                <a:latin typeface="Calibri (MS) Bold"/>
                <a:ea typeface="Calibri (MS) Bold"/>
                <a:cs typeface="Calibri (MS) Bold"/>
                <a:sym typeface="Calibri (MS) Bold"/>
              </a:rPr>
              <a:t>Patient assessment form</a:t>
            </a:r>
          </a:p>
        </p:txBody>
      </p:sp>
      <p:sp>
        <p:nvSpPr>
          <p:cNvPr name="TextBox 84" id="84"/>
          <p:cNvSpPr txBox="true"/>
          <p:nvPr/>
        </p:nvSpPr>
        <p:spPr>
          <a:xfrm rot="0">
            <a:off x="9450324" y="8441560"/>
            <a:ext cx="1832686" cy="350044"/>
          </a:xfrm>
          <a:prstGeom prst="rect">
            <a:avLst/>
          </a:prstGeom>
        </p:spPr>
        <p:txBody>
          <a:bodyPr anchor="t" rtlCol="false" tIns="0" lIns="0" bIns="0" rIns="0">
            <a:spAutoFit/>
          </a:bodyPr>
          <a:lstStyle/>
          <a:p>
            <a:pPr algn="l">
              <a:lnSpc>
                <a:spcPts val="2625"/>
              </a:lnSpc>
            </a:pPr>
            <a:r>
              <a:rPr lang="en-US" b="true" sz="1875">
                <a:solidFill>
                  <a:srgbClr val="0B2545"/>
                </a:solidFill>
                <a:latin typeface="Calibri (MS) Bold"/>
                <a:ea typeface="Calibri (MS) Bold"/>
                <a:cs typeface="Calibri (MS) Bold"/>
                <a:sym typeface="Calibri (MS) Bold"/>
              </a:rPr>
              <a:t>Model integration</a:t>
            </a:r>
          </a:p>
        </p:txBody>
      </p:sp>
      <p:sp>
        <p:nvSpPr>
          <p:cNvPr name="TextBox 85" id="85"/>
          <p:cNvSpPr txBox="true"/>
          <p:nvPr/>
        </p:nvSpPr>
        <p:spPr>
          <a:xfrm rot="0">
            <a:off x="9450324" y="7344280"/>
            <a:ext cx="2994108" cy="350044"/>
          </a:xfrm>
          <a:prstGeom prst="rect">
            <a:avLst/>
          </a:prstGeom>
        </p:spPr>
        <p:txBody>
          <a:bodyPr anchor="t" rtlCol="false" tIns="0" lIns="0" bIns="0" rIns="0">
            <a:spAutoFit/>
          </a:bodyPr>
          <a:lstStyle/>
          <a:p>
            <a:pPr algn="l">
              <a:lnSpc>
                <a:spcPts val="2625"/>
              </a:lnSpc>
            </a:pPr>
            <a:r>
              <a:rPr lang="en-US" b="true" sz="1875">
                <a:solidFill>
                  <a:srgbClr val="0B2545"/>
                </a:solidFill>
                <a:latin typeface="Calibri (MS) Bold"/>
                <a:ea typeface="Calibri (MS) Bold"/>
                <a:cs typeface="Calibri (MS) Bold"/>
                <a:sym typeface="Calibri (MS) Bold"/>
              </a:rPr>
              <a:t>Eight-class prediction (model)</a:t>
            </a:r>
          </a:p>
        </p:txBody>
      </p:sp>
      <p:sp>
        <p:nvSpPr>
          <p:cNvPr name="TextBox 86" id="86"/>
          <p:cNvSpPr txBox="true"/>
          <p:nvPr/>
        </p:nvSpPr>
        <p:spPr>
          <a:xfrm rot="0">
            <a:off x="13661136" y="7344280"/>
            <a:ext cx="2308384" cy="350044"/>
          </a:xfrm>
          <a:prstGeom prst="rect">
            <a:avLst/>
          </a:prstGeom>
        </p:spPr>
        <p:txBody>
          <a:bodyPr anchor="t" rtlCol="false" tIns="0" lIns="0" bIns="0" rIns="0">
            <a:spAutoFit/>
          </a:bodyPr>
          <a:lstStyle/>
          <a:p>
            <a:pPr algn="l">
              <a:lnSpc>
                <a:spcPts val="2625"/>
              </a:lnSpc>
            </a:pPr>
            <a:r>
              <a:rPr lang="en-US" b="true" sz="1875">
                <a:solidFill>
                  <a:srgbClr val="0B2545"/>
                </a:solidFill>
                <a:latin typeface="Calibri (MS) Bold"/>
                <a:ea typeface="Calibri (MS) Bold"/>
                <a:cs typeface="Calibri (MS) Bold"/>
                <a:sym typeface="Calibri (MS) Bold"/>
              </a:rPr>
              <a:t>Prediction results page</a:t>
            </a:r>
          </a:p>
        </p:txBody>
      </p:sp>
      <p:sp>
        <p:nvSpPr>
          <p:cNvPr name="TextBox 87" id="87"/>
          <p:cNvSpPr txBox="true"/>
          <p:nvPr/>
        </p:nvSpPr>
        <p:spPr>
          <a:xfrm rot="0">
            <a:off x="13661136" y="8441560"/>
            <a:ext cx="2451525" cy="350044"/>
          </a:xfrm>
          <a:prstGeom prst="rect">
            <a:avLst/>
          </a:prstGeom>
        </p:spPr>
        <p:txBody>
          <a:bodyPr anchor="t" rtlCol="false" tIns="0" lIns="0" bIns="0" rIns="0">
            <a:spAutoFit/>
          </a:bodyPr>
          <a:lstStyle/>
          <a:p>
            <a:pPr algn="l">
              <a:lnSpc>
                <a:spcPts val="2625"/>
              </a:lnSpc>
            </a:pPr>
            <a:r>
              <a:rPr lang="en-US" b="true" sz="1875">
                <a:solidFill>
                  <a:srgbClr val="0B2545"/>
                </a:solidFill>
                <a:latin typeface="Calibri (MS) Bold"/>
                <a:ea typeface="Calibri (MS) Bold"/>
                <a:cs typeface="Calibri (MS) Bold"/>
                <a:sym typeface="Calibri (MS) Bold"/>
              </a:rPr>
              <a:t>Clear medical disclaimer</a:t>
            </a:r>
          </a:p>
        </p:txBody>
      </p:sp>
      <p:sp>
        <p:nvSpPr>
          <p:cNvPr name="TextBox 88" id="88"/>
          <p:cNvSpPr txBox="true"/>
          <p:nvPr/>
        </p:nvSpPr>
        <p:spPr>
          <a:xfrm rot="0">
            <a:off x="1531296" y="8878738"/>
            <a:ext cx="723462"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Planned</a:t>
            </a:r>
          </a:p>
        </p:txBody>
      </p:sp>
      <p:sp>
        <p:nvSpPr>
          <p:cNvPr name="TextBox 89" id="89"/>
          <p:cNvSpPr txBox="true"/>
          <p:nvPr/>
        </p:nvSpPr>
        <p:spPr>
          <a:xfrm rot="0">
            <a:off x="1404938" y="7781458"/>
            <a:ext cx="981037" cy="307658"/>
          </a:xfrm>
          <a:prstGeom prst="rect">
            <a:avLst/>
          </a:prstGeom>
        </p:spPr>
        <p:txBody>
          <a:bodyPr anchor="t" rtlCol="false" tIns="0" lIns="0" bIns="0" rIns="0">
            <a:spAutoFit/>
          </a:bodyPr>
          <a:lstStyle/>
          <a:p>
            <a:pPr algn="l">
              <a:lnSpc>
                <a:spcPts val="2310"/>
              </a:lnSpc>
            </a:pPr>
            <a:r>
              <a:rPr lang="en-US" b="true" sz="1650">
                <a:solidFill>
                  <a:srgbClr val="0B2545"/>
                </a:solidFill>
                <a:latin typeface="Calibri (MS) Bold"/>
                <a:ea typeface="Calibri (MS) Bold"/>
                <a:cs typeface="Calibri (MS) Bold"/>
                <a:sym typeface="Calibri (MS) Bold"/>
              </a:rPr>
              <a:t>In progress</a:t>
            </a:r>
          </a:p>
        </p:txBody>
      </p:sp>
      <p:sp>
        <p:nvSpPr>
          <p:cNvPr name="TextBox 90" id="90"/>
          <p:cNvSpPr txBox="true"/>
          <p:nvPr/>
        </p:nvSpPr>
        <p:spPr>
          <a:xfrm rot="0">
            <a:off x="5615750" y="7781458"/>
            <a:ext cx="981037" cy="307658"/>
          </a:xfrm>
          <a:prstGeom prst="rect">
            <a:avLst/>
          </a:prstGeom>
        </p:spPr>
        <p:txBody>
          <a:bodyPr anchor="t" rtlCol="false" tIns="0" lIns="0" bIns="0" rIns="0">
            <a:spAutoFit/>
          </a:bodyPr>
          <a:lstStyle/>
          <a:p>
            <a:pPr algn="l">
              <a:lnSpc>
                <a:spcPts val="2310"/>
              </a:lnSpc>
            </a:pPr>
            <a:r>
              <a:rPr lang="en-US" b="true" sz="1650">
                <a:solidFill>
                  <a:srgbClr val="0B2545"/>
                </a:solidFill>
                <a:latin typeface="Calibri (MS) Bold"/>
                <a:ea typeface="Calibri (MS) Bold"/>
                <a:cs typeface="Calibri (MS) Bold"/>
                <a:sym typeface="Calibri (MS) Bold"/>
              </a:rPr>
              <a:t>In progress</a:t>
            </a:r>
          </a:p>
        </p:txBody>
      </p:sp>
      <p:sp>
        <p:nvSpPr>
          <p:cNvPr name="TextBox 91" id="91"/>
          <p:cNvSpPr txBox="true"/>
          <p:nvPr/>
        </p:nvSpPr>
        <p:spPr>
          <a:xfrm rot="0">
            <a:off x="5615750" y="8878738"/>
            <a:ext cx="981037" cy="307658"/>
          </a:xfrm>
          <a:prstGeom prst="rect">
            <a:avLst/>
          </a:prstGeom>
        </p:spPr>
        <p:txBody>
          <a:bodyPr anchor="t" rtlCol="false" tIns="0" lIns="0" bIns="0" rIns="0">
            <a:spAutoFit/>
          </a:bodyPr>
          <a:lstStyle/>
          <a:p>
            <a:pPr algn="l">
              <a:lnSpc>
                <a:spcPts val="2310"/>
              </a:lnSpc>
            </a:pPr>
            <a:r>
              <a:rPr lang="en-US" b="true" sz="1650">
                <a:solidFill>
                  <a:srgbClr val="0B2545"/>
                </a:solidFill>
                <a:latin typeface="Calibri (MS) Bold"/>
                <a:ea typeface="Calibri (MS) Bold"/>
                <a:cs typeface="Calibri (MS) Bold"/>
                <a:sym typeface="Calibri (MS) Bold"/>
              </a:rPr>
              <a:t>In progress</a:t>
            </a:r>
          </a:p>
        </p:txBody>
      </p:sp>
      <p:sp>
        <p:nvSpPr>
          <p:cNvPr name="TextBox 92" id="92"/>
          <p:cNvSpPr txBox="true"/>
          <p:nvPr/>
        </p:nvSpPr>
        <p:spPr>
          <a:xfrm rot="0">
            <a:off x="9952920" y="8878738"/>
            <a:ext cx="723462"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Planned</a:t>
            </a:r>
          </a:p>
        </p:txBody>
      </p:sp>
      <p:sp>
        <p:nvSpPr>
          <p:cNvPr name="TextBox 93" id="93"/>
          <p:cNvSpPr txBox="true"/>
          <p:nvPr/>
        </p:nvSpPr>
        <p:spPr>
          <a:xfrm rot="0">
            <a:off x="9720148" y="7781458"/>
            <a:ext cx="1198226" cy="307658"/>
          </a:xfrm>
          <a:prstGeom prst="rect">
            <a:avLst/>
          </a:prstGeom>
        </p:spPr>
        <p:txBody>
          <a:bodyPr anchor="t" rtlCol="false" tIns="0" lIns="0" bIns="0" rIns="0">
            <a:spAutoFit/>
          </a:bodyPr>
          <a:lstStyle/>
          <a:p>
            <a:pPr algn="l">
              <a:lnSpc>
                <a:spcPts val="2310"/>
              </a:lnSpc>
            </a:pPr>
            <a:r>
              <a:rPr lang="en-US" b="true" sz="1650">
                <a:solidFill>
                  <a:srgbClr val="FFFFFF"/>
                </a:solidFill>
                <a:latin typeface="Calibri (MS) Bold"/>
                <a:ea typeface="Calibri (MS) Bold"/>
                <a:cs typeface="Calibri (MS) Bold"/>
                <a:sym typeface="Calibri (MS) Bold"/>
              </a:rPr>
              <a:t>Implemented</a:t>
            </a:r>
          </a:p>
        </p:txBody>
      </p:sp>
      <p:sp>
        <p:nvSpPr>
          <p:cNvPr name="TextBox 94" id="94"/>
          <p:cNvSpPr txBox="true"/>
          <p:nvPr/>
        </p:nvSpPr>
        <p:spPr>
          <a:xfrm rot="0">
            <a:off x="14037374" y="7781458"/>
            <a:ext cx="981037" cy="307658"/>
          </a:xfrm>
          <a:prstGeom prst="rect">
            <a:avLst/>
          </a:prstGeom>
        </p:spPr>
        <p:txBody>
          <a:bodyPr anchor="t" rtlCol="false" tIns="0" lIns="0" bIns="0" rIns="0">
            <a:spAutoFit/>
          </a:bodyPr>
          <a:lstStyle/>
          <a:p>
            <a:pPr algn="l">
              <a:lnSpc>
                <a:spcPts val="2310"/>
              </a:lnSpc>
            </a:pPr>
            <a:r>
              <a:rPr lang="en-US" b="true" sz="1650">
                <a:solidFill>
                  <a:srgbClr val="0B2545"/>
                </a:solidFill>
                <a:latin typeface="Calibri (MS) Bold"/>
                <a:ea typeface="Calibri (MS) Bold"/>
                <a:cs typeface="Calibri (MS) Bold"/>
                <a:sym typeface="Calibri (MS) Bold"/>
              </a:rPr>
              <a:t>In progress</a:t>
            </a:r>
          </a:p>
        </p:txBody>
      </p:sp>
      <p:sp>
        <p:nvSpPr>
          <p:cNvPr name="TextBox 95" id="95"/>
          <p:cNvSpPr txBox="true"/>
          <p:nvPr/>
        </p:nvSpPr>
        <p:spPr>
          <a:xfrm rot="0">
            <a:off x="14037374" y="8878738"/>
            <a:ext cx="981037" cy="307658"/>
          </a:xfrm>
          <a:prstGeom prst="rect">
            <a:avLst/>
          </a:prstGeom>
        </p:spPr>
        <p:txBody>
          <a:bodyPr anchor="t" rtlCol="false" tIns="0" lIns="0" bIns="0" rIns="0">
            <a:spAutoFit/>
          </a:bodyPr>
          <a:lstStyle/>
          <a:p>
            <a:pPr algn="l">
              <a:lnSpc>
                <a:spcPts val="2310"/>
              </a:lnSpc>
            </a:pPr>
            <a:r>
              <a:rPr lang="en-US" b="true" sz="1650">
                <a:solidFill>
                  <a:srgbClr val="0B2545"/>
                </a:solidFill>
                <a:latin typeface="Calibri (MS) Bold"/>
                <a:ea typeface="Calibri (MS) Bold"/>
                <a:cs typeface="Calibri (MS) Bold"/>
                <a:sym typeface="Calibri (MS) Bold"/>
              </a:rPr>
              <a:t>In progress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4694" y="1851974"/>
            <a:ext cx="8297504" cy="5554342"/>
          </a:xfrm>
          <a:custGeom>
            <a:avLst/>
            <a:gdLst/>
            <a:ahLst/>
            <a:cxnLst/>
            <a:rect r="r" b="b" t="t" l="l"/>
            <a:pathLst>
              <a:path h="5554342" w="8297504">
                <a:moveTo>
                  <a:pt x="0" y="0"/>
                </a:moveTo>
                <a:lnTo>
                  <a:pt x="8297504" y="0"/>
                </a:lnTo>
                <a:lnTo>
                  <a:pt x="8297504" y="5554342"/>
                </a:lnTo>
                <a:lnTo>
                  <a:pt x="0" y="55543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34465" y="3288030"/>
            <a:ext cx="76200" cy="76200"/>
            <a:chOff x="0" y="0"/>
            <a:chExt cx="76200" cy="76200"/>
          </a:xfrm>
        </p:grpSpPr>
        <p:sp>
          <p:nvSpPr>
            <p:cNvPr name="Freeform 4" id="4"/>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grpSp>
        <p:nvGrpSpPr>
          <p:cNvPr name="Group 5" id="5"/>
          <p:cNvGrpSpPr/>
          <p:nvPr/>
        </p:nvGrpSpPr>
        <p:grpSpPr>
          <a:xfrm rot="0">
            <a:off x="1434465" y="3630930"/>
            <a:ext cx="76200" cy="76200"/>
            <a:chOff x="0" y="0"/>
            <a:chExt cx="76200" cy="76200"/>
          </a:xfrm>
        </p:grpSpPr>
        <p:sp>
          <p:nvSpPr>
            <p:cNvPr name="Freeform 6" id="6"/>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grpSp>
        <p:nvGrpSpPr>
          <p:cNvPr name="Group 7" id="7"/>
          <p:cNvGrpSpPr/>
          <p:nvPr/>
        </p:nvGrpSpPr>
        <p:grpSpPr>
          <a:xfrm rot="0">
            <a:off x="1434465" y="3973830"/>
            <a:ext cx="76200" cy="76200"/>
            <a:chOff x="0" y="0"/>
            <a:chExt cx="76200" cy="76200"/>
          </a:xfrm>
        </p:grpSpPr>
        <p:sp>
          <p:nvSpPr>
            <p:cNvPr name="Freeform 8" id="8"/>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grpSp>
        <p:nvGrpSpPr>
          <p:cNvPr name="Group 9" id="9"/>
          <p:cNvGrpSpPr/>
          <p:nvPr/>
        </p:nvGrpSpPr>
        <p:grpSpPr>
          <a:xfrm rot="0">
            <a:off x="1434465" y="4316730"/>
            <a:ext cx="76200" cy="76200"/>
            <a:chOff x="0" y="0"/>
            <a:chExt cx="76200" cy="76200"/>
          </a:xfrm>
        </p:grpSpPr>
        <p:sp>
          <p:nvSpPr>
            <p:cNvPr name="Freeform 10" id="10"/>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grpSp>
        <p:nvGrpSpPr>
          <p:cNvPr name="Group 11" id="11"/>
          <p:cNvGrpSpPr/>
          <p:nvPr/>
        </p:nvGrpSpPr>
        <p:grpSpPr>
          <a:xfrm rot="0">
            <a:off x="1434465" y="4659630"/>
            <a:ext cx="76200" cy="76200"/>
            <a:chOff x="0" y="0"/>
            <a:chExt cx="76200" cy="76200"/>
          </a:xfrm>
        </p:grpSpPr>
        <p:sp>
          <p:nvSpPr>
            <p:cNvPr name="Freeform 12" id="12"/>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grpSp>
        <p:nvGrpSpPr>
          <p:cNvPr name="Group 13" id="13"/>
          <p:cNvGrpSpPr/>
          <p:nvPr/>
        </p:nvGrpSpPr>
        <p:grpSpPr>
          <a:xfrm rot="0">
            <a:off x="1434465" y="5002530"/>
            <a:ext cx="76200" cy="76200"/>
            <a:chOff x="0" y="0"/>
            <a:chExt cx="76200" cy="76200"/>
          </a:xfrm>
        </p:grpSpPr>
        <p:sp>
          <p:nvSpPr>
            <p:cNvPr name="Freeform 14" id="14"/>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grpSp>
        <p:nvGrpSpPr>
          <p:cNvPr name="Group 15" id="15"/>
          <p:cNvGrpSpPr/>
          <p:nvPr/>
        </p:nvGrpSpPr>
        <p:grpSpPr>
          <a:xfrm rot="0">
            <a:off x="1434465" y="5345430"/>
            <a:ext cx="76200" cy="76200"/>
            <a:chOff x="0" y="0"/>
            <a:chExt cx="76200" cy="76200"/>
          </a:xfrm>
        </p:grpSpPr>
        <p:sp>
          <p:nvSpPr>
            <p:cNvPr name="Freeform 16" id="16"/>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sp>
        <p:nvSpPr>
          <p:cNvPr name="Freeform 17" id="17"/>
          <p:cNvSpPr/>
          <p:nvPr/>
        </p:nvSpPr>
        <p:spPr>
          <a:xfrm flipH="false" flipV="false" rot="0">
            <a:off x="9190034" y="1851974"/>
            <a:ext cx="8297504" cy="5554342"/>
          </a:xfrm>
          <a:custGeom>
            <a:avLst/>
            <a:gdLst/>
            <a:ahLst/>
            <a:cxnLst/>
            <a:rect r="r" b="b" t="t" l="l"/>
            <a:pathLst>
              <a:path h="5554342" w="8297504">
                <a:moveTo>
                  <a:pt x="0" y="0"/>
                </a:moveTo>
                <a:lnTo>
                  <a:pt x="8297504" y="0"/>
                </a:lnTo>
                <a:lnTo>
                  <a:pt x="8297504" y="5554342"/>
                </a:lnTo>
                <a:lnTo>
                  <a:pt x="0" y="55543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754694" y="7612694"/>
            <a:ext cx="16732291" cy="1919602"/>
          </a:xfrm>
          <a:custGeom>
            <a:avLst/>
            <a:gdLst/>
            <a:ahLst/>
            <a:cxnLst/>
            <a:rect r="r" b="b" t="t" l="l"/>
            <a:pathLst>
              <a:path h="1919602" w="16732291">
                <a:moveTo>
                  <a:pt x="0" y="0"/>
                </a:moveTo>
                <a:lnTo>
                  <a:pt x="16732292" y="0"/>
                </a:lnTo>
                <a:lnTo>
                  <a:pt x="16732292" y="1919602"/>
                </a:lnTo>
                <a:lnTo>
                  <a:pt x="0" y="19196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9" id="19"/>
          <p:cNvGrpSpPr/>
          <p:nvPr/>
        </p:nvGrpSpPr>
        <p:grpSpPr>
          <a:xfrm rot="0">
            <a:off x="9869805" y="3288030"/>
            <a:ext cx="76200" cy="76200"/>
            <a:chOff x="0" y="0"/>
            <a:chExt cx="76200" cy="76200"/>
          </a:xfrm>
        </p:grpSpPr>
        <p:sp>
          <p:nvSpPr>
            <p:cNvPr name="Freeform 20" id="20"/>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grpSp>
        <p:nvGrpSpPr>
          <p:cNvPr name="Group 21" id="21"/>
          <p:cNvGrpSpPr/>
          <p:nvPr/>
        </p:nvGrpSpPr>
        <p:grpSpPr>
          <a:xfrm rot="0">
            <a:off x="9869805" y="3630930"/>
            <a:ext cx="76200" cy="76200"/>
            <a:chOff x="0" y="0"/>
            <a:chExt cx="76200" cy="76200"/>
          </a:xfrm>
        </p:grpSpPr>
        <p:sp>
          <p:nvSpPr>
            <p:cNvPr name="Freeform 22" id="22"/>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grpSp>
        <p:nvGrpSpPr>
          <p:cNvPr name="Group 23" id="23"/>
          <p:cNvGrpSpPr/>
          <p:nvPr/>
        </p:nvGrpSpPr>
        <p:grpSpPr>
          <a:xfrm rot="0">
            <a:off x="9869805" y="3973830"/>
            <a:ext cx="76200" cy="76200"/>
            <a:chOff x="0" y="0"/>
            <a:chExt cx="76200" cy="76200"/>
          </a:xfrm>
        </p:grpSpPr>
        <p:sp>
          <p:nvSpPr>
            <p:cNvPr name="Freeform 24" id="24"/>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grpSp>
        <p:nvGrpSpPr>
          <p:cNvPr name="Group 25" id="25"/>
          <p:cNvGrpSpPr/>
          <p:nvPr/>
        </p:nvGrpSpPr>
        <p:grpSpPr>
          <a:xfrm rot="0">
            <a:off x="9869805" y="4316730"/>
            <a:ext cx="76200" cy="76200"/>
            <a:chOff x="0" y="0"/>
            <a:chExt cx="76200" cy="76200"/>
          </a:xfrm>
        </p:grpSpPr>
        <p:sp>
          <p:nvSpPr>
            <p:cNvPr name="Freeform 26" id="26"/>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grpSp>
        <p:nvGrpSpPr>
          <p:cNvPr name="Group 27" id="27"/>
          <p:cNvGrpSpPr/>
          <p:nvPr/>
        </p:nvGrpSpPr>
        <p:grpSpPr>
          <a:xfrm rot="0">
            <a:off x="9869805" y="4659630"/>
            <a:ext cx="76200" cy="76200"/>
            <a:chOff x="0" y="0"/>
            <a:chExt cx="76200" cy="76200"/>
          </a:xfrm>
        </p:grpSpPr>
        <p:sp>
          <p:nvSpPr>
            <p:cNvPr name="Freeform 28" id="28"/>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grpSp>
        <p:nvGrpSpPr>
          <p:cNvPr name="Group 29" id="29"/>
          <p:cNvGrpSpPr/>
          <p:nvPr/>
        </p:nvGrpSpPr>
        <p:grpSpPr>
          <a:xfrm rot="0">
            <a:off x="9869805" y="5002530"/>
            <a:ext cx="76200" cy="76200"/>
            <a:chOff x="0" y="0"/>
            <a:chExt cx="76200" cy="76200"/>
          </a:xfrm>
        </p:grpSpPr>
        <p:sp>
          <p:nvSpPr>
            <p:cNvPr name="Freeform 30" id="30"/>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grpSp>
        <p:nvGrpSpPr>
          <p:cNvPr name="Group 31" id="31"/>
          <p:cNvGrpSpPr/>
          <p:nvPr/>
        </p:nvGrpSpPr>
        <p:grpSpPr>
          <a:xfrm rot="0">
            <a:off x="9869805" y="5345430"/>
            <a:ext cx="76200" cy="76200"/>
            <a:chOff x="0" y="0"/>
            <a:chExt cx="76200" cy="76200"/>
          </a:xfrm>
        </p:grpSpPr>
        <p:sp>
          <p:nvSpPr>
            <p:cNvPr name="Freeform 32" id="32"/>
            <p:cNvSpPr/>
            <p:nvPr/>
          </p:nvSpPr>
          <p:spPr>
            <a:xfrm flipH="false" flipV="false" rot="0">
              <a:off x="0" y="0"/>
              <a:ext cx="76200" cy="76200"/>
            </a:xfrm>
            <a:custGeom>
              <a:avLst/>
              <a:gdLst/>
              <a:ahLst/>
              <a:cxnLst/>
              <a:rect r="r" b="b" t="t" l="l"/>
              <a:pathLst>
                <a:path h="76200" w="76200">
                  <a:moveTo>
                    <a:pt x="76200" y="38100"/>
                  </a:moveTo>
                  <a:cubicBezTo>
                    <a:pt x="76200" y="43180"/>
                    <a:pt x="75184" y="48006"/>
                    <a:pt x="73279" y="52705"/>
                  </a:cubicBezTo>
                  <a:cubicBezTo>
                    <a:pt x="71374" y="57404"/>
                    <a:pt x="68580" y="61468"/>
                    <a:pt x="65024" y="65024"/>
                  </a:cubicBezTo>
                  <a:cubicBezTo>
                    <a:pt x="61468" y="68580"/>
                    <a:pt x="57277" y="71374"/>
                    <a:pt x="52705" y="73279"/>
                  </a:cubicBezTo>
                  <a:cubicBezTo>
                    <a:pt x="48133" y="75184"/>
                    <a:pt x="43180" y="76200"/>
                    <a:pt x="38100" y="76200"/>
                  </a:cubicBezTo>
                  <a:cubicBezTo>
                    <a:pt x="33020" y="76200"/>
                    <a:pt x="28194" y="75184"/>
                    <a:pt x="23495" y="73279"/>
                  </a:cubicBezTo>
                  <a:cubicBezTo>
                    <a:pt x="18796" y="71374"/>
                    <a:pt x="14732" y="68580"/>
                    <a:pt x="11176" y="65024"/>
                  </a:cubicBezTo>
                  <a:cubicBezTo>
                    <a:pt x="7620" y="61468"/>
                    <a:pt x="4826" y="57277"/>
                    <a:pt x="2921" y="52705"/>
                  </a:cubicBezTo>
                  <a:cubicBezTo>
                    <a:pt x="1016" y="48133"/>
                    <a:pt x="0" y="43180"/>
                    <a:pt x="0" y="38100"/>
                  </a:cubicBezTo>
                  <a:cubicBezTo>
                    <a:pt x="0" y="33020"/>
                    <a:pt x="1016" y="28194"/>
                    <a:pt x="2921" y="23495"/>
                  </a:cubicBezTo>
                  <a:cubicBezTo>
                    <a:pt x="4826" y="18796"/>
                    <a:pt x="7620" y="14732"/>
                    <a:pt x="11176" y="11176"/>
                  </a:cubicBezTo>
                  <a:cubicBezTo>
                    <a:pt x="14732" y="7620"/>
                    <a:pt x="18923" y="4826"/>
                    <a:pt x="23495" y="2921"/>
                  </a:cubicBezTo>
                  <a:cubicBezTo>
                    <a:pt x="28067" y="1016"/>
                    <a:pt x="33020" y="0"/>
                    <a:pt x="38100" y="0"/>
                  </a:cubicBezTo>
                  <a:cubicBezTo>
                    <a:pt x="43180" y="0"/>
                    <a:pt x="48006" y="1016"/>
                    <a:pt x="52705" y="2921"/>
                  </a:cubicBezTo>
                  <a:cubicBezTo>
                    <a:pt x="57404" y="4826"/>
                    <a:pt x="61468" y="7620"/>
                    <a:pt x="65024" y="11176"/>
                  </a:cubicBezTo>
                  <a:cubicBezTo>
                    <a:pt x="68580" y="14732"/>
                    <a:pt x="71374" y="18923"/>
                    <a:pt x="73279" y="23495"/>
                  </a:cubicBezTo>
                  <a:cubicBezTo>
                    <a:pt x="75184" y="28067"/>
                    <a:pt x="76200" y="33020"/>
                    <a:pt x="76200" y="38100"/>
                  </a:cubicBezTo>
                  <a:close/>
                </a:path>
              </a:pathLst>
            </a:custGeom>
            <a:solidFill>
              <a:srgbClr val="0B2545"/>
            </a:solidFill>
          </p:spPr>
        </p:sp>
      </p:grpSp>
      <p:grpSp>
        <p:nvGrpSpPr>
          <p:cNvPr name="Group 33" id="33"/>
          <p:cNvGrpSpPr/>
          <p:nvPr/>
        </p:nvGrpSpPr>
        <p:grpSpPr>
          <a:xfrm rot="0">
            <a:off x="1354455" y="2314575"/>
            <a:ext cx="377190" cy="377190"/>
            <a:chOff x="0" y="0"/>
            <a:chExt cx="502920" cy="502920"/>
          </a:xfrm>
        </p:grpSpPr>
        <p:sp>
          <p:nvSpPr>
            <p:cNvPr name="Freeform 34" id="34" descr="icon"/>
            <p:cNvSpPr/>
            <p:nvPr/>
          </p:nvSpPr>
          <p:spPr>
            <a:xfrm flipH="false" flipV="false" rot="0">
              <a:off x="0" y="0"/>
              <a:ext cx="502920" cy="502920"/>
            </a:xfrm>
            <a:custGeom>
              <a:avLst/>
              <a:gdLst/>
              <a:ahLst/>
              <a:cxnLst/>
              <a:rect r="r" b="b" t="t" l="l"/>
              <a:pathLst>
                <a:path h="502920" w="502920">
                  <a:moveTo>
                    <a:pt x="0" y="0"/>
                  </a:moveTo>
                  <a:lnTo>
                    <a:pt x="502920" y="0"/>
                  </a:lnTo>
                  <a:lnTo>
                    <a:pt x="502920" y="502920"/>
                  </a:lnTo>
                  <a:lnTo>
                    <a:pt x="0" y="502920"/>
                  </a:lnTo>
                  <a:lnTo>
                    <a:pt x="0" y="0"/>
                  </a:lnTo>
                  <a:close/>
                </a:path>
              </a:pathLst>
            </a:custGeom>
            <a:blipFill>
              <a:blip r:embed="rId8"/>
              <a:stretch>
                <a:fillRect l="0" t="0" r="0" b="0"/>
              </a:stretch>
            </a:blipFill>
          </p:spPr>
        </p:sp>
      </p:grpSp>
      <p:grpSp>
        <p:nvGrpSpPr>
          <p:cNvPr name="Group 35" id="35"/>
          <p:cNvGrpSpPr/>
          <p:nvPr/>
        </p:nvGrpSpPr>
        <p:grpSpPr>
          <a:xfrm rot="0">
            <a:off x="9789795" y="2314575"/>
            <a:ext cx="377190" cy="377190"/>
            <a:chOff x="0" y="0"/>
            <a:chExt cx="502920" cy="502920"/>
          </a:xfrm>
        </p:grpSpPr>
        <p:sp>
          <p:nvSpPr>
            <p:cNvPr name="Freeform 36" id="36" descr="icon"/>
            <p:cNvSpPr/>
            <p:nvPr/>
          </p:nvSpPr>
          <p:spPr>
            <a:xfrm flipH="false" flipV="false" rot="0">
              <a:off x="0" y="0"/>
              <a:ext cx="502920" cy="502920"/>
            </a:xfrm>
            <a:custGeom>
              <a:avLst/>
              <a:gdLst/>
              <a:ahLst/>
              <a:cxnLst/>
              <a:rect r="r" b="b" t="t" l="l"/>
              <a:pathLst>
                <a:path h="502920" w="502920">
                  <a:moveTo>
                    <a:pt x="0" y="0"/>
                  </a:moveTo>
                  <a:lnTo>
                    <a:pt x="502920" y="0"/>
                  </a:lnTo>
                  <a:lnTo>
                    <a:pt x="502920" y="502920"/>
                  </a:lnTo>
                  <a:lnTo>
                    <a:pt x="0" y="502920"/>
                  </a:lnTo>
                  <a:lnTo>
                    <a:pt x="0" y="0"/>
                  </a:lnTo>
                  <a:close/>
                </a:path>
              </a:pathLst>
            </a:custGeom>
            <a:blipFill>
              <a:blip r:embed="rId9"/>
              <a:stretch>
                <a:fillRect l="0" t="0" r="0" b="0"/>
              </a:stretch>
            </a:blipFill>
          </p:spPr>
        </p:sp>
      </p:grpSp>
      <p:grpSp>
        <p:nvGrpSpPr>
          <p:cNvPr name="Group 37" id="37"/>
          <p:cNvGrpSpPr/>
          <p:nvPr/>
        </p:nvGrpSpPr>
        <p:grpSpPr>
          <a:xfrm rot="0">
            <a:off x="1371600" y="8366760"/>
            <a:ext cx="411480" cy="411480"/>
            <a:chOff x="0" y="0"/>
            <a:chExt cx="548640" cy="548640"/>
          </a:xfrm>
        </p:grpSpPr>
        <p:sp>
          <p:nvSpPr>
            <p:cNvPr name="Freeform 38" id="38" descr="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0"/>
              <a:stretch>
                <a:fillRect l="0" t="0" r="0" b="0"/>
              </a:stretch>
            </a:blipFill>
          </p:spPr>
        </p:sp>
      </p:grpSp>
      <p:grpSp>
        <p:nvGrpSpPr>
          <p:cNvPr name="Group 39" id="39"/>
          <p:cNvGrpSpPr/>
          <p:nvPr/>
        </p:nvGrpSpPr>
        <p:grpSpPr>
          <a:xfrm rot="0">
            <a:off x="15784954" y="200911"/>
            <a:ext cx="2179863" cy="828675"/>
            <a:chOff x="0" y="0"/>
            <a:chExt cx="2906484" cy="1104900"/>
          </a:xfrm>
        </p:grpSpPr>
        <p:sp>
          <p:nvSpPr>
            <p:cNvPr name="Freeform 40" id="40"/>
            <p:cNvSpPr/>
            <p:nvPr/>
          </p:nvSpPr>
          <p:spPr>
            <a:xfrm flipH="false" flipV="false" rot="0">
              <a:off x="0" y="0"/>
              <a:ext cx="2906522" cy="1104900"/>
            </a:xfrm>
            <a:custGeom>
              <a:avLst/>
              <a:gdLst/>
              <a:ahLst/>
              <a:cxnLst/>
              <a:rect r="r" b="b" t="t" l="l"/>
              <a:pathLst>
                <a:path h="1104900" w="2906522">
                  <a:moveTo>
                    <a:pt x="0" y="0"/>
                  </a:moveTo>
                  <a:lnTo>
                    <a:pt x="2906522" y="0"/>
                  </a:lnTo>
                  <a:lnTo>
                    <a:pt x="2906522" y="1104900"/>
                  </a:lnTo>
                  <a:lnTo>
                    <a:pt x="0" y="1104900"/>
                  </a:lnTo>
                  <a:lnTo>
                    <a:pt x="0" y="0"/>
                  </a:lnTo>
                  <a:close/>
                </a:path>
              </a:pathLst>
            </a:custGeom>
            <a:blipFill>
              <a:blip r:embed="rId11"/>
              <a:stretch>
                <a:fillRect l="-3558" t="-4895" r="1" b="-4300"/>
              </a:stretch>
            </a:blipFill>
          </p:spPr>
        </p:sp>
      </p:grpSp>
      <p:grpSp>
        <p:nvGrpSpPr>
          <p:cNvPr name="Group 41" id="41"/>
          <p:cNvGrpSpPr/>
          <p:nvPr/>
        </p:nvGrpSpPr>
        <p:grpSpPr>
          <a:xfrm rot="0">
            <a:off x="754694" y="1851974"/>
            <a:ext cx="8297542" cy="5554342"/>
            <a:chOff x="0" y="0"/>
            <a:chExt cx="8297545" cy="5554345"/>
          </a:xfrm>
        </p:grpSpPr>
        <p:sp>
          <p:nvSpPr>
            <p:cNvPr name="Freeform 42" id="42"/>
            <p:cNvSpPr/>
            <p:nvPr/>
          </p:nvSpPr>
          <p:spPr>
            <a:xfrm flipH="false" flipV="false" rot="0">
              <a:off x="63500" y="63500"/>
              <a:ext cx="8170545" cy="5427345"/>
            </a:xfrm>
            <a:custGeom>
              <a:avLst/>
              <a:gdLst/>
              <a:ahLst/>
              <a:cxnLst/>
              <a:rect r="r" b="b" t="t" l="l"/>
              <a:pathLst>
                <a:path h="5427345" w="8170545">
                  <a:moveTo>
                    <a:pt x="0" y="5427345"/>
                  </a:moveTo>
                  <a:lnTo>
                    <a:pt x="8170545" y="5427345"/>
                  </a:lnTo>
                  <a:lnTo>
                    <a:pt x="8170545" y="0"/>
                  </a:lnTo>
                  <a:lnTo>
                    <a:pt x="0" y="0"/>
                  </a:lnTo>
                  <a:close/>
                </a:path>
              </a:pathLst>
            </a:custGeom>
            <a:solidFill>
              <a:srgbClr val="000000">
                <a:alpha val="0"/>
              </a:srgbClr>
            </a:solidFill>
          </p:spPr>
        </p:sp>
        <p:sp>
          <p:nvSpPr>
            <p:cNvPr name="Freeform 43" id="43"/>
            <p:cNvSpPr/>
            <p:nvPr/>
          </p:nvSpPr>
          <p:spPr>
            <a:xfrm flipH="false" flipV="false" rot="0">
              <a:off x="406400" y="269240"/>
              <a:ext cx="763905" cy="763905"/>
            </a:xfrm>
            <a:custGeom>
              <a:avLst/>
              <a:gdLst/>
              <a:ahLst/>
              <a:cxnLst/>
              <a:rect r="r" b="b" t="t" l="l"/>
              <a:pathLst>
                <a:path h="763905" w="763905">
                  <a:moveTo>
                    <a:pt x="0" y="763905"/>
                  </a:moveTo>
                  <a:lnTo>
                    <a:pt x="763905" y="763905"/>
                  </a:lnTo>
                  <a:lnTo>
                    <a:pt x="763905" y="0"/>
                  </a:lnTo>
                  <a:lnTo>
                    <a:pt x="0" y="0"/>
                  </a:lnTo>
                  <a:close/>
                </a:path>
              </a:pathLst>
            </a:custGeom>
            <a:solidFill>
              <a:srgbClr val="000000">
                <a:alpha val="0"/>
              </a:srgbClr>
            </a:solidFill>
          </p:spPr>
        </p:sp>
      </p:grpSp>
      <p:grpSp>
        <p:nvGrpSpPr>
          <p:cNvPr name="Group 44" id="44"/>
          <p:cNvGrpSpPr/>
          <p:nvPr/>
        </p:nvGrpSpPr>
        <p:grpSpPr>
          <a:xfrm rot="0">
            <a:off x="754694" y="7612694"/>
            <a:ext cx="16732882" cy="1919602"/>
            <a:chOff x="0" y="0"/>
            <a:chExt cx="16732885" cy="1919605"/>
          </a:xfrm>
        </p:grpSpPr>
        <p:sp>
          <p:nvSpPr>
            <p:cNvPr name="Freeform 45" id="45"/>
            <p:cNvSpPr/>
            <p:nvPr/>
          </p:nvSpPr>
          <p:spPr>
            <a:xfrm flipH="false" flipV="false" rot="0">
              <a:off x="63500" y="63500"/>
              <a:ext cx="16605884" cy="1792605"/>
            </a:xfrm>
            <a:custGeom>
              <a:avLst/>
              <a:gdLst/>
              <a:ahLst/>
              <a:cxnLst/>
              <a:rect r="r" b="b" t="t" l="l"/>
              <a:pathLst>
                <a:path h="1792605" w="16605884">
                  <a:moveTo>
                    <a:pt x="0" y="1792605"/>
                  </a:moveTo>
                  <a:lnTo>
                    <a:pt x="16605884" y="1792605"/>
                  </a:lnTo>
                  <a:lnTo>
                    <a:pt x="16605884" y="0"/>
                  </a:lnTo>
                  <a:lnTo>
                    <a:pt x="0" y="0"/>
                  </a:lnTo>
                  <a:close/>
                </a:path>
              </a:pathLst>
            </a:custGeom>
            <a:solidFill>
              <a:srgbClr val="000000">
                <a:alpha val="0"/>
              </a:srgbClr>
            </a:solidFill>
          </p:spPr>
        </p:sp>
        <p:sp>
          <p:nvSpPr>
            <p:cNvPr name="Freeform 46" id="46"/>
            <p:cNvSpPr/>
            <p:nvPr/>
          </p:nvSpPr>
          <p:spPr>
            <a:xfrm flipH="false" flipV="false" rot="0">
              <a:off x="406400" y="543560"/>
              <a:ext cx="832485" cy="832485"/>
            </a:xfrm>
            <a:custGeom>
              <a:avLst/>
              <a:gdLst/>
              <a:ahLst/>
              <a:cxnLst/>
              <a:rect r="r" b="b" t="t" l="l"/>
              <a:pathLst>
                <a:path h="832485" w="832485">
                  <a:moveTo>
                    <a:pt x="0" y="832485"/>
                  </a:moveTo>
                  <a:lnTo>
                    <a:pt x="832485" y="832485"/>
                  </a:lnTo>
                  <a:lnTo>
                    <a:pt x="832485" y="0"/>
                  </a:lnTo>
                  <a:lnTo>
                    <a:pt x="0" y="0"/>
                  </a:lnTo>
                  <a:close/>
                </a:path>
              </a:pathLst>
            </a:custGeom>
            <a:solidFill>
              <a:srgbClr val="000000">
                <a:alpha val="0"/>
              </a:srgbClr>
            </a:solidFill>
          </p:spPr>
        </p:sp>
      </p:grpSp>
      <p:grpSp>
        <p:nvGrpSpPr>
          <p:cNvPr name="Group 47" id="47"/>
          <p:cNvGrpSpPr/>
          <p:nvPr/>
        </p:nvGrpSpPr>
        <p:grpSpPr>
          <a:xfrm rot="0">
            <a:off x="9190034" y="1851974"/>
            <a:ext cx="8297542" cy="5554342"/>
            <a:chOff x="0" y="0"/>
            <a:chExt cx="8297545" cy="5554345"/>
          </a:xfrm>
        </p:grpSpPr>
        <p:sp>
          <p:nvSpPr>
            <p:cNvPr name="Freeform 48" id="48"/>
            <p:cNvSpPr/>
            <p:nvPr/>
          </p:nvSpPr>
          <p:spPr>
            <a:xfrm flipH="false" flipV="false" rot="0">
              <a:off x="63500" y="63500"/>
              <a:ext cx="8170545" cy="5427345"/>
            </a:xfrm>
            <a:custGeom>
              <a:avLst/>
              <a:gdLst/>
              <a:ahLst/>
              <a:cxnLst/>
              <a:rect r="r" b="b" t="t" l="l"/>
              <a:pathLst>
                <a:path h="5427345" w="8170545">
                  <a:moveTo>
                    <a:pt x="0" y="5427345"/>
                  </a:moveTo>
                  <a:lnTo>
                    <a:pt x="8170545" y="5427345"/>
                  </a:lnTo>
                  <a:lnTo>
                    <a:pt x="8170545" y="0"/>
                  </a:lnTo>
                  <a:lnTo>
                    <a:pt x="0" y="0"/>
                  </a:lnTo>
                  <a:close/>
                </a:path>
              </a:pathLst>
            </a:custGeom>
            <a:solidFill>
              <a:srgbClr val="000000">
                <a:alpha val="0"/>
              </a:srgbClr>
            </a:solidFill>
          </p:spPr>
        </p:sp>
        <p:sp>
          <p:nvSpPr>
            <p:cNvPr name="Freeform 49" id="49"/>
            <p:cNvSpPr/>
            <p:nvPr/>
          </p:nvSpPr>
          <p:spPr>
            <a:xfrm flipH="false" flipV="false" rot="0">
              <a:off x="406400" y="269240"/>
              <a:ext cx="763905" cy="763905"/>
            </a:xfrm>
            <a:custGeom>
              <a:avLst/>
              <a:gdLst/>
              <a:ahLst/>
              <a:cxnLst/>
              <a:rect r="r" b="b" t="t" l="l"/>
              <a:pathLst>
                <a:path h="763905" w="763905">
                  <a:moveTo>
                    <a:pt x="0" y="763905"/>
                  </a:moveTo>
                  <a:lnTo>
                    <a:pt x="763905" y="763905"/>
                  </a:lnTo>
                  <a:lnTo>
                    <a:pt x="763905" y="0"/>
                  </a:lnTo>
                  <a:lnTo>
                    <a:pt x="0" y="0"/>
                  </a:lnTo>
                  <a:close/>
                </a:path>
              </a:pathLst>
            </a:custGeom>
            <a:solidFill>
              <a:srgbClr val="000000">
                <a:alpha val="0"/>
              </a:srgbClr>
            </a:solidFill>
          </p:spPr>
        </p:sp>
      </p:grpSp>
      <p:sp>
        <p:nvSpPr>
          <p:cNvPr name="TextBox 50" id="50"/>
          <p:cNvSpPr txBox="true"/>
          <p:nvPr/>
        </p:nvSpPr>
        <p:spPr>
          <a:xfrm rot="0">
            <a:off x="822960" y="9673876"/>
            <a:ext cx="2720912"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AI Patient Risk Assessment System</a:t>
            </a:r>
          </a:p>
        </p:txBody>
      </p:sp>
      <p:sp>
        <p:nvSpPr>
          <p:cNvPr name="TextBox 51" id="51"/>
          <p:cNvSpPr txBox="true"/>
          <p:nvPr/>
        </p:nvSpPr>
        <p:spPr>
          <a:xfrm rot="0">
            <a:off x="17175804" y="9624346"/>
            <a:ext cx="196967" cy="285750"/>
          </a:xfrm>
          <a:prstGeom prst="rect">
            <a:avLst/>
          </a:prstGeom>
        </p:spPr>
        <p:txBody>
          <a:bodyPr anchor="t" rtlCol="false" tIns="0" lIns="0" bIns="0" rIns="0">
            <a:spAutoFit/>
          </a:bodyPr>
          <a:lstStyle/>
          <a:p>
            <a:pPr algn="l">
              <a:lnSpc>
                <a:spcPts val="2100"/>
              </a:lnSpc>
            </a:pPr>
            <a:r>
              <a:rPr lang="en-US" sz="1500">
                <a:solidFill>
                  <a:srgbClr val="5A6B82"/>
                </a:solidFill>
                <a:latin typeface="Calibri (MS)"/>
                <a:ea typeface="Calibri (MS)"/>
                <a:cs typeface="Calibri (MS)"/>
                <a:sym typeface="Calibri (MS)"/>
              </a:rPr>
              <a:t>10</a:t>
            </a:r>
          </a:p>
        </p:txBody>
      </p:sp>
      <p:sp>
        <p:nvSpPr>
          <p:cNvPr name="TextBox 52" id="52"/>
          <p:cNvSpPr txBox="true"/>
          <p:nvPr/>
        </p:nvSpPr>
        <p:spPr>
          <a:xfrm rot="0">
            <a:off x="822960" y="598456"/>
            <a:ext cx="11741791" cy="832085"/>
          </a:xfrm>
          <a:prstGeom prst="rect">
            <a:avLst/>
          </a:prstGeom>
        </p:spPr>
        <p:txBody>
          <a:bodyPr anchor="t" rtlCol="false" tIns="0" lIns="0" bIns="0" rIns="0">
            <a:spAutoFit/>
          </a:bodyPr>
          <a:lstStyle/>
          <a:p>
            <a:pPr algn="l">
              <a:lnSpc>
                <a:spcPts val="6719"/>
              </a:lnSpc>
            </a:pPr>
            <a:r>
              <a:rPr lang="en-US" b="true" sz="4800">
                <a:solidFill>
                  <a:srgbClr val="0B2545"/>
                </a:solidFill>
                <a:latin typeface="Cambria Bold"/>
                <a:ea typeface="Cambria Bold"/>
                <a:cs typeface="Cambria Bold"/>
                <a:sym typeface="Cambria Bold"/>
              </a:rPr>
              <a:t>Limitations, Future Work and Conclusion</a:t>
            </a:r>
          </a:p>
        </p:txBody>
      </p:sp>
      <p:sp>
        <p:nvSpPr>
          <p:cNvPr name="TextBox 53" id="53"/>
          <p:cNvSpPr txBox="true"/>
          <p:nvPr/>
        </p:nvSpPr>
        <p:spPr>
          <a:xfrm rot="0">
            <a:off x="2194560" y="2201847"/>
            <a:ext cx="1800596" cy="561975"/>
          </a:xfrm>
          <a:prstGeom prst="rect">
            <a:avLst/>
          </a:prstGeom>
        </p:spPr>
        <p:txBody>
          <a:bodyPr anchor="t" rtlCol="false" tIns="0" lIns="0" bIns="0" rIns="0">
            <a:spAutoFit/>
          </a:bodyPr>
          <a:lstStyle/>
          <a:p>
            <a:pPr algn="l">
              <a:lnSpc>
                <a:spcPts val="4200"/>
              </a:lnSpc>
            </a:pPr>
            <a:r>
              <a:rPr lang="en-US" b="true" sz="3000">
                <a:solidFill>
                  <a:srgbClr val="0B2545"/>
                </a:solidFill>
                <a:latin typeface="Calibri (MS) Bold"/>
                <a:ea typeface="Calibri (MS) Bold"/>
                <a:cs typeface="Calibri (MS) Bold"/>
                <a:sym typeface="Calibri (MS) Bold"/>
              </a:rPr>
              <a:t>Limitations</a:t>
            </a:r>
          </a:p>
        </p:txBody>
      </p:sp>
      <p:sp>
        <p:nvSpPr>
          <p:cNvPr name="TextBox 54" id="54"/>
          <p:cNvSpPr txBox="true"/>
          <p:nvPr/>
        </p:nvSpPr>
        <p:spPr>
          <a:xfrm rot="0">
            <a:off x="10629900" y="2201847"/>
            <a:ext cx="2037598" cy="561975"/>
          </a:xfrm>
          <a:prstGeom prst="rect">
            <a:avLst/>
          </a:prstGeom>
        </p:spPr>
        <p:txBody>
          <a:bodyPr anchor="t" rtlCol="false" tIns="0" lIns="0" bIns="0" rIns="0">
            <a:spAutoFit/>
          </a:bodyPr>
          <a:lstStyle/>
          <a:p>
            <a:pPr algn="l">
              <a:lnSpc>
                <a:spcPts val="4200"/>
              </a:lnSpc>
            </a:pPr>
            <a:r>
              <a:rPr lang="en-US" b="true" sz="3000">
                <a:solidFill>
                  <a:srgbClr val="0B2545"/>
                </a:solidFill>
                <a:latin typeface="Calibri (MS) Bold"/>
                <a:ea typeface="Calibri (MS) Bold"/>
                <a:cs typeface="Calibri (MS) Bold"/>
                <a:sym typeface="Calibri (MS) Bold"/>
              </a:rPr>
              <a:t>Future Work</a:t>
            </a:r>
          </a:p>
        </p:txBody>
      </p:sp>
      <p:sp>
        <p:nvSpPr>
          <p:cNvPr name="TextBox 55" id="55"/>
          <p:cNvSpPr txBox="true"/>
          <p:nvPr/>
        </p:nvSpPr>
        <p:spPr>
          <a:xfrm rot="0">
            <a:off x="2331720" y="7913541"/>
            <a:ext cx="14642544" cy="1312316"/>
          </a:xfrm>
          <a:prstGeom prst="rect">
            <a:avLst/>
          </a:prstGeom>
        </p:spPr>
        <p:txBody>
          <a:bodyPr anchor="t" rtlCol="false" tIns="0" lIns="0" bIns="0" rIns="0">
            <a:spAutoFit/>
          </a:bodyPr>
          <a:lstStyle/>
          <a:p>
            <a:pPr algn="just">
              <a:lnSpc>
                <a:spcPts val="2652"/>
              </a:lnSpc>
            </a:pPr>
            <a:r>
              <a:rPr lang="en-US" b="true" sz="2250">
                <a:solidFill>
                  <a:srgbClr val="F2A541"/>
                </a:solidFill>
                <a:latin typeface="Calibri (MS) Bold"/>
                <a:ea typeface="Calibri (MS) Bold"/>
                <a:cs typeface="Calibri (MS) Bold"/>
                <a:sym typeface="Calibri (MS) Bold"/>
              </a:rPr>
              <a:t>Conclusion </a:t>
            </a:r>
          </a:p>
          <a:p>
            <a:pPr algn="just">
              <a:lnSpc>
                <a:spcPts val="2475"/>
              </a:lnSpc>
            </a:pPr>
            <a:r>
              <a:rPr lang="en-US" sz="2100">
                <a:solidFill>
                  <a:srgbClr val="FFFFFF"/>
                </a:solidFill>
                <a:latin typeface="Calibri (MS)"/>
                <a:ea typeface="Calibri (MS)"/>
                <a:cs typeface="Calibri (MS)"/>
                <a:sym typeface="Calibri (MS)"/>
              </a:rPr>
              <a:t>Webuilt aneight-class Random Forest model on 278,701 records with 15 features: 77.10% accuracy and 0.3664 macro F1. A friendly interface can make it easy to use. It is a machine learning prototype for decision support, not a replacement for professional medical diagnosis.</a:t>
            </a:r>
          </a:p>
        </p:txBody>
      </p:sp>
      <p:sp>
        <p:nvSpPr>
          <p:cNvPr name="TextBox 56" id="56"/>
          <p:cNvSpPr txBox="true"/>
          <p:nvPr/>
        </p:nvSpPr>
        <p:spPr>
          <a:xfrm rot="0">
            <a:off x="1641634" y="3117771"/>
            <a:ext cx="6942363" cy="2443162"/>
          </a:xfrm>
          <a:prstGeom prst="rect">
            <a:avLst/>
          </a:prstGeom>
        </p:spPr>
        <p:txBody>
          <a:bodyPr anchor="t" rtlCol="false" tIns="0" lIns="0" bIns="0" rIns="0">
            <a:spAutoFit/>
          </a:bodyPr>
          <a:lstStyle/>
          <a:p>
            <a:pPr algn="l">
              <a:lnSpc>
                <a:spcPts val="2700"/>
              </a:lnSpc>
            </a:pPr>
            <a:r>
              <a:rPr lang="en-US" sz="2250">
                <a:solidFill>
                  <a:srgbClr val="0B2545"/>
                </a:solidFill>
                <a:latin typeface="Calibri (MS)"/>
                <a:ea typeface="Calibri (MS)"/>
                <a:cs typeface="Calibri (MS)"/>
                <a:sym typeface="Calibri (MS)"/>
              </a:rPr>
              <a:t>Classes are imbalanced</a:t>
            </a:r>
          </a:p>
          <a:p>
            <a:pPr algn="l">
              <a:lnSpc>
                <a:spcPts val="2700"/>
              </a:lnSpc>
            </a:pPr>
            <a:r>
              <a:rPr lang="en-US" sz="2250">
                <a:solidFill>
                  <a:srgbClr val="0B2545"/>
                </a:solidFill>
                <a:latin typeface="Calibri (MS)"/>
                <a:ea typeface="Calibri (MS)"/>
                <a:cs typeface="Calibri (MS)"/>
                <a:sym typeface="Calibri (MS)"/>
              </a:rPr>
              <a:t>Some rare classes have very low recall</a:t>
            </a:r>
          </a:p>
          <a:p>
            <a:pPr algn="l">
              <a:lnSpc>
                <a:spcPts val="2700"/>
              </a:lnSpc>
            </a:pPr>
            <a:r>
              <a:rPr lang="en-US" sz="2250">
                <a:solidFill>
                  <a:srgbClr val="0B2545"/>
                </a:solidFill>
                <a:latin typeface="Calibri (MS)"/>
                <a:ea typeface="Calibri (MS)"/>
                <a:cs typeface="Calibri (MS)"/>
                <a:sym typeface="Calibri (MS)"/>
              </a:rPr>
              <a:t>Possible leakage if inputs are not known at prediction time Dataset source and label quality need checking</a:t>
            </a:r>
          </a:p>
          <a:p>
            <a:pPr algn="l">
              <a:lnSpc>
                <a:spcPts val="2700"/>
              </a:lnSpc>
            </a:pPr>
            <a:r>
              <a:rPr lang="en-US" sz="2250">
                <a:solidFill>
                  <a:srgbClr val="0B2545"/>
                </a:solidFill>
                <a:latin typeface="Calibri (MS)"/>
                <a:ea typeface="Calibri (MS)"/>
                <a:cs typeface="Calibri (MS)"/>
                <a:sym typeface="Calibri (MS)"/>
              </a:rPr>
              <a:t>No test on independent real-world data</a:t>
            </a:r>
          </a:p>
          <a:p>
            <a:pPr algn="l">
              <a:lnSpc>
                <a:spcPts val="2700"/>
              </a:lnSpc>
            </a:pPr>
            <a:r>
              <a:rPr lang="en-US" sz="2250">
                <a:solidFill>
                  <a:srgbClr val="0B2545"/>
                </a:solidFill>
                <a:latin typeface="Calibri (MS)"/>
                <a:ea typeface="Calibri (MS)"/>
                <a:cs typeface="Calibri (MS)"/>
                <a:sym typeface="Calibri (MS)"/>
              </a:rPr>
              <a:t>Probabilities are not calibrated medical risks</a:t>
            </a:r>
          </a:p>
          <a:p>
            <a:pPr algn="l">
              <a:lnSpc>
                <a:spcPts val="2700"/>
              </a:lnSpc>
            </a:pPr>
            <a:r>
              <a:rPr lang="en-US" sz="2250">
                <a:solidFill>
                  <a:srgbClr val="0B2545"/>
                </a:solidFill>
                <a:latin typeface="Calibri (MS)"/>
                <a:ea typeface="Calibri (MS)"/>
                <a:cs typeface="Calibri (MS)"/>
                <a:sym typeface="Calibri (MS)"/>
              </a:rPr>
              <a:t>Needs privacy, security, fairness and clinical validation</a:t>
            </a:r>
          </a:p>
        </p:txBody>
      </p:sp>
      <p:sp>
        <p:nvSpPr>
          <p:cNvPr name="TextBox 57" id="57"/>
          <p:cNvSpPr txBox="true"/>
          <p:nvPr/>
        </p:nvSpPr>
        <p:spPr>
          <a:xfrm rot="0">
            <a:off x="10076974" y="3117771"/>
            <a:ext cx="5996235" cy="2443162"/>
          </a:xfrm>
          <a:prstGeom prst="rect">
            <a:avLst/>
          </a:prstGeom>
        </p:spPr>
        <p:txBody>
          <a:bodyPr anchor="t" rtlCol="false" tIns="0" lIns="0" bIns="0" rIns="0">
            <a:spAutoFit/>
          </a:bodyPr>
          <a:lstStyle/>
          <a:p>
            <a:pPr algn="l">
              <a:lnSpc>
                <a:spcPts val="2700"/>
              </a:lnSpc>
            </a:pPr>
            <a:r>
              <a:rPr lang="en-US" sz="2250">
                <a:solidFill>
                  <a:srgbClr val="0B2545"/>
                </a:solidFill>
                <a:latin typeface="Calibri (MS)"/>
                <a:ea typeface="Calibri (MS)"/>
                <a:cs typeface="Calibri (MS)"/>
                <a:sym typeface="Calibri (MS)"/>
              </a:rPr>
              <a:t>Improve minority-class performance</a:t>
            </a:r>
          </a:p>
          <a:p>
            <a:pPr algn="l">
              <a:lnSpc>
                <a:spcPts val="2700"/>
              </a:lnSpc>
            </a:pPr>
            <a:r>
              <a:rPr lang="en-US" sz="2250">
                <a:solidFill>
                  <a:srgbClr val="0B2545"/>
                </a:solidFill>
                <a:latin typeface="Calibri (MS)"/>
                <a:ea typeface="Calibri (MS)"/>
                <a:cs typeface="Calibri (MS)"/>
                <a:sym typeface="Calibri (MS)"/>
              </a:rPr>
              <a:t>Compare models by macro F1 and class-wise recall Tune hyperparameters</a:t>
            </a:r>
          </a:p>
          <a:p>
            <a:pPr algn="l">
              <a:lnSpc>
                <a:spcPts val="2700"/>
              </a:lnSpc>
            </a:pPr>
            <a:r>
              <a:rPr lang="en-US" sz="2250">
                <a:solidFill>
                  <a:srgbClr val="0B2545"/>
                </a:solidFill>
                <a:latin typeface="Calibri (MS)"/>
                <a:ea typeface="Calibri (MS)"/>
                <a:cs typeface="Calibri (MS)"/>
                <a:sym typeface="Calibri (MS)"/>
              </a:rPr>
              <a:t>Validate on independent datasets</a:t>
            </a:r>
          </a:p>
          <a:p>
            <a:pPr algn="l">
              <a:lnSpc>
                <a:spcPts val="2700"/>
              </a:lnSpc>
            </a:pPr>
            <a:r>
              <a:rPr lang="en-US" sz="2250">
                <a:solidFill>
                  <a:srgbClr val="0B2545"/>
                </a:solidFill>
                <a:latin typeface="Calibri (MS)"/>
                <a:ea typeface="Calibri (MS)"/>
                <a:cs typeface="Calibri (MS)"/>
                <a:sym typeface="Calibri (MS)"/>
              </a:rPr>
              <a:t>Study probability calibration and explainability Finish and test frontend and backend integration Add secure assessment history if required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DAHXyfNoOuQ</dc:identifier>
  <dcterms:modified xsi:type="dcterms:W3CDTF">2011-08-01T06:04:30Z</dcterms:modified>
  <cp:revision>1</cp:revision>
  <dc:title>2510080031 Vishal Vadla</dc:title>
</cp:coreProperties>
</file>